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3"/>
  </p:notesMasterIdLst>
  <p:sldIdLst>
    <p:sldId id="273" r:id="rId5"/>
    <p:sldId id="300" r:id="rId6"/>
    <p:sldId id="286" r:id="rId7"/>
    <p:sldId id="257" r:id="rId8"/>
    <p:sldId id="348" r:id="rId9"/>
    <p:sldId id="350" r:id="rId10"/>
    <p:sldId id="298" r:id="rId11"/>
    <p:sldId id="268" r:id="rId12"/>
    <p:sldId id="320" r:id="rId13"/>
    <p:sldId id="332" r:id="rId14"/>
    <p:sldId id="355" r:id="rId15"/>
    <p:sldId id="338" r:id="rId16"/>
    <p:sldId id="351" r:id="rId17"/>
    <p:sldId id="342" r:id="rId18"/>
    <p:sldId id="341" r:id="rId19"/>
    <p:sldId id="265" r:id="rId20"/>
    <p:sldId id="256" r:id="rId21"/>
    <p:sldId id="344" r:id="rId22"/>
    <p:sldId id="339" r:id="rId23"/>
    <p:sldId id="340" r:id="rId24"/>
    <p:sldId id="335" r:id="rId25"/>
    <p:sldId id="347" r:id="rId26"/>
    <p:sldId id="358" r:id="rId27"/>
    <p:sldId id="356" r:id="rId28"/>
    <p:sldId id="345" r:id="rId29"/>
    <p:sldId id="346" r:id="rId30"/>
    <p:sldId id="352" r:id="rId31"/>
    <p:sldId id="354" r:id="rId32"/>
  </p:sldIdLst>
  <p:sldSz cx="12192000" cy="6858000"/>
  <p:notesSz cx="6858000" cy="9144000"/>
  <p:embeddedFontLst>
    <p:embeddedFont>
      <p:font typeface="ＭＳ Ｐゴシック" panose="020B0600070205080204" pitchFamily="34" charset="-128"/>
      <p:regular r:id="rId34"/>
    </p:embeddedFont>
    <p:embeddedFont>
      <p:font typeface="Crimson Text" panose="020B0604020202020204" charset="0"/>
      <p:regular r:id="rId35"/>
      <p:bold r:id="rId36"/>
      <p:italic r:id="rId37"/>
      <p:boldItalic r:id="rId38"/>
    </p:embeddedFont>
    <p:embeddedFont>
      <p:font typeface="Garamond" panose="02020404030301010803" pitchFamily="18" charset="0"/>
      <p:regular r:id="rId39"/>
      <p:bold r:id="rId40"/>
      <p:italic r:id="rId41"/>
    </p:embeddedFont>
    <p:embeddedFont>
      <p:font typeface="Roboto" panose="02000000000000000000" pitchFamily="2" charset="0"/>
      <p:regular r:id="rId42"/>
      <p:bold r:id="rId43"/>
      <p:italic r:id="rId44"/>
      <p:boldItalic r:id="rId45"/>
    </p:embeddedFont>
    <p:embeddedFont>
      <p:font typeface="Roboto Condensed Black" panose="020B0604020202020204" charset="0"/>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0BD4D-838A-4671-81B0-10986862DD3F}" v="552" dt="2026-10-01T15:03:44.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6.xml"/><Relationship Id="rId41"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SimpleTimelineDefaultColorVariant">
  <dgm:title val="Simple Timeline Default Color Variant"/>
  <dgm:desc val="Simple Timeline Default Color Variant"/>
  <dgm:catLst>
    <dgm:cat type="Other" pri="2"/>
  </dgm:catLst>
  <dgm:styleLbl name="node0">
    <dgm:fillClrLst meth="repeat">
      <a:schemeClr val="dk2"/>
    </dgm:fillClrLst>
    <dgm:linClrLst meth="repeat">
      <a:schemeClr val="lt1"/>
    </dgm:linClrLst>
    <dgm:effectClrLst/>
    <dgm:txLinClrLst/>
    <dgm:txFillClrLst/>
    <dgm:txEffectClrLst/>
  </dgm:styleLbl>
  <dgm:styleLbl name="alignNode1">
    <dgm:fillClrLst meth="repeat">
      <a:schemeClr val="accent1">
        <a:alpha val="0"/>
      </a:schemeClr>
    </dgm:fillClrLst>
    <dgm:linClrLst meth="repeat">
      <a:schemeClr val="accent1">
        <a:alpha val="0"/>
      </a:schemeClr>
    </dgm:linClrLst>
    <dgm:effectClrLst/>
    <dgm:txLinClrLst/>
    <dgm:txFillClrLst meth="repeat">
      <a:schemeClr val="accent1"/>
    </dgm:txFillClrLst>
    <dgm:txEffectClrLst/>
  </dgm:styleLbl>
  <dgm:styleLbl name="node1">
    <dgm:fillClrLst meth="repeat">
      <a:schemeClr val="dk2"/>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dk2">
        <a:alpha val="50000"/>
      </a:schemeClr>
    </dgm:fillClrLst>
    <dgm:linClrLst meth="repeat">
      <a:schemeClr val="lt1"/>
    </dgm:linClrLst>
    <dgm:effectClrLst/>
    <dgm:txLinClrLst/>
    <dgm:txFillClrLst/>
    <dgm:txEffectClrLst/>
  </dgm:styleLbl>
  <dgm:styleLbl name="node2">
    <dgm:fillClrLst meth="repeat">
      <a:schemeClr val="dk2"/>
    </dgm:fillClrLst>
    <dgm:linClrLst meth="repeat">
      <a:schemeClr val="lt1"/>
    </dgm:linClrLst>
    <dgm:effectClrLst/>
    <dgm:txLinClrLst/>
    <dgm:txFillClrLst/>
    <dgm:txEffectClrLst/>
  </dgm:styleLbl>
  <dgm:styleLbl name="node3">
    <dgm:fillClrLst meth="repeat">
      <a:schemeClr val="dk2"/>
    </dgm:fillClrLst>
    <dgm:linClrLst meth="repeat">
      <a:schemeClr val="lt1"/>
    </dgm:linClrLst>
    <dgm:effectClrLst/>
    <dgm:txLinClrLst/>
    <dgm:txFillClrLst/>
    <dgm:txEffectClrLst/>
  </dgm:styleLbl>
  <dgm:styleLbl name="node4">
    <dgm:fillClrLst meth="repeat">
      <a:schemeClr val="dk2"/>
    </dgm:fillClrLst>
    <dgm:linClrLst meth="repeat">
      <a:schemeClr val="lt1"/>
    </dgm:linClrLst>
    <dgm:effectClrLst/>
    <dgm:txLinClrLst/>
    <dgm:txFillClrLst/>
    <dgm:txEffectClrLst/>
  </dgm:styleLbl>
  <dgm:styleLbl name="f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tx1"/>
    </dgm:txFillClrLst>
    <dgm:txEffectClrLst/>
  </dgm:styleLbl>
  <dgm:styleLbl name="asst0">
    <dgm:fillClrLst meth="repeat">
      <a:schemeClr val="dk2"/>
    </dgm:fillClrLst>
    <dgm:linClrLst meth="repeat">
      <a:schemeClr val="lt1"/>
    </dgm:linClrLst>
    <dgm:effectClrLst/>
    <dgm:txLinClrLst/>
    <dgm:txFillClrLst/>
    <dgm:txEffectClrLst/>
  </dgm:styleLbl>
  <dgm:styleLbl name="asst1">
    <dgm:fillClrLst meth="repeat">
      <a:schemeClr val="dk2"/>
    </dgm:fillClrLst>
    <dgm:linClrLst meth="repeat">
      <a:schemeClr val="lt1"/>
    </dgm:linClrLst>
    <dgm:effectClrLst/>
    <dgm:txLinClrLst/>
    <dgm:txFillClrLst/>
    <dgm:txEffectClrLst/>
  </dgm:styleLbl>
  <dgm:styleLbl name="asst2">
    <dgm:fillClrLst meth="repeat">
      <a:schemeClr val="dk2"/>
    </dgm:fillClrLst>
    <dgm:linClrLst meth="repeat">
      <a:schemeClr val="lt1"/>
    </dgm:linClrLst>
    <dgm:effectClrLst/>
    <dgm:txLinClrLst/>
    <dgm:txFillClrLst/>
    <dgm:txEffectClrLst/>
  </dgm:styleLbl>
  <dgm:styleLbl name="asst3">
    <dgm:fillClrLst meth="repeat">
      <a:schemeClr val="dk2"/>
    </dgm:fillClrLst>
    <dgm:linClrLst meth="repeat">
      <a:schemeClr val="lt1"/>
    </dgm:linClrLst>
    <dgm:effectClrLst/>
    <dgm:txLinClrLst/>
    <dgm:txFillClrLst/>
    <dgm:txEffectClrLst/>
  </dgm:styleLbl>
  <dgm:styleLbl name="asst4">
    <dgm:fillClrLst meth="repeat">
      <a:schemeClr val="dk2"/>
    </dgm:fillClrLst>
    <dgm:linClrLst meth="repeat">
      <a:schemeClr val="lt1"/>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1"/>
    </dgm:txFillClrLst>
    <dgm:txEffectClrLst/>
  </dgm:styleLbl>
  <dgm:styleLbl name="parChTrans2D2">
    <dgm:fillClrLst meth="repeat">
      <a:schemeClr val="dk2"/>
    </dgm:fillClrLst>
    <dgm:linClrLst meth="repeat">
      <a:schemeClr val="dk2"/>
    </dgm:linClrLst>
    <dgm:effectClrLst/>
    <dgm:txLinClrLst/>
    <dgm:txFillClrLst meth="repeat">
      <a:schemeClr val="lt1"/>
    </dgm:txFillClrLst>
    <dgm:txEffectClrLst/>
  </dgm:styleLbl>
  <dgm:styleLbl name="parChTrans2D3">
    <dgm:fillClrLst meth="repeat">
      <a:schemeClr val="dk2"/>
    </dgm:fillClrLst>
    <dgm:linClrLst meth="repeat">
      <a:schemeClr val="dk2"/>
    </dgm:linClrLst>
    <dgm:effectClrLst/>
    <dgm:txLinClrLst/>
    <dgm:txFillClrLst meth="repeat">
      <a:schemeClr val="lt1"/>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accent1">
        <a:alpha val="90000"/>
      </a:schemeClr>
    </dgm:fillClrLst>
    <dgm:linClrLst meth="repeat">
      <a:schemeClr val="lt1"/>
    </dgm:linClrLst>
    <dgm:effectClrLst/>
    <dgm:txLinClrLst/>
    <dgm:txFillClrLst meth="repeat">
      <a:schemeClr val="accent1"/>
    </dgm:txFillClrLst>
    <dgm:txEffectClrLst/>
  </dgm:styleLbl>
  <dgm:styleLbl name="conF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dk2">
        <a:alpha val="90000"/>
      </a:schemeClr>
    </dgm:fillClrLst>
    <dgm:linClrLst meth="repeat">
      <a:schemeClr val="dk2"/>
    </dgm:linClrLst>
    <dgm:effectClrLst/>
    <dgm:txLinClrLst/>
    <dgm:txFillClrLst meth="repeat">
      <a:schemeClr val="dk2"/>
    </dgm:txFillClrLst>
    <dgm:txEffectClrLst/>
  </dgm:styleLbl>
  <dgm:styleLbl name="trAlignAcc1">
    <dgm:fillClrLst meth="repeat">
      <a:schemeClr val="lt1">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1"/>
    </dgm:fillClrLst>
    <dgm:linClrLst meth="repeat">
      <a:schemeClr val="dk2"/>
    </dgm:linClrLst>
    <dgm:effectClrLst/>
    <dgm:txLinClrLst/>
    <dgm:txFillClrLst meth="repeat">
      <a:schemeClr val="dk1"/>
    </dgm:txFillClrLst>
    <dgm:txEffectClrLst/>
  </dgm:styleLbl>
  <dgm:styleLbl name="solidAlignAcc1">
    <dgm:fillClrLst meth="repeat">
      <a:schemeClr val="lt1"/>
    </dgm:fillClrLst>
    <dgm:linClrLst meth="repeat">
      <a:schemeClr val="dk2"/>
    </dgm:linClrLst>
    <dgm:effectClrLst/>
    <dgm:txLinClrLst/>
    <dgm:txFillClrLst meth="repeat">
      <a:schemeClr val="dk1"/>
    </dgm:txFillClrLst>
    <dgm:txEffectClrLst/>
  </dgm:styleLbl>
  <dgm:styleLbl name="solidBgAcc1">
    <dgm:fillClrLst meth="repeat">
      <a:schemeClr val="lt1"/>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SimpleTimelineDefaultColorVariant">
  <dgm:title val="Simple Timeline Default Color Variant"/>
  <dgm:desc val="Simple Timeline Default Color Variant"/>
  <dgm:catLst>
    <dgm:cat type="Other" pri="2"/>
  </dgm:catLst>
  <dgm:styleLbl name="node0">
    <dgm:fillClrLst meth="repeat">
      <a:schemeClr val="dk2"/>
    </dgm:fillClrLst>
    <dgm:linClrLst meth="repeat">
      <a:schemeClr val="lt1"/>
    </dgm:linClrLst>
    <dgm:effectClrLst/>
    <dgm:txLinClrLst/>
    <dgm:txFillClrLst/>
    <dgm:txEffectClrLst/>
  </dgm:styleLbl>
  <dgm:styleLbl name="alignNode1">
    <dgm:fillClrLst meth="repeat">
      <a:schemeClr val="accent1">
        <a:alpha val="0"/>
      </a:schemeClr>
    </dgm:fillClrLst>
    <dgm:linClrLst meth="repeat">
      <a:schemeClr val="accent1">
        <a:alpha val="0"/>
      </a:schemeClr>
    </dgm:linClrLst>
    <dgm:effectClrLst/>
    <dgm:txLinClrLst/>
    <dgm:txFillClrLst meth="repeat">
      <a:schemeClr val="accent1"/>
    </dgm:txFillClrLst>
    <dgm:txEffectClrLst/>
  </dgm:styleLbl>
  <dgm:styleLbl name="node1">
    <dgm:fillClrLst meth="repeat">
      <a:schemeClr val="dk2"/>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dk2">
        <a:alpha val="50000"/>
      </a:schemeClr>
    </dgm:fillClrLst>
    <dgm:linClrLst meth="repeat">
      <a:schemeClr val="lt1"/>
    </dgm:linClrLst>
    <dgm:effectClrLst/>
    <dgm:txLinClrLst/>
    <dgm:txFillClrLst/>
    <dgm:txEffectClrLst/>
  </dgm:styleLbl>
  <dgm:styleLbl name="node2">
    <dgm:fillClrLst meth="repeat">
      <a:schemeClr val="dk2"/>
    </dgm:fillClrLst>
    <dgm:linClrLst meth="repeat">
      <a:schemeClr val="lt1"/>
    </dgm:linClrLst>
    <dgm:effectClrLst/>
    <dgm:txLinClrLst/>
    <dgm:txFillClrLst/>
    <dgm:txEffectClrLst/>
  </dgm:styleLbl>
  <dgm:styleLbl name="node3">
    <dgm:fillClrLst meth="repeat">
      <a:schemeClr val="dk2"/>
    </dgm:fillClrLst>
    <dgm:linClrLst meth="repeat">
      <a:schemeClr val="lt1"/>
    </dgm:linClrLst>
    <dgm:effectClrLst/>
    <dgm:txLinClrLst/>
    <dgm:txFillClrLst/>
    <dgm:txEffectClrLst/>
  </dgm:styleLbl>
  <dgm:styleLbl name="node4">
    <dgm:fillClrLst meth="repeat">
      <a:schemeClr val="dk2"/>
    </dgm:fillClrLst>
    <dgm:linClrLst meth="repeat">
      <a:schemeClr val="lt1"/>
    </dgm:linClrLst>
    <dgm:effectClrLst/>
    <dgm:txLinClrLst/>
    <dgm:txFillClrLst/>
    <dgm:txEffectClrLst/>
  </dgm:styleLbl>
  <dgm:styleLbl name="f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tx1"/>
    </dgm:txFillClrLst>
    <dgm:txEffectClrLst/>
  </dgm:styleLbl>
  <dgm:styleLbl name="asst0">
    <dgm:fillClrLst meth="repeat">
      <a:schemeClr val="dk2"/>
    </dgm:fillClrLst>
    <dgm:linClrLst meth="repeat">
      <a:schemeClr val="lt1"/>
    </dgm:linClrLst>
    <dgm:effectClrLst/>
    <dgm:txLinClrLst/>
    <dgm:txFillClrLst/>
    <dgm:txEffectClrLst/>
  </dgm:styleLbl>
  <dgm:styleLbl name="asst1">
    <dgm:fillClrLst meth="repeat">
      <a:schemeClr val="dk2"/>
    </dgm:fillClrLst>
    <dgm:linClrLst meth="repeat">
      <a:schemeClr val="lt1"/>
    </dgm:linClrLst>
    <dgm:effectClrLst/>
    <dgm:txLinClrLst/>
    <dgm:txFillClrLst/>
    <dgm:txEffectClrLst/>
  </dgm:styleLbl>
  <dgm:styleLbl name="asst2">
    <dgm:fillClrLst meth="repeat">
      <a:schemeClr val="dk2"/>
    </dgm:fillClrLst>
    <dgm:linClrLst meth="repeat">
      <a:schemeClr val="lt1"/>
    </dgm:linClrLst>
    <dgm:effectClrLst/>
    <dgm:txLinClrLst/>
    <dgm:txFillClrLst/>
    <dgm:txEffectClrLst/>
  </dgm:styleLbl>
  <dgm:styleLbl name="asst3">
    <dgm:fillClrLst meth="repeat">
      <a:schemeClr val="dk2"/>
    </dgm:fillClrLst>
    <dgm:linClrLst meth="repeat">
      <a:schemeClr val="lt1"/>
    </dgm:linClrLst>
    <dgm:effectClrLst/>
    <dgm:txLinClrLst/>
    <dgm:txFillClrLst/>
    <dgm:txEffectClrLst/>
  </dgm:styleLbl>
  <dgm:styleLbl name="asst4">
    <dgm:fillClrLst meth="repeat">
      <a:schemeClr val="dk2"/>
    </dgm:fillClrLst>
    <dgm:linClrLst meth="repeat">
      <a:schemeClr val="lt1"/>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1"/>
    </dgm:txFillClrLst>
    <dgm:txEffectClrLst/>
  </dgm:styleLbl>
  <dgm:styleLbl name="parChTrans2D2">
    <dgm:fillClrLst meth="repeat">
      <a:schemeClr val="dk2"/>
    </dgm:fillClrLst>
    <dgm:linClrLst meth="repeat">
      <a:schemeClr val="dk2"/>
    </dgm:linClrLst>
    <dgm:effectClrLst/>
    <dgm:txLinClrLst/>
    <dgm:txFillClrLst meth="repeat">
      <a:schemeClr val="lt1"/>
    </dgm:txFillClrLst>
    <dgm:txEffectClrLst/>
  </dgm:styleLbl>
  <dgm:styleLbl name="parChTrans2D3">
    <dgm:fillClrLst meth="repeat">
      <a:schemeClr val="dk2"/>
    </dgm:fillClrLst>
    <dgm:linClrLst meth="repeat">
      <a:schemeClr val="dk2"/>
    </dgm:linClrLst>
    <dgm:effectClrLst/>
    <dgm:txLinClrLst/>
    <dgm:txFillClrLst meth="repeat">
      <a:schemeClr val="lt1"/>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accent1">
        <a:alpha val="90000"/>
      </a:schemeClr>
    </dgm:fillClrLst>
    <dgm:linClrLst meth="repeat">
      <a:schemeClr val="lt1"/>
    </dgm:linClrLst>
    <dgm:effectClrLst/>
    <dgm:txLinClrLst/>
    <dgm:txFillClrLst meth="repeat">
      <a:schemeClr val="accent1"/>
    </dgm:txFillClrLst>
    <dgm:txEffectClrLst/>
  </dgm:styleLbl>
  <dgm:styleLbl name="conF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dk2">
        <a:alpha val="90000"/>
      </a:schemeClr>
    </dgm:fillClrLst>
    <dgm:linClrLst meth="repeat">
      <a:schemeClr val="dk2"/>
    </dgm:linClrLst>
    <dgm:effectClrLst/>
    <dgm:txLinClrLst/>
    <dgm:txFillClrLst meth="repeat">
      <a:schemeClr val="dk2"/>
    </dgm:txFillClrLst>
    <dgm:txEffectClrLst/>
  </dgm:styleLbl>
  <dgm:styleLbl name="trAlignAcc1">
    <dgm:fillClrLst meth="repeat">
      <a:schemeClr val="lt1">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1"/>
    </dgm:fillClrLst>
    <dgm:linClrLst meth="repeat">
      <a:schemeClr val="dk2"/>
    </dgm:linClrLst>
    <dgm:effectClrLst/>
    <dgm:txLinClrLst/>
    <dgm:txFillClrLst meth="repeat">
      <a:schemeClr val="dk1"/>
    </dgm:txFillClrLst>
    <dgm:txEffectClrLst/>
  </dgm:styleLbl>
  <dgm:styleLbl name="solidAlignAcc1">
    <dgm:fillClrLst meth="repeat">
      <a:schemeClr val="lt1"/>
    </dgm:fillClrLst>
    <dgm:linClrLst meth="repeat">
      <a:schemeClr val="dk2"/>
    </dgm:linClrLst>
    <dgm:effectClrLst/>
    <dgm:txLinClrLst/>
    <dgm:txFillClrLst meth="repeat">
      <a:schemeClr val="dk1"/>
    </dgm:txFillClrLst>
    <dgm:txEffectClrLst/>
  </dgm:styleLbl>
  <dgm:styleLbl name="solidBgAcc1">
    <dgm:fillClrLst meth="repeat">
      <a:schemeClr val="lt1"/>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SimpleTimelineDefaultColorVariant">
  <dgm:title val="Simple Timeline Default Color Variant"/>
  <dgm:desc val="Simple Timeline Default Color Variant"/>
  <dgm:catLst>
    <dgm:cat type="Other" pri="2"/>
  </dgm:catLst>
  <dgm:styleLbl name="node0">
    <dgm:fillClrLst meth="repeat">
      <a:schemeClr val="dk2"/>
    </dgm:fillClrLst>
    <dgm:linClrLst meth="repeat">
      <a:schemeClr val="lt1"/>
    </dgm:linClrLst>
    <dgm:effectClrLst/>
    <dgm:txLinClrLst/>
    <dgm:txFillClrLst/>
    <dgm:txEffectClrLst/>
  </dgm:styleLbl>
  <dgm:styleLbl name="alignNode1">
    <dgm:fillClrLst meth="repeat">
      <a:schemeClr val="accent1">
        <a:alpha val="0"/>
      </a:schemeClr>
    </dgm:fillClrLst>
    <dgm:linClrLst meth="repeat">
      <a:schemeClr val="accent1">
        <a:alpha val="0"/>
      </a:schemeClr>
    </dgm:linClrLst>
    <dgm:effectClrLst/>
    <dgm:txLinClrLst/>
    <dgm:txFillClrLst meth="repeat">
      <a:schemeClr val="accent1"/>
    </dgm:txFillClrLst>
    <dgm:txEffectClrLst/>
  </dgm:styleLbl>
  <dgm:styleLbl name="node1">
    <dgm:fillClrLst meth="repeat">
      <a:schemeClr val="dk2"/>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dk2">
        <a:alpha val="50000"/>
      </a:schemeClr>
    </dgm:fillClrLst>
    <dgm:linClrLst meth="repeat">
      <a:schemeClr val="lt1"/>
    </dgm:linClrLst>
    <dgm:effectClrLst/>
    <dgm:txLinClrLst/>
    <dgm:txFillClrLst/>
    <dgm:txEffectClrLst/>
  </dgm:styleLbl>
  <dgm:styleLbl name="node2">
    <dgm:fillClrLst meth="repeat">
      <a:schemeClr val="dk2"/>
    </dgm:fillClrLst>
    <dgm:linClrLst meth="repeat">
      <a:schemeClr val="lt1"/>
    </dgm:linClrLst>
    <dgm:effectClrLst/>
    <dgm:txLinClrLst/>
    <dgm:txFillClrLst/>
    <dgm:txEffectClrLst/>
  </dgm:styleLbl>
  <dgm:styleLbl name="node3">
    <dgm:fillClrLst meth="repeat">
      <a:schemeClr val="dk2"/>
    </dgm:fillClrLst>
    <dgm:linClrLst meth="repeat">
      <a:schemeClr val="lt1"/>
    </dgm:linClrLst>
    <dgm:effectClrLst/>
    <dgm:txLinClrLst/>
    <dgm:txFillClrLst/>
    <dgm:txEffectClrLst/>
  </dgm:styleLbl>
  <dgm:styleLbl name="node4">
    <dgm:fillClrLst meth="repeat">
      <a:schemeClr val="dk2"/>
    </dgm:fillClrLst>
    <dgm:linClrLst meth="repeat">
      <a:schemeClr val="lt1"/>
    </dgm:linClrLst>
    <dgm:effectClrLst/>
    <dgm:txLinClrLst/>
    <dgm:txFillClrLst/>
    <dgm:txEffectClrLst/>
  </dgm:styleLbl>
  <dgm:styleLbl name="f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tx1"/>
    </dgm:txFillClrLst>
    <dgm:txEffectClrLst/>
  </dgm:styleLbl>
  <dgm:styleLbl name="asst0">
    <dgm:fillClrLst meth="repeat">
      <a:schemeClr val="dk2"/>
    </dgm:fillClrLst>
    <dgm:linClrLst meth="repeat">
      <a:schemeClr val="lt1"/>
    </dgm:linClrLst>
    <dgm:effectClrLst/>
    <dgm:txLinClrLst/>
    <dgm:txFillClrLst/>
    <dgm:txEffectClrLst/>
  </dgm:styleLbl>
  <dgm:styleLbl name="asst1">
    <dgm:fillClrLst meth="repeat">
      <a:schemeClr val="dk2"/>
    </dgm:fillClrLst>
    <dgm:linClrLst meth="repeat">
      <a:schemeClr val="lt1"/>
    </dgm:linClrLst>
    <dgm:effectClrLst/>
    <dgm:txLinClrLst/>
    <dgm:txFillClrLst/>
    <dgm:txEffectClrLst/>
  </dgm:styleLbl>
  <dgm:styleLbl name="asst2">
    <dgm:fillClrLst meth="repeat">
      <a:schemeClr val="dk2"/>
    </dgm:fillClrLst>
    <dgm:linClrLst meth="repeat">
      <a:schemeClr val="lt1"/>
    </dgm:linClrLst>
    <dgm:effectClrLst/>
    <dgm:txLinClrLst/>
    <dgm:txFillClrLst/>
    <dgm:txEffectClrLst/>
  </dgm:styleLbl>
  <dgm:styleLbl name="asst3">
    <dgm:fillClrLst meth="repeat">
      <a:schemeClr val="dk2"/>
    </dgm:fillClrLst>
    <dgm:linClrLst meth="repeat">
      <a:schemeClr val="lt1"/>
    </dgm:linClrLst>
    <dgm:effectClrLst/>
    <dgm:txLinClrLst/>
    <dgm:txFillClrLst/>
    <dgm:txEffectClrLst/>
  </dgm:styleLbl>
  <dgm:styleLbl name="asst4">
    <dgm:fillClrLst meth="repeat">
      <a:schemeClr val="dk2"/>
    </dgm:fillClrLst>
    <dgm:linClrLst meth="repeat">
      <a:schemeClr val="lt1"/>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1"/>
    </dgm:txFillClrLst>
    <dgm:txEffectClrLst/>
  </dgm:styleLbl>
  <dgm:styleLbl name="parChTrans2D2">
    <dgm:fillClrLst meth="repeat">
      <a:schemeClr val="dk2"/>
    </dgm:fillClrLst>
    <dgm:linClrLst meth="repeat">
      <a:schemeClr val="dk2"/>
    </dgm:linClrLst>
    <dgm:effectClrLst/>
    <dgm:txLinClrLst/>
    <dgm:txFillClrLst meth="repeat">
      <a:schemeClr val="lt1"/>
    </dgm:txFillClrLst>
    <dgm:txEffectClrLst/>
  </dgm:styleLbl>
  <dgm:styleLbl name="parChTrans2D3">
    <dgm:fillClrLst meth="repeat">
      <a:schemeClr val="dk2"/>
    </dgm:fillClrLst>
    <dgm:linClrLst meth="repeat">
      <a:schemeClr val="dk2"/>
    </dgm:linClrLst>
    <dgm:effectClrLst/>
    <dgm:txLinClrLst/>
    <dgm:txFillClrLst meth="repeat">
      <a:schemeClr val="lt1"/>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accent1">
        <a:alpha val="90000"/>
      </a:schemeClr>
    </dgm:fillClrLst>
    <dgm:linClrLst meth="repeat">
      <a:schemeClr val="lt1"/>
    </dgm:linClrLst>
    <dgm:effectClrLst/>
    <dgm:txLinClrLst/>
    <dgm:txFillClrLst meth="repeat">
      <a:schemeClr val="accent1"/>
    </dgm:txFillClrLst>
    <dgm:txEffectClrLst/>
  </dgm:styleLbl>
  <dgm:styleLbl name="conF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dk2">
        <a:alpha val="90000"/>
      </a:schemeClr>
    </dgm:fillClrLst>
    <dgm:linClrLst meth="repeat">
      <a:schemeClr val="dk2"/>
    </dgm:linClrLst>
    <dgm:effectClrLst/>
    <dgm:txLinClrLst/>
    <dgm:txFillClrLst meth="repeat">
      <a:schemeClr val="dk2"/>
    </dgm:txFillClrLst>
    <dgm:txEffectClrLst/>
  </dgm:styleLbl>
  <dgm:styleLbl name="trAlignAcc1">
    <dgm:fillClrLst meth="repeat">
      <a:schemeClr val="lt1">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1"/>
    </dgm:fillClrLst>
    <dgm:linClrLst meth="repeat">
      <a:schemeClr val="dk2"/>
    </dgm:linClrLst>
    <dgm:effectClrLst/>
    <dgm:txLinClrLst/>
    <dgm:txFillClrLst meth="repeat">
      <a:schemeClr val="dk1"/>
    </dgm:txFillClrLst>
    <dgm:txEffectClrLst/>
  </dgm:styleLbl>
  <dgm:styleLbl name="solidAlignAcc1">
    <dgm:fillClrLst meth="repeat">
      <a:schemeClr val="lt1"/>
    </dgm:fillClrLst>
    <dgm:linClrLst meth="repeat">
      <a:schemeClr val="dk2"/>
    </dgm:linClrLst>
    <dgm:effectClrLst/>
    <dgm:txLinClrLst/>
    <dgm:txFillClrLst meth="repeat">
      <a:schemeClr val="dk1"/>
    </dgm:txFillClrLst>
    <dgm:txEffectClrLst/>
  </dgm:styleLbl>
  <dgm:styleLbl name="solidBgAcc1">
    <dgm:fillClrLst meth="repeat">
      <a:schemeClr val="lt1"/>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SimpleTimelineDefaultColorVariant">
  <dgm:title val="Simple Timeline Default Color Variant"/>
  <dgm:desc val="Simple Timeline Default Color Variant"/>
  <dgm:catLst>
    <dgm:cat type="Other" pri="2"/>
  </dgm:catLst>
  <dgm:styleLbl name="node0">
    <dgm:fillClrLst meth="repeat">
      <a:schemeClr val="dk2"/>
    </dgm:fillClrLst>
    <dgm:linClrLst meth="repeat">
      <a:schemeClr val="lt1"/>
    </dgm:linClrLst>
    <dgm:effectClrLst/>
    <dgm:txLinClrLst/>
    <dgm:txFillClrLst/>
    <dgm:txEffectClrLst/>
  </dgm:styleLbl>
  <dgm:styleLbl name="alignNode1">
    <dgm:fillClrLst meth="repeat">
      <a:schemeClr val="accent1">
        <a:alpha val="0"/>
      </a:schemeClr>
    </dgm:fillClrLst>
    <dgm:linClrLst meth="repeat">
      <a:schemeClr val="accent1">
        <a:alpha val="0"/>
      </a:schemeClr>
    </dgm:linClrLst>
    <dgm:effectClrLst/>
    <dgm:txLinClrLst/>
    <dgm:txFillClrLst meth="repeat">
      <a:schemeClr val="accent1"/>
    </dgm:txFillClrLst>
    <dgm:txEffectClrLst/>
  </dgm:styleLbl>
  <dgm:styleLbl name="node1">
    <dgm:fillClrLst meth="repeat">
      <a:schemeClr val="dk2"/>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dk2">
        <a:alpha val="50000"/>
      </a:schemeClr>
    </dgm:fillClrLst>
    <dgm:linClrLst meth="repeat">
      <a:schemeClr val="lt1"/>
    </dgm:linClrLst>
    <dgm:effectClrLst/>
    <dgm:txLinClrLst/>
    <dgm:txFillClrLst/>
    <dgm:txEffectClrLst/>
  </dgm:styleLbl>
  <dgm:styleLbl name="node2">
    <dgm:fillClrLst meth="repeat">
      <a:schemeClr val="dk2"/>
    </dgm:fillClrLst>
    <dgm:linClrLst meth="repeat">
      <a:schemeClr val="lt1"/>
    </dgm:linClrLst>
    <dgm:effectClrLst/>
    <dgm:txLinClrLst/>
    <dgm:txFillClrLst/>
    <dgm:txEffectClrLst/>
  </dgm:styleLbl>
  <dgm:styleLbl name="node3">
    <dgm:fillClrLst meth="repeat">
      <a:schemeClr val="dk2"/>
    </dgm:fillClrLst>
    <dgm:linClrLst meth="repeat">
      <a:schemeClr val="lt1"/>
    </dgm:linClrLst>
    <dgm:effectClrLst/>
    <dgm:txLinClrLst/>
    <dgm:txFillClrLst/>
    <dgm:txEffectClrLst/>
  </dgm:styleLbl>
  <dgm:styleLbl name="node4">
    <dgm:fillClrLst meth="repeat">
      <a:schemeClr val="dk2"/>
    </dgm:fillClrLst>
    <dgm:linClrLst meth="repeat">
      <a:schemeClr val="lt1"/>
    </dgm:linClrLst>
    <dgm:effectClrLst/>
    <dgm:txLinClrLst/>
    <dgm:txFillClrLst/>
    <dgm:txEffectClrLst/>
  </dgm:styleLbl>
  <dgm:styleLbl name="f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tx1"/>
    </dgm:txFillClrLst>
    <dgm:txEffectClrLst/>
  </dgm:styleLbl>
  <dgm:styleLbl name="asst0">
    <dgm:fillClrLst meth="repeat">
      <a:schemeClr val="dk2"/>
    </dgm:fillClrLst>
    <dgm:linClrLst meth="repeat">
      <a:schemeClr val="lt1"/>
    </dgm:linClrLst>
    <dgm:effectClrLst/>
    <dgm:txLinClrLst/>
    <dgm:txFillClrLst/>
    <dgm:txEffectClrLst/>
  </dgm:styleLbl>
  <dgm:styleLbl name="asst1">
    <dgm:fillClrLst meth="repeat">
      <a:schemeClr val="dk2"/>
    </dgm:fillClrLst>
    <dgm:linClrLst meth="repeat">
      <a:schemeClr val="lt1"/>
    </dgm:linClrLst>
    <dgm:effectClrLst/>
    <dgm:txLinClrLst/>
    <dgm:txFillClrLst/>
    <dgm:txEffectClrLst/>
  </dgm:styleLbl>
  <dgm:styleLbl name="asst2">
    <dgm:fillClrLst meth="repeat">
      <a:schemeClr val="dk2"/>
    </dgm:fillClrLst>
    <dgm:linClrLst meth="repeat">
      <a:schemeClr val="lt1"/>
    </dgm:linClrLst>
    <dgm:effectClrLst/>
    <dgm:txLinClrLst/>
    <dgm:txFillClrLst/>
    <dgm:txEffectClrLst/>
  </dgm:styleLbl>
  <dgm:styleLbl name="asst3">
    <dgm:fillClrLst meth="repeat">
      <a:schemeClr val="dk2"/>
    </dgm:fillClrLst>
    <dgm:linClrLst meth="repeat">
      <a:schemeClr val="lt1"/>
    </dgm:linClrLst>
    <dgm:effectClrLst/>
    <dgm:txLinClrLst/>
    <dgm:txFillClrLst/>
    <dgm:txEffectClrLst/>
  </dgm:styleLbl>
  <dgm:styleLbl name="asst4">
    <dgm:fillClrLst meth="repeat">
      <a:schemeClr val="dk2"/>
    </dgm:fillClrLst>
    <dgm:linClrLst meth="repeat">
      <a:schemeClr val="lt1"/>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1"/>
    </dgm:txFillClrLst>
    <dgm:txEffectClrLst/>
  </dgm:styleLbl>
  <dgm:styleLbl name="parChTrans2D2">
    <dgm:fillClrLst meth="repeat">
      <a:schemeClr val="dk2"/>
    </dgm:fillClrLst>
    <dgm:linClrLst meth="repeat">
      <a:schemeClr val="dk2"/>
    </dgm:linClrLst>
    <dgm:effectClrLst/>
    <dgm:txLinClrLst/>
    <dgm:txFillClrLst meth="repeat">
      <a:schemeClr val="lt1"/>
    </dgm:txFillClrLst>
    <dgm:txEffectClrLst/>
  </dgm:styleLbl>
  <dgm:styleLbl name="parChTrans2D3">
    <dgm:fillClrLst meth="repeat">
      <a:schemeClr val="dk2"/>
    </dgm:fillClrLst>
    <dgm:linClrLst meth="repeat">
      <a:schemeClr val="dk2"/>
    </dgm:linClrLst>
    <dgm:effectClrLst/>
    <dgm:txLinClrLst/>
    <dgm:txFillClrLst meth="repeat">
      <a:schemeClr val="lt1"/>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accent1">
        <a:alpha val="90000"/>
      </a:schemeClr>
    </dgm:fillClrLst>
    <dgm:linClrLst meth="repeat">
      <a:schemeClr val="lt1"/>
    </dgm:linClrLst>
    <dgm:effectClrLst/>
    <dgm:txLinClrLst/>
    <dgm:txFillClrLst meth="repeat">
      <a:schemeClr val="accent1"/>
    </dgm:txFillClrLst>
    <dgm:txEffectClrLst/>
  </dgm:styleLbl>
  <dgm:styleLbl name="conF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dk2">
        <a:alpha val="90000"/>
      </a:schemeClr>
    </dgm:fillClrLst>
    <dgm:linClrLst meth="repeat">
      <a:schemeClr val="dk2"/>
    </dgm:linClrLst>
    <dgm:effectClrLst/>
    <dgm:txLinClrLst/>
    <dgm:txFillClrLst meth="repeat">
      <a:schemeClr val="dk2"/>
    </dgm:txFillClrLst>
    <dgm:txEffectClrLst/>
  </dgm:styleLbl>
  <dgm:styleLbl name="trAlignAcc1">
    <dgm:fillClrLst meth="repeat">
      <a:schemeClr val="lt1">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1"/>
    </dgm:fillClrLst>
    <dgm:linClrLst meth="repeat">
      <a:schemeClr val="dk2"/>
    </dgm:linClrLst>
    <dgm:effectClrLst/>
    <dgm:txLinClrLst/>
    <dgm:txFillClrLst meth="repeat">
      <a:schemeClr val="dk1"/>
    </dgm:txFillClrLst>
    <dgm:txEffectClrLst/>
  </dgm:styleLbl>
  <dgm:styleLbl name="solidAlignAcc1">
    <dgm:fillClrLst meth="repeat">
      <a:schemeClr val="lt1"/>
    </dgm:fillClrLst>
    <dgm:linClrLst meth="repeat">
      <a:schemeClr val="dk2"/>
    </dgm:linClrLst>
    <dgm:effectClrLst/>
    <dgm:txLinClrLst/>
    <dgm:txFillClrLst meth="repeat">
      <a:schemeClr val="dk1"/>
    </dgm:txFillClrLst>
    <dgm:txEffectClrLst/>
  </dgm:styleLbl>
  <dgm:styleLbl name="solidBgAcc1">
    <dgm:fillClrLst meth="repeat">
      <a:schemeClr val="lt1"/>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2FCF49-83DE-6C48-BD46-567565B6541D}" type="doc">
      <dgm:prSet loTypeId="urn:microsoft.com/office/officeart/2024/3/layout/SimpleTimelineDefaultVariant#1" loCatId="Timeline" qsTypeId="urn:microsoft.com/office/officeart/2005/8/quickstyle/simple1" qsCatId="simple" csTypeId="urn:microsoft.com/office/officeart/2005/8/colors/SimpleTimelineDefaultColorVariant" csCatId="other" phldr="1"/>
      <dgm:spPr/>
      <dgm:t>
        <a:bodyPr/>
        <a:lstStyle/>
        <a:p>
          <a:endParaRPr lang="en-US"/>
        </a:p>
      </dgm:t>
    </dgm:pt>
    <dgm:pt modelId="{57163DCC-B1CC-3C41-B57D-C20AB3BAF29A}">
      <dgm:prSet/>
      <dgm:spPr/>
      <dgm:t>
        <a:bodyPr/>
        <a:lstStyle/>
        <a:p>
          <a:pPr>
            <a:defRPr b="1"/>
          </a:pPr>
          <a:r>
            <a:rPr lang="en-US">
              <a:latin typeface="+mj-lt"/>
            </a:rPr>
            <a:t>Case Conceptualization</a:t>
          </a:r>
        </a:p>
      </dgm:t>
    </dgm:pt>
    <dgm:pt modelId="{E29E203D-287A-CA49-926A-13A2C313DEFD}" type="parTrans" cxnId="{E05464B2-107F-FE4C-B336-1CABE487FFFE}">
      <dgm:prSet/>
      <dgm:spPr/>
      <dgm:t>
        <a:bodyPr/>
        <a:lstStyle/>
        <a:p>
          <a:endParaRPr lang="en-US"/>
        </a:p>
      </dgm:t>
    </dgm:pt>
    <dgm:pt modelId="{7A77A1A1-904A-914A-8351-11210F338EE3}" type="sibTrans" cxnId="{E05464B2-107F-FE4C-B336-1CABE487FFFE}">
      <dgm:prSet/>
      <dgm:spPr/>
      <dgm:t>
        <a:bodyPr/>
        <a:lstStyle/>
        <a:p>
          <a:endParaRPr lang="en-US"/>
        </a:p>
      </dgm:t>
    </dgm:pt>
    <dgm:pt modelId="{91BF7E50-A8D0-0246-9042-35DE31E6D7F9}">
      <dgm:prSet/>
      <dgm:spPr/>
      <dgm:t>
        <a:bodyPr/>
        <a:lstStyle/>
        <a:p>
          <a:r>
            <a:rPr lang="en-US"/>
            <a:t>Use of patient-generated data and multi-informant reporting to support diagnostic clarification. </a:t>
          </a:r>
        </a:p>
      </dgm:t>
    </dgm:pt>
    <dgm:pt modelId="{71FE09C3-97F2-E24A-841D-D636BB09094D}" type="parTrans" cxnId="{EAE524D2-D8D5-074D-A613-CB0574C7A914}">
      <dgm:prSet/>
      <dgm:spPr/>
      <dgm:t>
        <a:bodyPr/>
        <a:lstStyle/>
        <a:p>
          <a:endParaRPr lang="en-US"/>
        </a:p>
      </dgm:t>
    </dgm:pt>
    <dgm:pt modelId="{0A3B38C3-DE3D-F642-BC14-3C5B82BE67EB}" type="sibTrans" cxnId="{EAE524D2-D8D5-074D-A613-CB0574C7A914}">
      <dgm:prSet/>
      <dgm:spPr/>
      <dgm:t>
        <a:bodyPr/>
        <a:lstStyle/>
        <a:p>
          <a:endParaRPr lang="en-US"/>
        </a:p>
      </dgm:t>
    </dgm:pt>
    <dgm:pt modelId="{1DC241B1-03AA-1F41-9F97-15C4ADFE3607}">
      <dgm:prSet/>
      <dgm:spPr/>
      <dgm:t>
        <a:bodyPr/>
        <a:lstStyle/>
        <a:p>
          <a:pPr>
            <a:defRPr b="1"/>
          </a:pPr>
          <a:r>
            <a:rPr lang="en-US">
              <a:latin typeface="+mj-lt"/>
            </a:rPr>
            <a:t>Treatment Planning</a:t>
          </a:r>
        </a:p>
      </dgm:t>
    </dgm:pt>
    <dgm:pt modelId="{9D1AF8B4-2159-B846-A48B-E56E89851620}" type="parTrans" cxnId="{FC13C01A-7A7B-4F4A-86A4-6D3385DF5F72}">
      <dgm:prSet/>
      <dgm:spPr/>
      <dgm:t>
        <a:bodyPr/>
        <a:lstStyle/>
        <a:p>
          <a:endParaRPr lang="en-US"/>
        </a:p>
      </dgm:t>
    </dgm:pt>
    <dgm:pt modelId="{F3C872E0-D851-5D45-8008-3C61ED88DF78}" type="sibTrans" cxnId="{FC13C01A-7A7B-4F4A-86A4-6D3385DF5F72}">
      <dgm:prSet/>
      <dgm:spPr/>
      <dgm:t>
        <a:bodyPr/>
        <a:lstStyle/>
        <a:p>
          <a:endParaRPr lang="en-US"/>
        </a:p>
      </dgm:t>
    </dgm:pt>
    <dgm:pt modelId="{09B6B688-3C8C-FF44-86A9-25A6EF1DD62C}">
      <dgm:prSet/>
      <dgm:spPr/>
      <dgm:t>
        <a:bodyPr/>
        <a:lstStyle/>
        <a:p>
          <a:r>
            <a:rPr lang="en-US"/>
            <a:t>Use of baseline data to help guide treatment goals and select appropriate treatment strategies and modalities. </a:t>
          </a:r>
        </a:p>
      </dgm:t>
    </dgm:pt>
    <dgm:pt modelId="{7F1B5ED0-F979-144F-9A78-F9936BE169A7}" type="parTrans" cxnId="{3E5C9FCA-52D8-F648-B211-711164F1DB46}">
      <dgm:prSet/>
      <dgm:spPr/>
      <dgm:t>
        <a:bodyPr/>
        <a:lstStyle/>
        <a:p>
          <a:endParaRPr lang="en-US"/>
        </a:p>
      </dgm:t>
    </dgm:pt>
    <dgm:pt modelId="{47BFE565-8D3C-D942-9840-BE1039E9636D}" type="sibTrans" cxnId="{3E5C9FCA-52D8-F648-B211-711164F1DB46}">
      <dgm:prSet/>
      <dgm:spPr/>
      <dgm:t>
        <a:bodyPr/>
        <a:lstStyle/>
        <a:p>
          <a:endParaRPr lang="en-US"/>
        </a:p>
      </dgm:t>
    </dgm:pt>
    <dgm:pt modelId="{4C281819-DDC8-6942-B38B-5388A5F09512}">
      <dgm:prSet/>
      <dgm:spPr/>
      <dgm:t>
        <a:bodyPr/>
        <a:lstStyle/>
        <a:p>
          <a:pPr>
            <a:defRPr b="1"/>
          </a:pPr>
          <a:r>
            <a:rPr lang="en-US">
              <a:latin typeface="+mj-lt"/>
            </a:rPr>
            <a:t>Progress Monitoring</a:t>
          </a:r>
        </a:p>
      </dgm:t>
    </dgm:pt>
    <dgm:pt modelId="{4D55BA2F-E6D4-4844-BACC-CCB7998D8FCD}" type="parTrans" cxnId="{7AFD4566-B83B-FB47-BF0E-D1F2F910B78E}">
      <dgm:prSet/>
      <dgm:spPr/>
      <dgm:t>
        <a:bodyPr/>
        <a:lstStyle/>
        <a:p>
          <a:endParaRPr lang="en-US"/>
        </a:p>
      </dgm:t>
    </dgm:pt>
    <dgm:pt modelId="{03B55026-08FB-004A-B74B-E1BE98CADD5A}" type="sibTrans" cxnId="{7AFD4566-B83B-FB47-BF0E-D1F2F910B78E}">
      <dgm:prSet/>
      <dgm:spPr/>
      <dgm:t>
        <a:bodyPr/>
        <a:lstStyle/>
        <a:p>
          <a:endParaRPr lang="en-US"/>
        </a:p>
      </dgm:t>
    </dgm:pt>
    <dgm:pt modelId="{907D5A9A-78ED-9A43-A03F-6E8FD7F153E7}">
      <dgm:prSet/>
      <dgm:spPr/>
      <dgm:t>
        <a:bodyPr/>
        <a:lstStyle/>
        <a:p>
          <a:r>
            <a:rPr lang="en-US"/>
            <a:t>Use of routine measure administration to monitor response to treatment, treatment effectiveness, and adjust treatment as needed. </a:t>
          </a:r>
        </a:p>
      </dgm:t>
    </dgm:pt>
    <dgm:pt modelId="{06DF3CEA-49AE-004A-9FE2-4A9604ADE0D1}" type="parTrans" cxnId="{33B7D42A-6FFF-BF4E-B8C2-642C39E02A6B}">
      <dgm:prSet/>
      <dgm:spPr/>
      <dgm:t>
        <a:bodyPr/>
        <a:lstStyle/>
        <a:p>
          <a:endParaRPr lang="en-US"/>
        </a:p>
      </dgm:t>
    </dgm:pt>
    <dgm:pt modelId="{9EB80CF7-8797-2F4A-8DA3-1D91D767A518}" type="sibTrans" cxnId="{33B7D42A-6FFF-BF4E-B8C2-642C39E02A6B}">
      <dgm:prSet/>
      <dgm:spPr/>
      <dgm:t>
        <a:bodyPr/>
        <a:lstStyle/>
        <a:p>
          <a:endParaRPr lang="en-US"/>
        </a:p>
      </dgm:t>
    </dgm:pt>
    <dgm:pt modelId="{2D7D184A-FB3F-E443-AED5-FD85B29397F8}">
      <dgm:prSet/>
      <dgm:spPr/>
      <dgm:t>
        <a:bodyPr/>
        <a:lstStyle/>
        <a:p>
          <a:pPr>
            <a:defRPr b="1"/>
          </a:pPr>
          <a:r>
            <a:rPr lang="en-US">
              <a:latin typeface="+mj-lt"/>
            </a:rPr>
            <a:t>Discharge/Termination </a:t>
          </a:r>
        </a:p>
      </dgm:t>
    </dgm:pt>
    <dgm:pt modelId="{13933981-D982-EF41-A31D-332BF3A247D4}" type="parTrans" cxnId="{8270CDC8-20B1-324C-A284-B08F1E8E0E8B}">
      <dgm:prSet/>
      <dgm:spPr/>
      <dgm:t>
        <a:bodyPr/>
        <a:lstStyle/>
        <a:p>
          <a:endParaRPr lang="en-US"/>
        </a:p>
      </dgm:t>
    </dgm:pt>
    <dgm:pt modelId="{F83EBB16-C6D6-D041-B1BC-DC17B7A86018}" type="sibTrans" cxnId="{8270CDC8-20B1-324C-A284-B08F1E8E0E8B}">
      <dgm:prSet/>
      <dgm:spPr/>
      <dgm:t>
        <a:bodyPr/>
        <a:lstStyle/>
        <a:p>
          <a:endParaRPr lang="en-US"/>
        </a:p>
      </dgm:t>
    </dgm:pt>
    <dgm:pt modelId="{494FC8DA-D44B-FE49-A631-44DAC4CE745B}">
      <dgm:prSet/>
      <dgm:spPr/>
      <dgm:t>
        <a:bodyPr/>
        <a:lstStyle/>
        <a:p>
          <a:r>
            <a:rPr lang="en-US"/>
            <a:t>Use of quantitative data to assist with decision-making relative to readiness for discharge. </a:t>
          </a:r>
        </a:p>
      </dgm:t>
    </dgm:pt>
    <dgm:pt modelId="{F15C96B2-0AA4-F443-8A34-993E59F68C81}" type="parTrans" cxnId="{8CA869CF-7EED-1A4D-9742-B431F00DE7D3}">
      <dgm:prSet/>
      <dgm:spPr/>
      <dgm:t>
        <a:bodyPr/>
        <a:lstStyle/>
        <a:p>
          <a:endParaRPr lang="en-US"/>
        </a:p>
      </dgm:t>
    </dgm:pt>
    <dgm:pt modelId="{71459EDD-FCB7-F741-96A5-5EC94107E4C2}" type="sibTrans" cxnId="{8CA869CF-7EED-1A4D-9742-B431F00DE7D3}">
      <dgm:prSet/>
      <dgm:spPr/>
      <dgm:t>
        <a:bodyPr/>
        <a:lstStyle/>
        <a:p>
          <a:endParaRPr lang="en-US"/>
        </a:p>
      </dgm:t>
    </dgm:pt>
    <dgm:pt modelId="{E1E13116-73DA-B246-8C04-B8F1BC4C47BE}" type="pres">
      <dgm:prSet presAssocID="{4E2FCF49-83DE-6C48-BD46-567565B6541D}" presName="root" presStyleCnt="0">
        <dgm:presLayoutVars>
          <dgm:chMax/>
          <dgm:chPref/>
          <dgm:animLvl val="lvl"/>
        </dgm:presLayoutVars>
      </dgm:prSet>
      <dgm:spPr/>
    </dgm:pt>
    <dgm:pt modelId="{40EF567E-8AAB-A344-8BBB-12398AE57151}" type="pres">
      <dgm:prSet presAssocID="{4E2FCF49-83DE-6C48-BD46-567565B6541D}" presName="divider" presStyleLbl="alignAcc1" presStyleIdx="0" presStyleCnt="1"/>
      <dgm:spPr>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gm:spPr>
    </dgm:pt>
    <dgm:pt modelId="{D1CFE5E2-55F0-1A4E-8DEC-E2ADF97392AB}" type="pres">
      <dgm:prSet presAssocID="{4E2FCF49-83DE-6C48-BD46-567565B6541D}" presName="nodes" presStyleCnt="0">
        <dgm:presLayoutVars>
          <dgm:chMax/>
          <dgm:chPref/>
          <dgm:animLvl val="lvl"/>
        </dgm:presLayoutVars>
      </dgm:prSet>
      <dgm:spPr/>
    </dgm:pt>
    <dgm:pt modelId="{EF4327EF-31CB-1842-B69C-75917A49BB5D}" type="pres">
      <dgm:prSet presAssocID="{57163DCC-B1CC-3C41-B57D-C20AB3BAF29A}" presName="composite" presStyleCnt="0"/>
      <dgm:spPr/>
    </dgm:pt>
    <dgm:pt modelId="{A0C3425F-FEC6-AB4D-884D-271E15A6D051}" type="pres">
      <dgm:prSet presAssocID="{57163DCC-B1CC-3C41-B57D-C20AB3BAF29A}" presName="ConnectorPoint" presStyleLbl="lnNode1" presStyleIdx="0"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14AB47DE-7219-6945-A989-9BFC27E1233F}" type="pres">
      <dgm:prSet presAssocID="{57163DCC-B1CC-3C41-B57D-C20AB3BAF29A}" presName="DropPinPlaceHolder" presStyleCnt="0"/>
      <dgm:spPr/>
    </dgm:pt>
    <dgm:pt modelId="{2B0D3E10-D767-E94C-8D0C-A83254EE4E96}" type="pres">
      <dgm:prSet presAssocID="{57163DCC-B1CC-3C41-B57D-C20AB3BAF29A}" presName="DropPin" presStyleLbl="alignNode1" presStyleIdx="0" presStyleCnt="8"/>
      <dgm:spPr/>
    </dgm:pt>
    <dgm:pt modelId="{5AA0396C-17E5-A644-9FE2-D2B18F635894}" type="pres">
      <dgm:prSet presAssocID="{57163DCC-B1CC-3C41-B57D-C20AB3BAF29A}" presName="Ellipse" presStyleLbl="fgAcc1" presStyleIdx="0" presStyleCnt="4"/>
      <dgm:spPr>
        <a:solidFill>
          <a:schemeClr val="accent1">
            <a:alpha val="90000"/>
            <a:hueOff val="0"/>
            <a:satOff val="0"/>
            <a:lumOff val="0"/>
            <a:alphaOff val="0"/>
          </a:schemeClr>
        </a:solidFill>
        <a:ln w="19050" cap="flat" cmpd="sng" algn="ctr">
          <a:noFill/>
          <a:prstDash val="solid"/>
          <a:miter lim="800000"/>
        </a:ln>
        <a:effectLst/>
      </dgm:spPr>
    </dgm:pt>
    <dgm:pt modelId="{6D5DA738-6B85-8D4A-B177-EA4845A4AE89}" type="pres">
      <dgm:prSet presAssocID="{57163DCC-B1CC-3C41-B57D-C20AB3BAF29A}" presName="L2TextContainer" presStyleLbl="revTx" presStyleIdx="0" presStyleCnt="4">
        <dgm:presLayoutVars>
          <dgm:bulletEnabled val="1"/>
        </dgm:presLayoutVars>
      </dgm:prSet>
      <dgm:spPr/>
    </dgm:pt>
    <dgm:pt modelId="{9F3B607F-F6B3-1145-A876-BFABF96D0635}" type="pres">
      <dgm:prSet presAssocID="{57163DCC-B1CC-3C41-B57D-C20AB3BAF29A}" presName="L1TextContainer" presStyleLbl="alignNode1" presStyleIdx="1" presStyleCnt="8">
        <dgm:presLayoutVars>
          <dgm:chMax val="1"/>
          <dgm:chPref val="1"/>
          <dgm:bulletEnabled val="1"/>
        </dgm:presLayoutVars>
      </dgm:prSet>
      <dgm:spPr/>
    </dgm:pt>
    <dgm:pt modelId="{4D99DB7E-8EC0-1645-B3F6-B65EB6BC321F}" type="pres">
      <dgm:prSet presAssocID="{57163DCC-B1CC-3C41-B57D-C20AB3BAF29A}" presName="ConnectLine" presStyleLbl="sibTrans1D1" presStyleIdx="0" presStyleCnt="4"/>
      <dgm:spPr/>
    </dgm:pt>
    <dgm:pt modelId="{E15547E5-72BB-0149-A658-3914668DB050}" type="pres">
      <dgm:prSet presAssocID="{57163DCC-B1CC-3C41-B57D-C20AB3BAF29A}" presName="EmptyPlaceHolder" presStyleCnt="0"/>
      <dgm:spPr/>
    </dgm:pt>
    <dgm:pt modelId="{2AD8A33A-7836-E240-B282-60E964CAA2E7}" type="pres">
      <dgm:prSet presAssocID="{7A77A1A1-904A-914A-8351-11210F338EE3}" presName="spaceBetweenRectangles" presStyleCnt="0"/>
      <dgm:spPr/>
    </dgm:pt>
    <dgm:pt modelId="{9A16328B-71DF-7C42-AD39-DD2B54E762CA}" type="pres">
      <dgm:prSet presAssocID="{1DC241B1-03AA-1F41-9F97-15C4ADFE3607}" presName="composite" presStyleCnt="0"/>
      <dgm:spPr/>
    </dgm:pt>
    <dgm:pt modelId="{50711626-A0A3-DB4D-B193-4F8E873C6F3D}" type="pres">
      <dgm:prSet presAssocID="{1DC241B1-03AA-1F41-9F97-15C4ADFE3607}" presName="ConnectorPoint" presStyleLbl="lnNode1" presStyleIdx="1"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815F4A7C-F586-CF4B-B9FC-F05D5BF99220}" type="pres">
      <dgm:prSet presAssocID="{1DC241B1-03AA-1F41-9F97-15C4ADFE3607}" presName="DropPinPlaceHolder" presStyleCnt="0"/>
      <dgm:spPr/>
    </dgm:pt>
    <dgm:pt modelId="{3A992B98-2E28-8841-97DC-C609A55156C8}" type="pres">
      <dgm:prSet presAssocID="{1DC241B1-03AA-1F41-9F97-15C4ADFE3607}" presName="DropPin" presStyleLbl="alignNode1" presStyleIdx="2" presStyleCnt="8"/>
      <dgm:spPr/>
    </dgm:pt>
    <dgm:pt modelId="{6A30C4CC-381C-174D-A4E6-5B89B9DE00EC}" type="pres">
      <dgm:prSet presAssocID="{1DC241B1-03AA-1F41-9F97-15C4ADFE3607}" presName="Ellipse" presStyleLbl="fgAcc1" presStyleIdx="1" presStyleCnt="4"/>
      <dgm:spPr>
        <a:solidFill>
          <a:schemeClr val="accent1">
            <a:alpha val="90000"/>
            <a:hueOff val="0"/>
            <a:satOff val="0"/>
            <a:lumOff val="0"/>
            <a:alphaOff val="0"/>
          </a:schemeClr>
        </a:solidFill>
        <a:ln w="19050" cap="flat" cmpd="sng" algn="ctr">
          <a:noFill/>
          <a:prstDash val="solid"/>
          <a:miter lim="800000"/>
        </a:ln>
        <a:effectLst/>
      </dgm:spPr>
    </dgm:pt>
    <dgm:pt modelId="{AEB63C26-EFEC-D548-805D-1F3D298E3A30}" type="pres">
      <dgm:prSet presAssocID="{1DC241B1-03AA-1F41-9F97-15C4ADFE3607}" presName="L2TextContainer" presStyleLbl="revTx" presStyleIdx="1" presStyleCnt="4">
        <dgm:presLayoutVars>
          <dgm:bulletEnabled val="1"/>
        </dgm:presLayoutVars>
      </dgm:prSet>
      <dgm:spPr/>
    </dgm:pt>
    <dgm:pt modelId="{CD07474B-C94A-C740-ABBB-B6BEA8DDC24E}" type="pres">
      <dgm:prSet presAssocID="{1DC241B1-03AA-1F41-9F97-15C4ADFE3607}" presName="L1TextContainer" presStyleLbl="alignNode1" presStyleIdx="3" presStyleCnt="8">
        <dgm:presLayoutVars>
          <dgm:chMax val="1"/>
          <dgm:chPref val="1"/>
          <dgm:bulletEnabled val="1"/>
        </dgm:presLayoutVars>
      </dgm:prSet>
      <dgm:spPr/>
    </dgm:pt>
    <dgm:pt modelId="{EF1B1142-9CEE-4B4A-BF75-89C293CE4C6C}" type="pres">
      <dgm:prSet presAssocID="{1DC241B1-03AA-1F41-9F97-15C4ADFE3607}" presName="ConnectLine" presStyleLbl="sibTrans1D1" presStyleIdx="1" presStyleCnt="4"/>
      <dgm:spPr/>
    </dgm:pt>
    <dgm:pt modelId="{682A4DFC-46EC-1F44-91AE-03D0282962D2}" type="pres">
      <dgm:prSet presAssocID="{1DC241B1-03AA-1F41-9F97-15C4ADFE3607}" presName="EmptyPlaceHolder" presStyleCnt="0"/>
      <dgm:spPr/>
    </dgm:pt>
    <dgm:pt modelId="{1A207E96-FFFE-F644-BC57-F236CE9B9F45}" type="pres">
      <dgm:prSet presAssocID="{F3C872E0-D851-5D45-8008-3C61ED88DF78}" presName="spaceBetweenRectangles" presStyleCnt="0"/>
      <dgm:spPr/>
    </dgm:pt>
    <dgm:pt modelId="{AB8FD7C4-BDD8-BD45-876C-ABD99AED9CDE}" type="pres">
      <dgm:prSet presAssocID="{4C281819-DDC8-6942-B38B-5388A5F09512}" presName="composite" presStyleCnt="0"/>
      <dgm:spPr/>
    </dgm:pt>
    <dgm:pt modelId="{AFB34852-C947-BB41-8B71-95F498B76196}" type="pres">
      <dgm:prSet presAssocID="{4C281819-DDC8-6942-B38B-5388A5F09512}" presName="ConnectorPoint" presStyleLbl="lnNode1" presStyleIdx="2"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37452DA-30D3-DD45-B9A8-9CAB5FA26C05}" type="pres">
      <dgm:prSet presAssocID="{4C281819-DDC8-6942-B38B-5388A5F09512}" presName="DropPinPlaceHolder" presStyleCnt="0"/>
      <dgm:spPr/>
    </dgm:pt>
    <dgm:pt modelId="{E52C9845-DCC9-E74B-BB9F-6878116AEB7B}" type="pres">
      <dgm:prSet presAssocID="{4C281819-DDC8-6942-B38B-5388A5F09512}" presName="DropPin" presStyleLbl="alignNode1" presStyleIdx="4" presStyleCnt="8"/>
      <dgm:spPr/>
    </dgm:pt>
    <dgm:pt modelId="{9E3DB7A5-25E8-D74D-879E-861BC23CFABB}" type="pres">
      <dgm:prSet presAssocID="{4C281819-DDC8-6942-B38B-5388A5F09512}" presName="Ellipse" presStyleLbl="fgAcc1" presStyleIdx="2" presStyleCnt="4"/>
      <dgm:spPr>
        <a:solidFill>
          <a:schemeClr val="accent1">
            <a:alpha val="90000"/>
            <a:hueOff val="0"/>
            <a:satOff val="0"/>
            <a:lumOff val="0"/>
            <a:alphaOff val="0"/>
          </a:schemeClr>
        </a:solidFill>
        <a:ln w="19050" cap="flat" cmpd="sng" algn="ctr">
          <a:noFill/>
          <a:prstDash val="solid"/>
          <a:miter lim="800000"/>
        </a:ln>
        <a:effectLst/>
      </dgm:spPr>
    </dgm:pt>
    <dgm:pt modelId="{55A58305-9E38-3A44-B05B-DB3FA537F307}" type="pres">
      <dgm:prSet presAssocID="{4C281819-DDC8-6942-B38B-5388A5F09512}" presName="L2TextContainer" presStyleLbl="revTx" presStyleIdx="2" presStyleCnt="4">
        <dgm:presLayoutVars>
          <dgm:bulletEnabled val="1"/>
        </dgm:presLayoutVars>
      </dgm:prSet>
      <dgm:spPr/>
    </dgm:pt>
    <dgm:pt modelId="{4D26A799-1893-9A45-B557-D9D744A0110E}" type="pres">
      <dgm:prSet presAssocID="{4C281819-DDC8-6942-B38B-5388A5F09512}" presName="L1TextContainer" presStyleLbl="alignNode1" presStyleIdx="5" presStyleCnt="8">
        <dgm:presLayoutVars>
          <dgm:chMax val="1"/>
          <dgm:chPref val="1"/>
          <dgm:bulletEnabled val="1"/>
        </dgm:presLayoutVars>
      </dgm:prSet>
      <dgm:spPr/>
    </dgm:pt>
    <dgm:pt modelId="{24CC84F0-CB49-754B-BA72-B2FD335442DB}" type="pres">
      <dgm:prSet presAssocID="{4C281819-DDC8-6942-B38B-5388A5F09512}" presName="ConnectLine" presStyleLbl="sibTrans1D1" presStyleIdx="2" presStyleCnt="4"/>
      <dgm:spPr/>
    </dgm:pt>
    <dgm:pt modelId="{EA68611B-194E-164E-8440-C1C902FE1AC7}" type="pres">
      <dgm:prSet presAssocID="{4C281819-DDC8-6942-B38B-5388A5F09512}" presName="EmptyPlaceHolder" presStyleCnt="0"/>
      <dgm:spPr/>
    </dgm:pt>
    <dgm:pt modelId="{E98D4ABD-52FD-9A43-BC83-1F70399EF743}" type="pres">
      <dgm:prSet presAssocID="{03B55026-08FB-004A-B74B-E1BE98CADD5A}" presName="spaceBetweenRectangles" presStyleCnt="0"/>
      <dgm:spPr/>
    </dgm:pt>
    <dgm:pt modelId="{33F55604-285C-C647-9146-CA0EBC49159F}" type="pres">
      <dgm:prSet presAssocID="{2D7D184A-FB3F-E443-AED5-FD85B29397F8}" presName="composite" presStyleCnt="0"/>
      <dgm:spPr/>
    </dgm:pt>
    <dgm:pt modelId="{B82CA32B-189F-8C4A-AAC9-2A7742A3DE03}" type="pres">
      <dgm:prSet presAssocID="{2D7D184A-FB3F-E443-AED5-FD85B29397F8}" presName="ConnectorPoint" presStyleLbl="lnNode1" presStyleIdx="3"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5FD125FA-8F8B-7E48-BDBC-43C9C4DC88A7}" type="pres">
      <dgm:prSet presAssocID="{2D7D184A-FB3F-E443-AED5-FD85B29397F8}" presName="DropPinPlaceHolder" presStyleCnt="0"/>
      <dgm:spPr/>
    </dgm:pt>
    <dgm:pt modelId="{74C2A984-C037-3041-A855-3A03D1548B3D}" type="pres">
      <dgm:prSet presAssocID="{2D7D184A-FB3F-E443-AED5-FD85B29397F8}" presName="DropPin" presStyleLbl="alignNode1" presStyleIdx="6" presStyleCnt="8"/>
      <dgm:spPr/>
    </dgm:pt>
    <dgm:pt modelId="{6D981777-406D-9E4D-A7CE-9658D9BBE9A0}" type="pres">
      <dgm:prSet presAssocID="{2D7D184A-FB3F-E443-AED5-FD85B29397F8}" presName="Ellipse" presStyleLbl="fgAcc1" presStyleIdx="3" presStyleCnt="4"/>
      <dgm:spPr>
        <a:solidFill>
          <a:schemeClr val="accent1">
            <a:alpha val="90000"/>
            <a:hueOff val="0"/>
            <a:satOff val="0"/>
            <a:lumOff val="0"/>
            <a:alphaOff val="0"/>
          </a:schemeClr>
        </a:solidFill>
        <a:ln w="19050" cap="flat" cmpd="sng" algn="ctr">
          <a:noFill/>
          <a:prstDash val="solid"/>
          <a:miter lim="800000"/>
        </a:ln>
        <a:effectLst/>
      </dgm:spPr>
    </dgm:pt>
    <dgm:pt modelId="{F1943F07-0AAD-B241-95FC-CC50C0F4E9B6}" type="pres">
      <dgm:prSet presAssocID="{2D7D184A-FB3F-E443-AED5-FD85B29397F8}" presName="L2TextContainer" presStyleLbl="revTx" presStyleIdx="3" presStyleCnt="4">
        <dgm:presLayoutVars>
          <dgm:bulletEnabled val="1"/>
        </dgm:presLayoutVars>
      </dgm:prSet>
      <dgm:spPr/>
    </dgm:pt>
    <dgm:pt modelId="{98878AFB-22BF-D442-8EE3-D2C24BE38BFC}" type="pres">
      <dgm:prSet presAssocID="{2D7D184A-FB3F-E443-AED5-FD85B29397F8}" presName="L1TextContainer" presStyleLbl="alignNode1" presStyleIdx="7" presStyleCnt="8">
        <dgm:presLayoutVars>
          <dgm:chMax val="1"/>
          <dgm:chPref val="1"/>
          <dgm:bulletEnabled val="1"/>
        </dgm:presLayoutVars>
      </dgm:prSet>
      <dgm:spPr/>
    </dgm:pt>
    <dgm:pt modelId="{A6170E9E-48F3-7148-906E-437950507A41}" type="pres">
      <dgm:prSet presAssocID="{2D7D184A-FB3F-E443-AED5-FD85B29397F8}" presName="ConnectLine" presStyleLbl="sibTrans1D1" presStyleIdx="3" presStyleCnt="4"/>
      <dgm:spPr/>
    </dgm:pt>
    <dgm:pt modelId="{C7713650-628B-4448-9E1C-6DB9078DC961}" type="pres">
      <dgm:prSet presAssocID="{2D7D184A-FB3F-E443-AED5-FD85B29397F8}" presName="EmptyPlaceHolder" presStyleCnt="0"/>
      <dgm:spPr/>
    </dgm:pt>
  </dgm:ptLst>
  <dgm:cxnLst>
    <dgm:cxn modelId="{9E43EC02-C52A-2745-AC74-C38C1FC2E6C9}" type="presOf" srcId="{494FC8DA-D44B-FE49-A631-44DAC4CE745B}" destId="{F1943F07-0AAD-B241-95FC-CC50C0F4E9B6}" srcOrd="0" destOrd="0" presId="urn:microsoft.com/office/officeart/2024/3/layout/SimpleTimelineDefaultVariant#1"/>
    <dgm:cxn modelId="{FC13C01A-7A7B-4F4A-86A4-6D3385DF5F72}" srcId="{4E2FCF49-83DE-6C48-BD46-567565B6541D}" destId="{1DC241B1-03AA-1F41-9F97-15C4ADFE3607}" srcOrd="1" destOrd="0" parTransId="{9D1AF8B4-2159-B846-A48B-E56E89851620}" sibTransId="{F3C872E0-D851-5D45-8008-3C61ED88DF78}"/>
    <dgm:cxn modelId="{FC30C12A-D395-0A45-AEA4-E2AD1C23748B}" type="presOf" srcId="{09B6B688-3C8C-FF44-86A9-25A6EF1DD62C}" destId="{AEB63C26-EFEC-D548-805D-1F3D298E3A30}" srcOrd="0" destOrd="0" presId="urn:microsoft.com/office/officeart/2024/3/layout/SimpleTimelineDefaultVariant#1"/>
    <dgm:cxn modelId="{33B7D42A-6FFF-BF4E-B8C2-642C39E02A6B}" srcId="{4C281819-DDC8-6942-B38B-5388A5F09512}" destId="{907D5A9A-78ED-9A43-A03F-6E8FD7F153E7}" srcOrd="0" destOrd="0" parTransId="{06DF3CEA-49AE-004A-9FE2-4A9604ADE0D1}" sibTransId="{9EB80CF7-8797-2F4A-8DA3-1D91D767A518}"/>
    <dgm:cxn modelId="{4D573D42-970F-CB4E-A653-7177E52B9F7D}" type="presOf" srcId="{4C281819-DDC8-6942-B38B-5388A5F09512}" destId="{4D26A799-1893-9A45-B557-D9D744A0110E}" srcOrd="0" destOrd="0" presId="urn:microsoft.com/office/officeart/2024/3/layout/SimpleTimelineDefaultVariant#1"/>
    <dgm:cxn modelId="{7AFD4566-B83B-FB47-BF0E-D1F2F910B78E}" srcId="{4E2FCF49-83DE-6C48-BD46-567565B6541D}" destId="{4C281819-DDC8-6942-B38B-5388A5F09512}" srcOrd="2" destOrd="0" parTransId="{4D55BA2F-E6D4-4844-BACC-CCB7998D8FCD}" sibTransId="{03B55026-08FB-004A-B74B-E1BE98CADD5A}"/>
    <dgm:cxn modelId="{DD10A06E-D2B1-5143-B7C1-B0C460F1D7EB}" type="presOf" srcId="{1DC241B1-03AA-1F41-9F97-15C4ADFE3607}" destId="{CD07474B-C94A-C740-ABBB-B6BEA8DDC24E}" srcOrd="0" destOrd="0" presId="urn:microsoft.com/office/officeart/2024/3/layout/SimpleTimelineDefaultVariant#1"/>
    <dgm:cxn modelId="{A968DB89-9864-6B40-835F-DFDD7C5F7AE5}" type="presOf" srcId="{907D5A9A-78ED-9A43-A03F-6E8FD7F153E7}" destId="{55A58305-9E38-3A44-B05B-DB3FA537F307}" srcOrd="0" destOrd="0" presId="urn:microsoft.com/office/officeart/2024/3/layout/SimpleTimelineDefaultVariant#1"/>
    <dgm:cxn modelId="{2D971E8D-3371-7848-9F5D-849F26620D49}" type="presOf" srcId="{91BF7E50-A8D0-0246-9042-35DE31E6D7F9}" destId="{6D5DA738-6B85-8D4A-B177-EA4845A4AE89}" srcOrd="0" destOrd="0" presId="urn:microsoft.com/office/officeart/2024/3/layout/SimpleTimelineDefaultVariant#1"/>
    <dgm:cxn modelId="{714A85A3-5CC5-2F4A-B794-0621030CDF86}" type="presOf" srcId="{2D7D184A-FB3F-E443-AED5-FD85B29397F8}" destId="{98878AFB-22BF-D442-8EE3-D2C24BE38BFC}" srcOrd="0" destOrd="0" presId="urn:microsoft.com/office/officeart/2024/3/layout/SimpleTimelineDefaultVariant#1"/>
    <dgm:cxn modelId="{9DD192A4-3084-5542-B5B7-99AA806C3AEA}" type="presOf" srcId="{57163DCC-B1CC-3C41-B57D-C20AB3BAF29A}" destId="{9F3B607F-F6B3-1145-A876-BFABF96D0635}" srcOrd="0" destOrd="0" presId="urn:microsoft.com/office/officeart/2024/3/layout/SimpleTimelineDefaultVariant#1"/>
    <dgm:cxn modelId="{E05464B2-107F-FE4C-B336-1CABE487FFFE}" srcId="{4E2FCF49-83DE-6C48-BD46-567565B6541D}" destId="{57163DCC-B1CC-3C41-B57D-C20AB3BAF29A}" srcOrd="0" destOrd="0" parTransId="{E29E203D-287A-CA49-926A-13A2C313DEFD}" sibTransId="{7A77A1A1-904A-914A-8351-11210F338EE3}"/>
    <dgm:cxn modelId="{8270CDC8-20B1-324C-A284-B08F1E8E0E8B}" srcId="{4E2FCF49-83DE-6C48-BD46-567565B6541D}" destId="{2D7D184A-FB3F-E443-AED5-FD85B29397F8}" srcOrd="3" destOrd="0" parTransId="{13933981-D982-EF41-A31D-332BF3A247D4}" sibTransId="{F83EBB16-C6D6-D041-B1BC-DC17B7A86018}"/>
    <dgm:cxn modelId="{3E5C9FCA-52D8-F648-B211-711164F1DB46}" srcId="{1DC241B1-03AA-1F41-9F97-15C4ADFE3607}" destId="{09B6B688-3C8C-FF44-86A9-25A6EF1DD62C}" srcOrd="0" destOrd="0" parTransId="{7F1B5ED0-F979-144F-9A78-F9936BE169A7}" sibTransId="{47BFE565-8D3C-D942-9840-BE1039E9636D}"/>
    <dgm:cxn modelId="{8CA869CF-7EED-1A4D-9742-B431F00DE7D3}" srcId="{2D7D184A-FB3F-E443-AED5-FD85B29397F8}" destId="{494FC8DA-D44B-FE49-A631-44DAC4CE745B}" srcOrd="0" destOrd="0" parTransId="{F15C96B2-0AA4-F443-8A34-993E59F68C81}" sibTransId="{71459EDD-FCB7-F741-96A5-5EC94107E4C2}"/>
    <dgm:cxn modelId="{EAE524D2-D8D5-074D-A613-CB0574C7A914}" srcId="{57163DCC-B1CC-3C41-B57D-C20AB3BAF29A}" destId="{91BF7E50-A8D0-0246-9042-35DE31E6D7F9}" srcOrd="0" destOrd="0" parTransId="{71FE09C3-97F2-E24A-841D-D636BB09094D}" sibTransId="{0A3B38C3-DE3D-F642-BC14-3C5B82BE67EB}"/>
    <dgm:cxn modelId="{3DCB2EFB-090E-A44D-A06B-756F8389C71A}" type="presOf" srcId="{4E2FCF49-83DE-6C48-BD46-567565B6541D}" destId="{E1E13116-73DA-B246-8C04-B8F1BC4C47BE}" srcOrd="0" destOrd="0" presId="urn:microsoft.com/office/officeart/2024/3/layout/SimpleTimelineDefaultVariant#1"/>
    <dgm:cxn modelId="{AA70E3B4-4A1F-A842-968D-70D43484D054}" type="presParOf" srcId="{E1E13116-73DA-B246-8C04-B8F1BC4C47BE}" destId="{40EF567E-8AAB-A344-8BBB-12398AE57151}" srcOrd="0" destOrd="0" presId="urn:microsoft.com/office/officeart/2024/3/layout/SimpleTimelineDefaultVariant#1"/>
    <dgm:cxn modelId="{21108E82-3008-8946-9F41-51680E820A68}" type="presParOf" srcId="{E1E13116-73DA-B246-8C04-B8F1BC4C47BE}" destId="{D1CFE5E2-55F0-1A4E-8DEC-E2ADF97392AB}" srcOrd="1" destOrd="0" presId="urn:microsoft.com/office/officeart/2024/3/layout/SimpleTimelineDefaultVariant#1"/>
    <dgm:cxn modelId="{71A8B8E0-478E-DE4B-A687-00F8AAC4ECB5}" type="presParOf" srcId="{D1CFE5E2-55F0-1A4E-8DEC-E2ADF97392AB}" destId="{EF4327EF-31CB-1842-B69C-75917A49BB5D}" srcOrd="0" destOrd="0" presId="urn:microsoft.com/office/officeart/2024/3/layout/SimpleTimelineDefaultVariant#1"/>
    <dgm:cxn modelId="{68D0803A-F218-714F-A5E7-1C3E8048A542}" type="presParOf" srcId="{EF4327EF-31CB-1842-B69C-75917A49BB5D}" destId="{A0C3425F-FEC6-AB4D-884D-271E15A6D051}" srcOrd="0" destOrd="0" presId="urn:microsoft.com/office/officeart/2024/3/layout/SimpleTimelineDefaultVariant#1"/>
    <dgm:cxn modelId="{DB07E1FF-CF52-0C4A-8EE2-3EAFAA1B5ED8}" type="presParOf" srcId="{EF4327EF-31CB-1842-B69C-75917A49BB5D}" destId="{14AB47DE-7219-6945-A989-9BFC27E1233F}" srcOrd="1" destOrd="0" presId="urn:microsoft.com/office/officeart/2024/3/layout/SimpleTimelineDefaultVariant#1"/>
    <dgm:cxn modelId="{CEB1B045-E678-A040-B310-717E85263558}" type="presParOf" srcId="{14AB47DE-7219-6945-A989-9BFC27E1233F}" destId="{2B0D3E10-D767-E94C-8D0C-A83254EE4E96}" srcOrd="0" destOrd="0" presId="urn:microsoft.com/office/officeart/2024/3/layout/SimpleTimelineDefaultVariant#1"/>
    <dgm:cxn modelId="{314F9029-73CC-1B44-B1AF-476F7D07896F}" type="presParOf" srcId="{14AB47DE-7219-6945-A989-9BFC27E1233F}" destId="{5AA0396C-17E5-A644-9FE2-D2B18F635894}" srcOrd="1" destOrd="0" presId="urn:microsoft.com/office/officeart/2024/3/layout/SimpleTimelineDefaultVariant#1"/>
    <dgm:cxn modelId="{6D75C1BE-2FED-2349-A78A-51D20DC74FA4}" type="presParOf" srcId="{EF4327EF-31CB-1842-B69C-75917A49BB5D}" destId="{6D5DA738-6B85-8D4A-B177-EA4845A4AE89}" srcOrd="2" destOrd="0" presId="urn:microsoft.com/office/officeart/2024/3/layout/SimpleTimelineDefaultVariant#1"/>
    <dgm:cxn modelId="{9F97BA15-278F-FB4A-A3C1-324FFF40971B}" type="presParOf" srcId="{EF4327EF-31CB-1842-B69C-75917A49BB5D}" destId="{9F3B607F-F6B3-1145-A876-BFABF96D0635}" srcOrd="3" destOrd="0" presId="urn:microsoft.com/office/officeart/2024/3/layout/SimpleTimelineDefaultVariant#1"/>
    <dgm:cxn modelId="{8CC1B3D6-2D34-1745-9766-CB02D46674ED}" type="presParOf" srcId="{EF4327EF-31CB-1842-B69C-75917A49BB5D}" destId="{4D99DB7E-8EC0-1645-B3F6-B65EB6BC321F}" srcOrd="4" destOrd="0" presId="urn:microsoft.com/office/officeart/2024/3/layout/SimpleTimelineDefaultVariant#1"/>
    <dgm:cxn modelId="{44684B50-8972-8A4E-93C2-135B1B35510D}" type="presParOf" srcId="{EF4327EF-31CB-1842-B69C-75917A49BB5D}" destId="{E15547E5-72BB-0149-A658-3914668DB050}" srcOrd="5" destOrd="0" presId="urn:microsoft.com/office/officeart/2024/3/layout/SimpleTimelineDefaultVariant#1"/>
    <dgm:cxn modelId="{43BFDCD9-DC62-EB40-9C44-7B6152D4DCF6}" type="presParOf" srcId="{D1CFE5E2-55F0-1A4E-8DEC-E2ADF97392AB}" destId="{2AD8A33A-7836-E240-B282-60E964CAA2E7}" srcOrd="1" destOrd="0" presId="urn:microsoft.com/office/officeart/2024/3/layout/SimpleTimelineDefaultVariant#1"/>
    <dgm:cxn modelId="{5636F26F-35DE-5C48-8FE0-CB8AB590E8A1}" type="presParOf" srcId="{D1CFE5E2-55F0-1A4E-8DEC-E2ADF97392AB}" destId="{9A16328B-71DF-7C42-AD39-DD2B54E762CA}" srcOrd="2" destOrd="0" presId="urn:microsoft.com/office/officeart/2024/3/layout/SimpleTimelineDefaultVariant#1"/>
    <dgm:cxn modelId="{9DB756BF-5C75-044E-B773-526498AD882A}" type="presParOf" srcId="{9A16328B-71DF-7C42-AD39-DD2B54E762CA}" destId="{50711626-A0A3-DB4D-B193-4F8E873C6F3D}" srcOrd="0" destOrd="0" presId="urn:microsoft.com/office/officeart/2024/3/layout/SimpleTimelineDefaultVariant#1"/>
    <dgm:cxn modelId="{9CC7DB19-9412-5449-A224-83E669CDD019}" type="presParOf" srcId="{9A16328B-71DF-7C42-AD39-DD2B54E762CA}" destId="{815F4A7C-F586-CF4B-B9FC-F05D5BF99220}" srcOrd="1" destOrd="0" presId="urn:microsoft.com/office/officeart/2024/3/layout/SimpleTimelineDefaultVariant#1"/>
    <dgm:cxn modelId="{AA58BD1D-805C-B849-92AF-6951A538C658}" type="presParOf" srcId="{815F4A7C-F586-CF4B-B9FC-F05D5BF99220}" destId="{3A992B98-2E28-8841-97DC-C609A55156C8}" srcOrd="0" destOrd="0" presId="urn:microsoft.com/office/officeart/2024/3/layout/SimpleTimelineDefaultVariant#1"/>
    <dgm:cxn modelId="{0A158E0E-638E-1841-932C-07C7009712A2}" type="presParOf" srcId="{815F4A7C-F586-CF4B-B9FC-F05D5BF99220}" destId="{6A30C4CC-381C-174D-A4E6-5B89B9DE00EC}" srcOrd="1" destOrd="0" presId="urn:microsoft.com/office/officeart/2024/3/layout/SimpleTimelineDefaultVariant#1"/>
    <dgm:cxn modelId="{39EC8D95-B3EB-174E-9AB4-7215CF478D3F}" type="presParOf" srcId="{9A16328B-71DF-7C42-AD39-DD2B54E762CA}" destId="{AEB63C26-EFEC-D548-805D-1F3D298E3A30}" srcOrd="2" destOrd="0" presId="urn:microsoft.com/office/officeart/2024/3/layout/SimpleTimelineDefaultVariant#1"/>
    <dgm:cxn modelId="{43CC1844-D004-BC49-8731-B5774A057281}" type="presParOf" srcId="{9A16328B-71DF-7C42-AD39-DD2B54E762CA}" destId="{CD07474B-C94A-C740-ABBB-B6BEA8DDC24E}" srcOrd="3" destOrd="0" presId="urn:microsoft.com/office/officeart/2024/3/layout/SimpleTimelineDefaultVariant#1"/>
    <dgm:cxn modelId="{409C010C-B979-8142-BDA6-CE22A8C12160}" type="presParOf" srcId="{9A16328B-71DF-7C42-AD39-DD2B54E762CA}" destId="{EF1B1142-9CEE-4B4A-BF75-89C293CE4C6C}" srcOrd="4" destOrd="0" presId="urn:microsoft.com/office/officeart/2024/3/layout/SimpleTimelineDefaultVariant#1"/>
    <dgm:cxn modelId="{F16F979C-1A3E-2F44-A59F-B8678FE86181}" type="presParOf" srcId="{9A16328B-71DF-7C42-AD39-DD2B54E762CA}" destId="{682A4DFC-46EC-1F44-91AE-03D0282962D2}" srcOrd="5" destOrd="0" presId="urn:microsoft.com/office/officeart/2024/3/layout/SimpleTimelineDefaultVariant#1"/>
    <dgm:cxn modelId="{8C268706-BD04-A340-BE4F-B9D9CFCB1026}" type="presParOf" srcId="{D1CFE5E2-55F0-1A4E-8DEC-E2ADF97392AB}" destId="{1A207E96-FFFE-F644-BC57-F236CE9B9F45}" srcOrd="3" destOrd="0" presId="urn:microsoft.com/office/officeart/2024/3/layout/SimpleTimelineDefaultVariant#1"/>
    <dgm:cxn modelId="{1F565275-F7B1-8C41-8FD5-81725E71BD12}" type="presParOf" srcId="{D1CFE5E2-55F0-1A4E-8DEC-E2ADF97392AB}" destId="{AB8FD7C4-BDD8-BD45-876C-ABD99AED9CDE}" srcOrd="4" destOrd="0" presId="urn:microsoft.com/office/officeart/2024/3/layout/SimpleTimelineDefaultVariant#1"/>
    <dgm:cxn modelId="{7A759DC2-1421-8A4A-A40D-519C1C65BD73}" type="presParOf" srcId="{AB8FD7C4-BDD8-BD45-876C-ABD99AED9CDE}" destId="{AFB34852-C947-BB41-8B71-95F498B76196}" srcOrd="0" destOrd="0" presId="urn:microsoft.com/office/officeart/2024/3/layout/SimpleTimelineDefaultVariant#1"/>
    <dgm:cxn modelId="{5F5A9222-F08C-344D-974F-B96B678E3588}" type="presParOf" srcId="{AB8FD7C4-BDD8-BD45-876C-ABD99AED9CDE}" destId="{A37452DA-30D3-DD45-B9A8-9CAB5FA26C05}" srcOrd="1" destOrd="0" presId="urn:microsoft.com/office/officeart/2024/3/layout/SimpleTimelineDefaultVariant#1"/>
    <dgm:cxn modelId="{5F33BEC8-2D9E-8342-9C23-75D1739BE7DF}" type="presParOf" srcId="{A37452DA-30D3-DD45-B9A8-9CAB5FA26C05}" destId="{E52C9845-DCC9-E74B-BB9F-6878116AEB7B}" srcOrd="0" destOrd="0" presId="urn:microsoft.com/office/officeart/2024/3/layout/SimpleTimelineDefaultVariant#1"/>
    <dgm:cxn modelId="{D6996B3E-FF22-6A4A-8B6A-F94175581A13}" type="presParOf" srcId="{A37452DA-30D3-DD45-B9A8-9CAB5FA26C05}" destId="{9E3DB7A5-25E8-D74D-879E-861BC23CFABB}" srcOrd="1" destOrd="0" presId="urn:microsoft.com/office/officeart/2024/3/layout/SimpleTimelineDefaultVariant#1"/>
    <dgm:cxn modelId="{91F92CA8-0784-364E-80D2-DDCBF4E7B905}" type="presParOf" srcId="{AB8FD7C4-BDD8-BD45-876C-ABD99AED9CDE}" destId="{55A58305-9E38-3A44-B05B-DB3FA537F307}" srcOrd="2" destOrd="0" presId="urn:microsoft.com/office/officeart/2024/3/layout/SimpleTimelineDefaultVariant#1"/>
    <dgm:cxn modelId="{4549623D-E2B2-5B44-B90F-A30238561497}" type="presParOf" srcId="{AB8FD7C4-BDD8-BD45-876C-ABD99AED9CDE}" destId="{4D26A799-1893-9A45-B557-D9D744A0110E}" srcOrd="3" destOrd="0" presId="urn:microsoft.com/office/officeart/2024/3/layout/SimpleTimelineDefaultVariant#1"/>
    <dgm:cxn modelId="{3792106F-AB66-CD42-981A-D3CAAA1CC58A}" type="presParOf" srcId="{AB8FD7C4-BDD8-BD45-876C-ABD99AED9CDE}" destId="{24CC84F0-CB49-754B-BA72-B2FD335442DB}" srcOrd="4" destOrd="0" presId="urn:microsoft.com/office/officeart/2024/3/layout/SimpleTimelineDefaultVariant#1"/>
    <dgm:cxn modelId="{BC49F9DF-7C5F-874B-9215-3EAE9F90B4E4}" type="presParOf" srcId="{AB8FD7C4-BDD8-BD45-876C-ABD99AED9CDE}" destId="{EA68611B-194E-164E-8440-C1C902FE1AC7}" srcOrd="5" destOrd="0" presId="urn:microsoft.com/office/officeart/2024/3/layout/SimpleTimelineDefaultVariant#1"/>
    <dgm:cxn modelId="{AE337D29-AAA7-E24C-83A7-B83FA9578DE6}" type="presParOf" srcId="{D1CFE5E2-55F0-1A4E-8DEC-E2ADF97392AB}" destId="{E98D4ABD-52FD-9A43-BC83-1F70399EF743}" srcOrd="5" destOrd="0" presId="urn:microsoft.com/office/officeart/2024/3/layout/SimpleTimelineDefaultVariant#1"/>
    <dgm:cxn modelId="{C6DCCFCF-0092-8746-AD4B-C86730B5CF20}" type="presParOf" srcId="{D1CFE5E2-55F0-1A4E-8DEC-E2ADF97392AB}" destId="{33F55604-285C-C647-9146-CA0EBC49159F}" srcOrd="6" destOrd="0" presId="urn:microsoft.com/office/officeart/2024/3/layout/SimpleTimelineDefaultVariant#1"/>
    <dgm:cxn modelId="{2BA84D8A-0BF4-694A-AE36-E91BD0A1339B}" type="presParOf" srcId="{33F55604-285C-C647-9146-CA0EBC49159F}" destId="{B82CA32B-189F-8C4A-AAC9-2A7742A3DE03}" srcOrd="0" destOrd="0" presId="urn:microsoft.com/office/officeart/2024/3/layout/SimpleTimelineDefaultVariant#1"/>
    <dgm:cxn modelId="{146823CC-26B7-1346-B651-49351EFBD21B}" type="presParOf" srcId="{33F55604-285C-C647-9146-CA0EBC49159F}" destId="{5FD125FA-8F8B-7E48-BDBC-43C9C4DC88A7}" srcOrd="1" destOrd="0" presId="urn:microsoft.com/office/officeart/2024/3/layout/SimpleTimelineDefaultVariant#1"/>
    <dgm:cxn modelId="{4678B62A-19A9-634F-B3C9-61193BFF9E0D}" type="presParOf" srcId="{5FD125FA-8F8B-7E48-BDBC-43C9C4DC88A7}" destId="{74C2A984-C037-3041-A855-3A03D1548B3D}" srcOrd="0" destOrd="0" presId="urn:microsoft.com/office/officeart/2024/3/layout/SimpleTimelineDefaultVariant#1"/>
    <dgm:cxn modelId="{331D42F0-BCE8-0B49-B74B-368393280DC0}" type="presParOf" srcId="{5FD125FA-8F8B-7E48-BDBC-43C9C4DC88A7}" destId="{6D981777-406D-9E4D-A7CE-9658D9BBE9A0}" srcOrd="1" destOrd="0" presId="urn:microsoft.com/office/officeart/2024/3/layout/SimpleTimelineDefaultVariant#1"/>
    <dgm:cxn modelId="{4E9C81AD-F269-494A-A9C0-8C712A7FA017}" type="presParOf" srcId="{33F55604-285C-C647-9146-CA0EBC49159F}" destId="{F1943F07-0AAD-B241-95FC-CC50C0F4E9B6}" srcOrd="2" destOrd="0" presId="urn:microsoft.com/office/officeart/2024/3/layout/SimpleTimelineDefaultVariant#1"/>
    <dgm:cxn modelId="{38362555-D789-594F-BBC1-81812328E7DA}" type="presParOf" srcId="{33F55604-285C-C647-9146-CA0EBC49159F}" destId="{98878AFB-22BF-D442-8EE3-D2C24BE38BFC}" srcOrd="3" destOrd="0" presId="urn:microsoft.com/office/officeart/2024/3/layout/SimpleTimelineDefaultVariant#1"/>
    <dgm:cxn modelId="{5C65E14C-4910-BD44-B690-BCB20B4FFE95}" type="presParOf" srcId="{33F55604-285C-C647-9146-CA0EBC49159F}" destId="{A6170E9E-48F3-7148-906E-437950507A41}" srcOrd="4" destOrd="0" presId="urn:microsoft.com/office/officeart/2024/3/layout/SimpleTimelineDefaultVariant#1"/>
    <dgm:cxn modelId="{5F64A0C0-5349-3C46-9418-97301A923EDB}" type="presParOf" srcId="{33F55604-285C-C647-9146-CA0EBC49159F}" destId="{C7713650-628B-4448-9E1C-6DB9078DC961}" srcOrd="5" destOrd="0" presId="urn:microsoft.com/office/officeart/2024/3/layout/SimpleTimelineDefaultVarian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2FCF49-83DE-6C48-BD46-567565B6541D}" type="doc">
      <dgm:prSet loTypeId="urn:microsoft.com/office/officeart/2024/3/layout/SimpleTimelineDefaultVariant#1" loCatId="Timeline" qsTypeId="urn:microsoft.com/office/officeart/2005/8/quickstyle/simple1" qsCatId="simple" csTypeId="urn:microsoft.com/office/officeart/2005/8/colors/SimpleTimelineDefaultColorVariant" csCatId="other" phldr="1"/>
      <dgm:spPr/>
      <dgm:t>
        <a:bodyPr/>
        <a:lstStyle/>
        <a:p>
          <a:endParaRPr lang="en-US"/>
        </a:p>
      </dgm:t>
    </dgm:pt>
    <dgm:pt modelId="{57163DCC-B1CC-3C41-B57D-C20AB3BAF29A}">
      <dgm:prSet/>
      <dgm:spPr/>
      <dgm:t>
        <a:bodyPr/>
        <a:lstStyle/>
        <a:p>
          <a:pPr>
            <a:defRPr b="1"/>
          </a:pPr>
          <a:r>
            <a:rPr lang="en-US">
              <a:latin typeface="+mj-lt"/>
            </a:rPr>
            <a:t>Case Conceptualization</a:t>
          </a:r>
        </a:p>
      </dgm:t>
    </dgm:pt>
    <dgm:pt modelId="{E29E203D-287A-CA49-926A-13A2C313DEFD}" type="parTrans" cxnId="{E05464B2-107F-FE4C-B336-1CABE487FFFE}">
      <dgm:prSet/>
      <dgm:spPr/>
      <dgm:t>
        <a:bodyPr/>
        <a:lstStyle/>
        <a:p>
          <a:endParaRPr lang="en-US"/>
        </a:p>
      </dgm:t>
    </dgm:pt>
    <dgm:pt modelId="{7A77A1A1-904A-914A-8351-11210F338EE3}" type="sibTrans" cxnId="{E05464B2-107F-FE4C-B336-1CABE487FFFE}">
      <dgm:prSet/>
      <dgm:spPr/>
      <dgm:t>
        <a:bodyPr/>
        <a:lstStyle/>
        <a:p>
          <a:endParaRPr lang="en-US"/>
        </a:p>
      </dgm:t>
    </dgm:pt>
    <dgm:pt modelId="{91BF7E50-A8D0-0246-9042-35DE31E6D7F9}">
      <dgm:prSet/>
      <dgm:spPr/>
      <dgm:t>
        <a:bodyPr/>
        <a:lstStyle/>
        <a:p>
          <a:r>
            <a:rPr lang="en-US" b="1"/>
            <a:t>PSC-17 shows elevated attention and internalizing symptoms.</a:t>
          </a:r>
        </a:p>
        <a:p>
          <a:r>
            <a:rPr lang="en-US" b="1"/>
            <a:t>Vanderbilt confirms ADHD, predominately inattentive type.</a:t>
          </a:r>
        </a:p>
        <a:p>
          <a:r>
            <a:rPr lang="en-US" b="1"/>
            <a:t>NQLS shows overall low quality of life.</a:t>
          </a:r>
        </a:p>
      </dgm:t>
    </dgm:pt>
    <dgm:pt modelId="{71FE09C3-97F2-E24A-841D-D636BB09094D}" type="parTrans" cxnId="{EAE524D2-D8D5-074D-A613-CB0574C7A914}">
      <dgm:prSet/>
      <dgm:spPr/>
      <dgm:t>
        <a:bodyPr/>
        <a:lstStyle/>
        <a:p>
          <a:endParaRPr lang="en-US"/>
        </a:p>
      </dgm:t>
    </dgm:pt>
    <dgm:pt modelId="{0A3B38C3-DE3D-F642-BC14-3C5B82BE67EB}" type="sibTrans" cxnId="{EAE524D2-D8D5-074D-A613-CB0574C7A914}">
      <dgm:prSet/>
      <dgm:spPr/>
      <dgm:t>
        <a:bodyPr/>
        <a:lstStyle/>
        <a:p>
          <a:endParaRPr lang="en-US"/>
        </a:p>
      </dgm:t>
    </dgm:pt>
    <dgm:pt modelId="{1DC241B1-03AA-1F41-9F97-15C4ADFE3607}">
      <dgm:prSet/>
      <dgm:spPr/>
      <dgm:t>
        <a:bodyPr/>
        <a:lstStyle/>
        <a:p>
          <a:pPr>
            <a:defRPr b="1"/>
          </a:pPr>
          <a:r>
            <a:rPr lang="en-US">
              <a:latin typeface="+mj-lt"/>
            </a:rPr>
            <a:t>Treatment Planning</a:t>
          </a:r>
        </a:p>
      </dgm:t>
    </dgm:pt>
    <dgm:pt modelId="{9D1AF8B4-2159-B846-A48B-E56E89851620}" type="parTrans" cxnId="{FC13C01A-7A7B-4F4A-86A4-6D3385DF5F72}">
      <dgm:prSet/>
      <dgm:spPr/>
      <dgm:t>
        <a:bodyPr/>
        <a:lstStyle/>
        <a:p>
          <a:endParaRPr lang="en-US"/>
        </a:p>
      </dgm:t>
    </dgm:pt>
    <dgm:pt modelId="{F3C872E0-D851-5D45-8008-3C61ED88DF78}" type="sibTrans" cxnId="{FC13C01A-7A7B-4F4A-86A4-6D3385DF5F72}">
      <dgm:prSet/>
      <dgm:spPr/>
      <dgm:t>
        <a:bodyPr/>
        <a:lstStyle/>
        <a:p>
          <a:endParaRPr lang="en-US"/>
        </a:p>
      </dgm:t>
    </dgm:pt>
    <dgm:pt modelId="{09B6B688-3C8C-FF44-86A9-25A6EF1DD62C}">
      <dgm:prSet/>
      <dgm:spPr/>
      <dgm:t>
        <a:bodyPr/>
        <a:lstStyle/>
        <a:p>
          <a:r>
            <a:rPr lang="en-US">
              <a:solidFill>
                <a:schemeClr val="bg2">
                  <a:lumMod val="90000"/>
                </a:schemeClr>
              </a:solidFill>
            </a:rPr>
            <a:t>Use of baseline data to help guide treatment goals and select appropriate treatment strategies and modalities. </a:t>
          </a:r>
        </a:p>
      </dgm:t>
    </dgm:pt>
    <dgm:pt modelId="{7F1B5ED0-F979-144F-9A78-F9936BE169A7}" type="parTrans" cxnId="{3E5C9FCA-52D8-F648-B211-711164F1DB46}">
      <dgm:prSet/>
      <dgm:spPr/>
      <dgm:t>
        <a:bodyPr/>
        <a:lstStyle/>
        <a:p>
          <a:endParaRPr lang="en-US"/>
        </a:p>
      </dgm:t>
    </dgm:pt>
    <dgm:pt modelId="{47BFE565-8D3C-D942-9840-BE1039E9636D}" type="sibTrans" cxnId="{3E5C9FCA-52D8-F648-B211-711164F1DB46}">
      <dgm:prSet/>
      <dgm:spPr/>
      <dgm:t>
        <a:bodyPr/>
        <a:lstStyle/>
        <a:p>
          <a:endParaRPr lang="en-US"/>
        </a:p>
      </dgm:t>
    </dgm:pt>
    <dgm:pt modelId="{4C281819-DDC8-6942-B38B-5388A5F09512}">
      <dgm:prSet/>
      <dgm:spPr/>
      <dgm:t>
        <a:bodyPr/>
        <a:lstStyle/>
        <a:p>
          <a:pPr>
            <a:defRPr b="1"/>
          </a:pPr>
          <a:r>
            <a:rPr lang="en-US">
              <a:latin typeface="+mj-lt"/>
            </a:rPr>
            <a:t>Progress Monitoring</a:t>
          </a:r>
        </a:p>
      </dgm:t>
    </dgm:pt>
    <dgm:pt modelId="{4D55BA2F-E6D4-4844-BACC-CCB7998D8FCD}" type="parTrans" cxnId="{7AFD4566-B83B-FB47-BF0E-D1F2F910B78E}">
      <dgm:prSet/>
      <dgm:spPr/>
      <dgm:t>
        <a:bodyPr/>
        <a:lstStyle/>
        <a:p>
          <a:endParaRPr lang="en-US"/>
        </a:p>
      </dgm:t>
    </dgm:pt>
    <dgm:pt modelId="{03B55026-08FB-004A-B74B-E1BE98CADD5A}" type="sibTrans" cxnId="{7AFD4566-B83B-FB47-BF0E-D1F2F910B78E}">
      <dgm:prSet/>
      <dgm:spPr/>
      <dgm:t>
        <a:bodyPr/>
        <a:lstStyle/>
        <a:p>
          <a:endParaRPr lang="en-US"/>
        </a:p>
      </dgm:t>
    </dgm:pt>
    <dgm:pt modelId="{907D5A9A-78ED-9A43-A03F-6E8FD7F153E7}">
      <dgm:prSet/>
      <dgm:spPr/>
      <dgm:t>
        <a:bodyPr/>
        <a:lstStyle/>
        <a:p>
          <a:r>
            <a:rPr lang="en-US">
              <a:solidFill>
                <a:schemeClr val="bg2">
                  <a:lumMod val="90000"/>
                </a:schemeClr>
              </a:solidFill>
            </a:rPr>
            <a:t>Use of routine measure administration to monitor response to treatment, treatment effectiveness, and adjust treatment as needed. </a:t>
          </a:r>
        </a:p>
      </dgm:t>
    </dgm:pt>
    <dgm:pt modelId="{06DF3CEA-49AE-004A-9FE2-4A9604ADE0D1}" type="parTrans" cxnId="{33B7D42A-6FFF-BF4E-B8C2-642C39E02A6B}">
      <dgm:prSet/>
      <dgm:spPr/>
      <dgm:t>
        <a:bodyPr/>
        <a:lstStyle/>
        <a:p>
          <a:endParaRPr lang="en-US"/>
        </a:p>
      </dgm:t>
    </dgm:pt>
    <dgm:pt modelId="{9EB80CF7-8797-2F4A-8DA3-1D91D767A518}" type="sibTrans" cxnId="{33B7D42A-6FFF-BF4E-B8C2-642C39E02A6B}">
      <dgm:prSet/>
      <dgm:spPr/>
      <dgm:t>
        <a:bodyPr/>
        <a:lstStyle/>
        <a:p>
          <a:endParaRPr lang="en-US"/>
        </a:p>
      </dgm:t>
    </dgm:pt>
    <dgm:pt modelId="{2D7D184A-FB3F-E443-AED5-FD85B29397F8}">
      <dgm:prSet/>
      <dgm:spPr/>
      <dgm:t>
        <a:bodyPr/>
        <a:lstStyle/>
        <a:p>
          <a:pPr>
            <a:defRPr b="1"/>
          </a:pPr>
          <a:r>
            <a:rPr lang="en-US">
              <a:latin typeface="+mj-lt"/>
            </a:rPr>
            <a:t>Discharge/ Termination </a:t>
          </a:r>
        </a:p>
      </dgm:t>
    </dgm:pt>
    <dgm:pt modelId="{13933981-D982-EF41-A31D-332BF3A247D4}" type="parTrans" cxnId="{8270CDC8-20B1-324C-A284-B08F1E8E0E8B}">
      <dgm:prSet/>
      <dgm:spPr/>
      <dgm:t>
        <a:bodyPr/>
        <a:lstStyle/>
        <a:p>
          <a:endParaRPr lang="en-US"/>
        </a:p>
      </dgm:t>
    </dgm:pt>
    <dgm:pt modelId="{F83EBB16-C6D6-D041-B1BC-DC17B7A86018}" type="sibTrans" cxnId="{8270CDC8-20B1-324C-A284-B08F1E8E0E8B}">
      <dgm:prSet/>
      <dgm:spPr/>
      <dgm:t>
        <a:bodyPr/>
        <a:lstStyle/>
        <a:p>
          <a:endParaRPr lang="en-US"/>
        </a:p>
      </dgm:t>
    </dgm:pt>
    <dgm:pt modelId="{494FC8DA-D44B-FE49-A631-44DAC4CE745B}">
      <dgm:prSet/>
      <dgm:spPr/>
      <dgm:t>
        <a:bodyPr/>
        <a:lstStyle/>
        <a:p>
          <a:r>
            <a:rPr lang="en-US">
              <a:solidFill>
                <a:schemeClr val="bg2">
                  <a:lumMod val="90000"/>
                </a:schemeClr>
              </a:solidFill>
            </a:rPr>
            <a:t>Use of quantitative data to assist with decision-making relative to readiness for discharge. </a:t>
          </a:r>
        </a:p>
      </dgm:t>
    </dgm:pt>
    <dgm:pt modelId="{F15C96B2-0AA4-F443-8A34-993E59F68C81}" type="parTrans" cxnId="{8CA869CF-7EED-1A4D-9742-B431F00DE7D3}">
      <dgm:prSet/>
      <dgm:spPr/>
      <dgm:t>
        <a:bodyPr/>
        <a:lstStyle/>
        <a:p>
          <a:endParaRPr lang="en-US"/>
        </a:p>
      </dgm:t>
    </dgm:pt>
    <dgm:pt modelId="{71459EDD-FCB7-F741-96A5-5EC94107E4C2}" type="sibTrans" cxnId="{8CA869CF-7EED-1A4D-9742-B431F00DE7D3}">
      <dgm:prSet/>
      <dgm:spPr/>
      <dgm:t>
        <a:bodyPr/>
        <a:lstStyle/>
        <a:p>
          <a:endParaRPr lang="en-US"/>
        </a:p>
      </dgm:t>
    </dgm:pt>
    <dgm:pt modelId="{E1E13116-73DA-B246-8C04-B8F1BC4C47BE}" type="pres">
      <dgm:prSet presAssocID="{4E2FCF49-83DE-6C48-BD46-567565B6541D}" presName="root" presStyleCnt="0">
        <dgm:presLayoutVars>
          <dgm:chMax/>
          <dgm:chPref/>
          <dgm:animLvl val="lvl"/>
        </dgm:presLayoutVars>
      </dgm:prSet>
      <dgm:spPr/>
    </dgm:pt>
    <dgm:pt modelId="{40EF567E-8AAB-A344-8BBB-12398AE57151}" type="pres">
      <dgm:prSet presAssocID="{4E2FCF49-83DE-6C48-BD46-567565B6541D}" presName="divider" presStyleLbl="alignAcc1" presStyleIdx="0" presStyleCnt="1"/>
      <dgm:spPr>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gm:spPr>
    </dgm:pt>
    <dgm:pt modelId="{D1CFE5E2-55F0-1A4E-8DEC-E2ADF97392AB}" type="pres">
      <dgm:prSet presAssocID="{4E2FCF49-83DE-6C48-BD46-567565B6541D}" presName="nodes" presStyleCnt="0">
        <dgm:presLayoutVars>
          <dgm:chMax/>
          <dgm:chPref/>
          <dgm:animLvl val="lvl"/>
        </dgm:presLayoutVars>
      </dgm:prSet>
      <dgm:spPr/>
    </dgm:pt>
    <dgm:pt modelId="{EF4327EF-31CB-1842-B69C-75917A49BB5D}" type="pres">
      <dgm:prSet presAssocID="{57163DCC-B1CC-3C41-B57D-C20AB3BAF29A}" presName="composite" presStyleCnt="0"/>
      <dgm:spPr/>
    </dgm:pt>
    <dgm:pt modelId="{A0C3425F-FEC6-AB4D-884D-271E15A6D051}" type="pres">
      <dgm:prSet presAssocID="{57163DCC-B1CC-3C41-B57D-C20AB3BAF29A}" presName="ConnectorPoint" presStyleLbl="lnNode1" presStyleIdx="0"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14AB47DE-7219-6945-A989-9BFC27E1233F}" type="pres">
      <dgm:prSet presAssocID="{57163DCC-B1CC-3C41-B57D-C20AB3BAF29A}" presName="DropPinPlaceHolder" presStyleCnt="0"/>
      <dgm:spPr/>
    </dgm:pt>
    <dgm:pt modelId="{2B0D3E10-D767-E94C-8D0C-A83254EE4E96}" type="pres">
      <dgm:prSet presAssocID="{57163DCC-B1CC-3C41-B57D-C20AB3BAF29A}" presName="DropPin" presStyleLbl="alignNode1" presStyleIdx="0" presStyleCnt="8"/>
      <dgm:spPr/>
    </dgm:pt>
    <dgm:pt modelId="{5AA0396C-17E5-A644-9FE2-D2B18F635894}" type="pres">
      <dgm:prSet presAssocID="{57163DCC-B1CC-3C41-B57D-C20AB3BAF29A}" presName="Ellipse" presStyleLbl="fgAcc1" presStyleIdx="0" presStyleCnt="4"/>
      <dgm:spPr>
        <a:solidFill>
          <a:schemeClr val="accent1">
            <a:alpha val="90000"/>
            <a:hueOff val="0"/>
            <a:satOff val="0"/>
            <a:lumOff val="0"/>
            <a:alphaOff val="0"/>
          </a:schemeClr>
        </a:solidFill>
        <a:ln w="19050" cap="flat" cmpd="sng" algn="ctr">
          <a:noFill/>
          <a:prstDash val="solid"/>
          <a:miter lim="800000"/>
        </a:ln>
        <a:effectLst/>
      </dgm:spPr>
    </dgm:pt>
    <dgm:pt modelId="{6D5DA738-6B85-8D4A-B177-EA4845A4AE89}" type="pres">
      <dgm:prSet presAssocID="{57163DCC-B1CC-3C41-B57D-C20AB3BAF29A}" presName="L2TextContainer" presStyleLbl="revTx" presStyleIdx="0" presStyleCnt="4">
        <dgm:presLayoutVars>
          <dgm:bulletEnabled val="1"/>
        </dgm:presLayoutVars>
      </dgm:prSet>
      <dgm:spPr/>
    </dgm:pt>
    <dgm:pt modelId="{9F3B607F-F6B3-1145-A876-BFABF96D0635}" type="pres">
      <dgm:prSet presAssocID="{57163DCC-B1CC-3C41-B57D-C20AB3BAF29A}" presName="L1TextContainer" presStyleLbl="alignNode1" presStyleIdx="1" presStyleCnt="8" custLinFactNeighborY="-76021">
        <dgm:presLayoutVars>
          <dgm:chMax val="1"/>
          <dgm:chPref val="1"/>
          <dgm:bulletEnabled val="1"/>
        </dgm:presLayoutVars>
      </dgm:prSet>
      <dgm:spPr/>
    </dgm:pt>
    <dgm:pt modelId="{4D99DB7E-8EC0-1645-B3F6-B65EB6BC321F}" type="pres">
      <dgm:prSet presAssocID="{57163DCC-B1CC-3C41-B57D-C20AB3BAF29A}" presName="ConnectLine" presStyleLbl="sibTrans1D1" presStyleIdx="0" presStyleCnt="4"/>
      <dgm:spPr/>
    </dgm:pt>
    <dgm:pt modelId="{E15547E5-72BB-0149-A658-3914668DB050}" type="pres">
      <dgm:prSet presAssocID="{57163DCC-B1CC-3C41-B57D-C20AB3BAF29A}" presName="EmptyPlaceHolder" presStyleCnt="0"/>
      <dgm:spPr/>
    </dgm:pt>
    <dgm:pt modelId="{2AD8A33A-7836-E240-B282-60E964CAA2E7}" type="pres">
      <dgm:prSet presAssocID="{7A77A1A1-904A-914A-8351-11210F338EE3}" presName="spaceBetweenRectangles" presStyleCnt="0"/>
      <dgm:spPr/>
    </dgm:pt>
    <dgm:pt modelId="{9A16328B-71DF-7C42-AD39-DD2B54E762CA}" type="pres">
      <dgm:prSet presAssocID="{1DC241B1-03AA-1F41-9F97-15C4ADFE3607}" presName="composite" presStyleCnt="0"/>
      <dgm:spPr/>
    </dgm:pt>
    <dgm:pt modelId="{50711626-A0A3-DB4D-B193-4F8E873C6F3D}" type="pres">
      <dgm:prSet presAssocID="{1DC241B1-03AA-1F41-9F97-15C4ADFE3607}" presName="ConnectorPoint" presStyleLbl="lnNode1" presStyleIdx="1"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815F4A7C-F586-CF4B-B9FC-F05D5BF99220}" type="pres">
      <dgm:prSet presAssocID="{1DC241B1-03AA-1F41-9F97-15C4ADFE3607}" presName="DropPinPlaceHolder" presStyleCnt="0"/>
      <dgm:spPr/>
    </dgm:pt>
    <dgm:pt modelId="{3A992B98-2E28-8841-97DC-C609A55156C8}" type="pres">
      <dgm:prSet presAssocID="{1DC241B1-03AA-1F41-9F97-15C4ADFE3607}" presName="DropPin" presStyleLbl="alignNode1" presStyleIdx="2" presStyleCnt="8"/>
      <dgm:spPr/>
    </dgm:pt>
    <dgm:pt modelId="{6A30C4CC-381C-174D-A4E6-5B89B9DE00EC}" type="pres">
      <dgm:prSet presAssocID="{1DC241B1-03AA-1F41-9F97-15C4ADFE3607}" presName="Ellipse" presStyleLbl="fgAcc1" presStyleIdx="1" presStyleCnt="4"/>
      <dgm:spPr>
        <a:solidFill>
          <a:schemeClr val="accent1">
            <a:alpha val="90000"/>
            <a:hueOff val="0"/>
            <a:satOff val="0"/>
            <a:lumOff val="0"/>
            <a:alphaOff val="0"/>
          </a:schemeClr>
        </a:solidFill>
        <a:ln w="19050" cap="flat" cmpd="sng" algn="ctr">
          <a:noFill/>
          <a:prstDash val="solid"/>
          <a:miter lim="800000"/>
        </a:ln>
        <a:effectLst/>
      </dgm:spPr>
    </dgm:pt>
    <dgm:pt modelId="{AEB63C26-EFEC-D548-805D-1F3D298E3A30}" type="pres">
      <dgm:prSet presAssocID="{1DC241B1-03AA-1F41-9F97-15C4ADFE3607}" presName="L2TextContainer" presStyleLbl="revTx" presStyleIdx="1" presStyleCnt="4">
        <dgm:presLayoutVars>
          <dgm:bulletEnabled val="1"/>
        </dgm:presLayoutVars>
      </dgm:prSet>
      <dgm:spPr/>
    </dgm:pt>
    <dgm:pt modelId="{CD07474B-C94A-C740-ABBB-B6BEA8DDC24E}" type="pres">
      <dgm:prSet presAssocID="{1DC241B1-03AA-1F41-9F97-15C4ADFE3607}" presName="L1TextContainer" presStyleLbl="alignNode1" presStyleIdx="3" presStyleCnt="8">
        <dgm:presLayoutVars>
          <dgm:chMax val="1"/>
          <dgm:chPref val="1"/>
          <dgm:bulletEnabled val="1"/>
        </dgm:presLayoutVars>
      </dgm:prSet>
      <dgm:spPr/>
    </dgm:pt>
    <dgm:pt modelId="{EF1B1142-9CEE-4B4A-BF75-89C293CE4C6C}" type="pres">
      <dgm:prSet presAssocID="{1DC241B1-03AA-1F41-9F97-15C4ADFE3607}" presName="ConnectLine" presStyleLbl="sibTrans1D1" presStyleIdx="1" presStyleCnt="4"/>
      <dgm:spPr/>
    </dgm:pt>
    <dgm:pt modelId="{682A4DFC-46EC-1F44-91AE-03D0282962D2}" type="pres">
      <dgm:prSet presAssocID="{1DC241B1-03AA-1F41-9F97-15C4ADFE3607}" presName="EmptyPlaceHolder" presStyleCnt="0"/>
      <dgm:spPr/>
    </dgm:pt>
    <dgm:pt modelId="{1A207E96-FFFE-F644-BC57-F236CE9B9F45}" type="pres">
      <dgm:prSet presAssocID="{F3C872E0-D851-5D45-8008-3C61ED88DF78}" presName="spaceBetweenRectangles" presStyleCnt="0"/>
      <dgm:spPr/>
    </dgm:pt>
    <dgm:pt modelId="{AB8FD7C4-BDD8-BD45-876C-ABD99AED9CDE}" type="pres">
      <dgm:prSet presAssocID="{4C281819-DDC8-6942-B38B-5388A5F09512}" presName="composite" presStyleCnt="0"/>
      <dgm:spPr/>
    </dgm:pt>
    <dgm:pt modelId="{AFB34852-C947-BB41-8B71-95F498B76196}" type="pres">
      <dgm:prSet presAssocID="{4C281819-DDC8-6942-B38B-5388A5F09512}" presName="ConnectorPoint" presStyleLbl="lnNode1" presStyleIdx="2"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37452DA-30D3-DD45-B9A8-9CAB5FA26C05}" type="pres">
      <dgm:prSet presAssocID="{4C281819-DDC8-6942-B38B-5388A5F09512}" presName="DropPinPlaceHolder" presStyleCnt="0"/>
      <dgm:spPr/>
    </dgm:pt>
    <dgm:pt modelId="{E52C9845-DCC9-E74B-BB9F-6878116AEB7B}" type="pres">
      <dgm:prSet presAssocID="{4C281819-DDC8-6942-B38B-5388A5F09512}" presName="DropPin" presStyleLbl="alignNode1" presStyleIdx="4" presStyleCnt="8"/>
      <dgm:spPr/>
    </dgm:pt>
    <dgm:pt modelId="{9E3DB7A5-25E8-D74D-879E-861BC23CFABB}" type="pres">
      <dgm:prSet presAssocID="{4C281819-DDC8-6942-B38B-5388A5F09512}" presName="Ellipse" presStyleLbl="fgAcc1" presStyleIdx="2" presStyleCnt="4"/>
      <dgm:spPr>
        <a:solidFill>
          <a:schemeClr val="accent1">
            <a:alpha val="90000"/>
            <a:hueOff val="0"/>
            <a:satOff val="0"/>
            <a:lumOff val="0"/>
            <a:alphaOff val="0"/>
          </a:schemeClr>
        </a:solidFill>
        <a:ln w="19050" cap="flat" cmpd="sng" algn="ctr">
          <a:noFill/>
          <a:prstDash val="solid"/>
          <a:miter lim="800000"/>
        </a:ln>
        <a:effectLst/>
      </dgm:spPr>
    </dgm:pt>
    <dgm:pt modelId="{55A58305-9E38-3A44-B05B-DB3FA537F307}" type="pres">
      <dgm:prSet presAssocID="{4C281819-DDC8-6942-B38B-5388A5F09512}" presName="L2TextContainer" presStyleLbl="revTx" presStyleIdx="2" presStyleCnt="4">
        <dgm:presLayoutVars>
          <dgm:bulletEnabled val="1"/>
        </dgm:presLayoutVars>
      </dgm:prSet>
      <dgm:spPr/>
    </dgm:pt>
    <dgm:pt modelId="{4D26A799-1893-9A45-B557-D9D744A0110E}" type="pres">
      <dgm:prSet presAssocID="{4C281819-DDC8-6942-B38B-5388A5F09512}" presName="L1TextContainer" presStyleLbl="alignNode1" presStyleIdx="5" presStyleCnt="8" custLinFactNeighborX="-691" custLinFactNeighborY="-76021">
        <dgm:presLayoutVars>
          <dgm:chMax val="1"/>
          <dgm:chPref val="1"/>
          <dgm:bulletEnabled val="1"/>
        </dgm:presLayoutVars>
      </dgm:prSet>
      <dgm:spPr/>
    </dgm:pt>
    <dgm:pt modelId="{24CC84F0-CB49-754B-BA72-B2FD335442DB}" type="pres">
      <dgm:prSet presAssocID="{4C281819-DDC8-6942-B38B-5388A5F09512}" presName="ConnectLine" presStyleLbl="sibTrans1D1" presStyleIdx="2" presStyleCnt="4"/>
      <dgm:spPr/>
    </dgm:pt>
    <dgm:pt modelId="{EA68611B-194E-164E-8440-C1C902FE1AC7}" type="pres">
      <dgm:prSet presAssocID="{4C281819-DDC8-6942-B38B-5388A5F09512}" presName="EmptyPlaceHolder" presStyleCnt="0"/>
      <dgm:spPr/>
    </dgm:pt>
    <dgm:pt modelId="{E98D4ABD-52FD-9A43-BC83-1F70399EF743}" type="pres">
      <dgm:prSet presAssocID="{03B55026-08FB-004A-B74B-E1BE98CADD5A}" presName="spaceBetweenRectangles" presStyleCnt="0"/>
      <dgm:spPr/>
    </dgm:pt>
    <dgm:pt modelId="{33F55604-285C-C647-9146-CA0EBC49159F}" type="pres">
      <dgm:prSet presAssocID="{2D7D184A-FB3F-E443-AED5-FD85B29397F8}" presName="composite" presStyleCnt="0"/>
      <dgm:spPr/>
    </dgm:pt>
    <dgm:pt modelId="{B82CA32B-189F-8C4A-AAC9-2A7742A3DE03}" type="pres">
      <dgm:prSet presAssocID="{2D7D184A-FB3F-E443-AED5-FD85B29397F8}" presName="ConnectorPoint" presStyleLbl="lnNode1" presStyleIdx="3"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5FD125FA-8F8B-7E48-BDBC-43C9C4DC88A7}" type="pres">
      <dgm:prSet presAssocID="{2D7D184A-FB3F-E443-AED5-FD85B29397F8}" presName="DropPinPlaceHolder" presStyleCnt="0"/>
      <dgm:spPr/>
    </dgm:pt>
    <dgm:pt modelId="{74C2A984-C037-3041-A855-3A03D1548B3D}" type="pres">
      <dgm:prSet presAssocID="{2D7D184A-FB3F-E443-AED5-FD85B29397F8}" presName="DropPin" presStyleLbl="alignNode1" presStyleIdx="6" presStyleCnt="8"/>
      <dgm:spPr/>
    </dgm:pt>
    <dgm:pt modelId="{6D981777-406D-9E4D-A7CE-9658D9BBE9A0}" type="pres">
      <dgm:prSet presAssocID="{2D7D184A-FB3F-E443-AED5-FD85B29397F8}" presName="Ellipse" presStyleLbl="fgAcc1" presStyleIdx="3" presStyleCnt="4"/>
      <dgm:spPr>
        <a:solidFill>
          <a:schemeClr val="accent1">
            <a:alpha val="90000"/>
            <a:hueOff val="0"/>
            <a:satOff val="0"/>
            <a:lumOff val="0"/>
            <a:alphaOff val="0"/>
          </a:schemeClr>
        </a:solidFill>
        <a:ln w="19050" cap="flat" cmpd="sng" algn="ctr">
          <a:noFill/>
          <a:prstDash val="solid"/>
          <a:miter lim="800000"/>
        </a:ln>
        <a:effectLst/>
      </dgm:spPr>
    </dgm:pt>
    <dgm:pt modelId="{F1943F07-0AAD-B241-95FC-CC50C0F4E9B6}" type="pres">
      <dgm:prSet presAssocID="{2D7D184A-FB3F-E443-AED5-FD85B29397F8}" presName="L2TextContainer" presStyleLbl="revTx" presStyleIdx="3" presStyleCnt="4">
        <dgm:presLayoutVars>
          <dgm:bulletEnabled val="1"/>
        </dgm:presLayoutVars>
      </dgm:prSet>
      <dgm:spPr/>
    </dgm:pt>
    <dgm:pt modelId="{98878AFB-22BF-D442-8EE3-D2C24BE38BFC}" type="pres">
      <dgm:prSet presAssocID="{2D7D184A-FB3F-E443-AED5-FD85B29397F8}" presName="L1TextContainer" presStyleLbl="alignNode1" presStyleIdx="7" presStyleCnt="8">
        <dgm:presLayoutVars>
          <dgm:chMax val="1"/>
          <dgm:chPref val="1"/>
          <dgm:bulletEnabled val="1"/>
        </dgm:presLayoutVars>
      </dgm:prSet>
      <dgm:spPr/>
    </dgm:pt>
    <dgm:pt modelId="{A6170E9E-48F3-7148-906E-437950507A41}" type="pres">
      <dgm:prSet presAssocID="{2D7D184A-FB3F-E443-AED5-FD85B29397F8}" presName="ConnectLine" presStyleLbl="sibTrans1D1" presStyleIdx="3" presStyleCnt="4"/>
      <dgm:spPr/>
    </dgm:pt>
    <dgm:pt modelId="{C7713650-628B-4448-9E1C-6DB9078DC961}" type="pres">
      <dgm:prSet presAssocID="{2D7D184A-FB3F-E443-AED5-FD85B29397F8}" presName="EmptyPlaceHolder" presStyleCnt="0"/>
      <dgm:spPr/>
    </dgm:pt>
  </dgm:ptLst>
  <dgm:cxnLst>
    <dgm:cxn modelId="{9E43EC02-C52A-2745-AC74-C38C1FC2E6C9}" type="presOf" srcId="{494FC8DA-D44B-FE49-A631-44DAC4CE745B}" destId="{F1943F07-0AAD-B241-95FC-CC50C0F4E9B6}" srcOrd="0" destOrd="0" presId="urn:microsoft.com/office/officeart/2024/3/layout/SimpleTimelineDefaultVariant#1"/>
    <dgm:cxn modelId="{FC13C01A-7A7B-4F4A-86A4-6D3385DF5F72}" srcId="{4E2FCF49-83DE-6C48-BD46-567565B6541D}" destId="{1DC241B1-03AA-1F41-9F97-15C4ADFE3607}" srcOrd="1" destOrd="0" parTransId="{9D1AF8B4-2159-B846-A48B-E56E89851620}" sibTransId="{F3C872E0-D851-5D45-8008-3C61ED88DF78}"/>
    <dgm:cxn modelId="{FC30C12A-D395-0A45-AEA4-E2AD1C23748B}" type="presOf" srcId="{09B6B688-3C8C-FF44-86A9-25A6EF1DD62C}" destId="{AEB63C26-EFEC-D548-805D-1F3D298E3A30}" srcOrd="0" destOrd="0" presId="urn:microsoft.com/office/officeart/2024/3/layout/SimpleTimelineDefaultVariant#1"/>
    <dgm:cxn modelId="{33B7D42A-6FFF-BF4E-B8C2-642C39E02A6B}" srcId="{4C281819-DDC8-6942-B38B-5388A5F09512}" destId="{907D5A9A-78ED-9A43-A03F-6E8FD7F153E7}" srcOrd="0" destOrd="0" parTransId="{06DF3CEA-49AE-004A-9FE2-4A9604ADE0D1}" sibTransId="{9EB80CF7-8797-2F4A-8DA3-1D91D767A518}"/>
    <dgm:cxn modelId="{4D573D42-970F-CB4E-A653-7177E52B9F7D}" type="presOf" srcId="{4C281819-DDC8-6942-B38B-5388A5F09512}" destId="{4D26A799-1893-9A45-B557-D9D744A0110E}" srcOrd="0" destOrd="0" presId="urn:microsoft.com/office/officeart/2024/3/layout/SimpleTimelineDefaultVariant#1"/>
    <dgm:cxn modelId="{7AFD4566-B83B-FB47-BF0E-D1F2F910B78E}" srcId="{4E2FCF49-83DE-6C48-BD46-567565B6541D}" destId="{4C281819-DDC8-6942-B38B-5388A5F09512}" srcOrd="2" destOrd="0" parTransId="{4D55BA2F-E6D4-4844-BACC-CCB7998D8FCD}" sibTransId="{03B55026-08FB-004A-B74B-E1BE98CADD5A}"/>
    <dgm:cxn modelId="{DD10A06E-D2B1-5143-B7C1-B0C460F1D7EB}" type="presOf" srcId="{1DC241B1-03AA-1F41-9F97-15C4ADFE3607}" destId="{CD07474B-C94A-C740-ABBB-B6BEA8DDC24E}" srcOrd="0" destOrd="0" presId="urn:microsoft.com/office/officeart/2024/3/layout/SimpleTimelineDefaultVariant#1"/>
    <dgm:cxn modelId="{A968DB89-9864-6B40-835F-DFDD7C5F7AE5}" type="presOf" srcId="{907D5A9A-78ED-9A43-A03F-6E8FD7F153E7}" destId="{55A58305-9E38-3A44-B05B-DB3FA537F307}" srcOrd="0" destOrd="0" presId="urn:microsoft.com/office/officeart/2024/3/layout/SimpleTimelineDefaultVariant#1"/>
    <dgm:cxn modelId="{2D971E8D-3371-7848-9F5D-849F26620D49}" type="presOf" srcId="{91BF7E50-A8D0-0246-9042-35DE31E6D7F9}" destId="{6D5DA738-6B85-8D4A-B177-EA4845A4AE89}" srcOrd="0" destOrd="0" presId="urn:microsoft.com/office/officeart/2024/3/layout/SimpleTimelineDefaultVariant#1"/>
    <dgm:cxn modelId="{714A85A3-5CC5-2F4A-B794-0621030CDF86}" type="presOf" srcId="{2D7D184A-FB3F-E443-AED5-FD85B29397F8}" destId="{98878AFB-22BF-D442-8EE3-D2C24BE38BFC}" srcOrd="0" destOrd="0" presId="urn:microsoft.com/office/officeart/2024/3/layout/SimpleTimelineDefaultVariant#1"/>
    <dgm:cxn modelId="{9DD192A4-3084-5542-B5B7-99AA806C3AEA}" type="presOf" srcId="{57163DCC-B1CC-3C41-B57D-C20AB3BAF29A}" destId="{9F3B607F-F6B3-1145-A876-BFABF96D0635}" srcOrd="0" destOrd="0" presId="urn:microsoft.com/office/officeart/2024/3/layout/SimpleTimelineDefaultVariant#1"/>
    <dgm:cxn modelId="{E05464B2-107F-FE4C-B336-1CABE487FFFE}" srcId="{4E2FCF49-83DE-6C48-BD46-567565B6541D}" destId="{57163DCC-B1CC-3C41-B57D-C20AB3BAF29A}" srcOrd="0" destOrd="0" parTransId="{E29E203D-287A-CA49-926A-13A2C313DEFD}" sibTransId="{7A77A1A1-904A-914A-8351-11210F338EE3}"/>
    <dgm:cxn modelId="{8270CDC8-20B1-324C-A284-B08F1E8E0E8B}" srcId="{4E2FCF49-83DE-6C48-BD46-567565B6541D}" destId="{2D7D184A-FB3F-E443-AED5-FD85B29397F8}" srcOrd="3" destOrd="0" parTransId="{13933981-D982-EF41-A31D-332BF3A247D4}" sibTransId="{F83EBB16-C6D6-D041-B1BC-DC17B7A86018}"/>
    <dgm:cxn modelId="{3E5C9FCA-52D8-F648-B211-711164F1DB46}" srcId="{1DC241B1-03AA-1F41-9F97-15C4ADFE3607}" destId="{09B6B688-3C8C-FF44-86A9-25A6EF1DD62C}" srcOrd="0" destOrd="0" parTransId="{7F1B5ED0-F979-144F-9A78-F9936BE169A7}" sibTransId="{47BFE565-8D3C-D942-9840-BE1039E9636D}"/>
    <dgm:cxn modelId="{8CA869CF-7EED-1A4D-9742-B431F00DE7D3}" srcId="{2D7D184A-FB3F-E443-AED5-FD85B29397F8}" destId="{494FC8DA-D44B-FE49-A631-44DAC4CE745B}" srcOrd="0" destOrd="0" parTransId="{F15C96B2-0AA4-F443-8A34-993E59F68C81}" sibTransId="{71459EDD-FCB7-F741-96A5-5EC94107E4C2}"/>
    <dgm:cxn modelId="{EAE524D2-D8D5-074D-A613-CB0574C7A914}" srcId="{57163DCC-B1CC-3C41-B57D-C20AB3BAF29A}" destId="{91BF7E50-A8D0-0246-9042-35DE31E6D7F9}" srcOrd="0" destOrd="0" parTransId="{71FE09C3-97F2-E24A-841D-D636BB09094D}" sibTransId="{0A3B38C3-DE3D-F642-BC14-3C5B82BE67EB}"/>
    <dgm:cxn modelId="{3DCB2EFB-090E-A44D-A06B-756F8389C71A}" type="presOf" srcId="{4E2FCF49-83DE-6C48-BD46-567565B6541D}" destId="{E1E13116-73DA-B246-8C04-B8F1BC4C47BE}" srcOrd="0" destOrd="0" presId="urn:microsoft.com/office/officeart/2024/3/layout/SimpleTimelineDefaultVariant#1"/>
    <dgm:cxn modelId="{AA70E3B4-4A1F-A842-968D-70D43484D054}" type="presParOf" srcId="{E1E13116-73DA-B246-8C04-B8F1BC4C47BE}" destId="{40EF567E-8AAB-A344-8BBB-12398AE57151}" srcOrd="0" destOrd="0" presId="urn:microsoft.com/office/officeart/2024/3/layout/SimpleTimelineDefaultVariant#1"/>
    <dgm:cxn modelId="{21108E82-3008-8946-9F41-51680E820A68}" type="presParOf" srcId="{E1E13116-73DA-B246-8C04-B8F1BC4C47BE}" destId="{D1CFE5E2-55F0-1A4E-8DEC-E2ADF97392AB}" srcOrd="1" destOrd="0" presId="urn:microsoft.com/office/officeart/2024/3/layout/SimpleTimelineDefaultVariant#1"/>
    <dgm:cxn modelId="{71A8B8E0-478E-DE4B-A687-00F8AAC4ECB5}" type="presParOf" srcId="{D1CFE5E2-55F0-1A4E-8DEC-E2ADF97392AB}" destId="{EF4327EF-31CB-1842-B69C-75917A49BB5D}" srcOrd="0" destOrd="0" presId="urn:microsoft.com/office/officeart/2024/3/layout/SimpleTimelineDefaultVariant#1"/>
    <dgm:cxn modelId="{68D0803A-F218-714F-A5E7-1C3E8048A542}" type="presParOf" srcId="{EF4327EF-31CB-1842-B69C-75917A49BB5D}" destId="{A0C3425F-FEC6-AB4D-884D-271E15A6D051}" srcOrd="0" destOrd="0" presId="urn:microsoft.com/office/officeart/2024/3/layout/SimpleTimelineDefaultVariant#1"/>
    <dgm:cxn modelId="{DB07E1FF-CF52-0C4A-8EE2-3EAFAA1B5ED8}" type="presParOf" srcId="{EF4327EF-31CB-1842-B69C-75917A49BB5D}" destId="{14AB47DE-7219-6945-A989-9BFC27E1233F}" srcOrd="1" destOrd="0" presId="urn:microsoft.com/office/officeart/2024/3/layout/SimpleTimelineDefaultVariant#1"/>
    <dgm:cxn modelId="{CEB1B045-E678-A040-B310-717E85263558}" type="presParOf" srcId="{14AB47DE-7219-6945-A989-9BFC27E1233F}" destId="{2B0D3E10-D767-E94C-8D0C-A83254EE4E96}" srcOrd="0" destOrd="0" presId="urn:microsoft.com/office/officeart/2024/3/layout/SimpleTimelineDefaultVariant#1"/>
    <dgm:cxn modelId="{314F9029-73CC-1B44-B1AF-476F7D07896F}" type="presParOf" srcId="{14AB47DE-7219-6945-A989-9BFC27E1233F}" destId="{5AA0396C-17E5-A644-9FE2-D2B18F635894}" srcOrd="1" destOrd="0" presId="urn:microsoft.com/office/officeart/2024/3/layout/SimpleTimelineDefaultVariant#1"/>
    <dgm:cxn modelId="{6D75C1BE-2FED-2349-A78A-51D20DC74FA4}" type="presParOf" srcId="{EF4327EF-31CB-1842-B69C-75917A49BB5D}" destId="{6D5DA738-6B85-8D4A-B177-EA4845A4AE89}" srcOrd="2" destOrd="0" presId="urn:microsoft.com/office/officeart/2024/3/layout/SimpleTimelineDefaultVariant#1"/>
    <dgm:cxn modelId="{9F97BA15-278F-FB4A-A3C1-324FFF40971B}" type="presParOf" srcId="{EF4327EF-31CB-1842-B69C-75917A49BB5D}" destId="{9F3B607F-F6B3-1145-A876-BFABF96D0635}" srcOrd="3" destOrd="0" presId="urn:microsoft.com/office/officeart/2024/3/layout/SimpleTimelineDefaultVariant#1"/>
    <dgm:cxn modelId="{8CC1B3D6-2D34-1745-9766-CB02D46674ED}" type="presParOf" srcId="{EF4327EF-31CB-1842-B69C-75917A49BB5D}" destId="{4D99DB7E-8EC0-1645-B3F6-B65EB6BC321F}" srcOrd="4" destOrd="0" presId="urn:microsoft.com/office/officeart/2024/3/layout/SimpleTimelineDefaultVariant#1"/>
    <dgm:cxn modelId="{44684B50-8972-8A4E-93C2-135B1B35510D}" type="presParOf" srcId="{EF4327EF-31CB-1842-B69C-75917A49BB5D}" destId="{E15547E5-72BB-0149-A658-3914668DB050}" srcOrd="5" destOrd="0" presId="urn:microsoft.com/office/officeart/2024/3/layout/SimpleTimelineDefaultVariant#1"/>
    <dgm:cxn modelId="{43BFDCD9-DC62-EB40-9C44-7B6152D4DCF6}" type="presParOf" srcId="{D1CFE5E2-55F0-1A4E-8DEC-E2ADF97392AB}" destId="{2AD8A33A-7836-E240-B282-60E964CAA2E7}" srcOrd="1" destOrd="0" presId="urn:microsoft.com/office/officeart/2024/3/layout/SimpleTimelineDefaultVariant#1"/>
    <dgm:cxn modelId="{5636F26F-35DE-5C48-8FE0-CB8AB590E8A1}" type="presParOf" srcId="{D1CFE5E2-55F0-1A4E-8DEC-E2ADF97392AB}" destId="{9A16328B-71DF-7C42-AD39-DD2B54E762CA}" srcOrd="2" destOrd="0" presId="urn:microsoft.com/office/officeart/2024/3/layout/SimpleTimelineDefaultVariant#1"/>
    <dgm:cxn modelId="{9DB756BF-5C75-044E-B773-526498AD882A}" type="presParOf" srcId="{9A16328B-71DF-7C42-AD39-DD2B54E762CA}" destId="{50711626-A0A3-DB4D-B193-4F8E873C6F3D}" srcOrd="0" destOrd="0" presId="urn:microsoft.com/office/officeart/2024/3/layout/SimpleTimelineDefaultVariant#1"/>
    <dgm:cxn modelId="{9CC7DB19-9412-5449-A224-83E669CDD019}" type="presParOf" srcId="{9A16328B-71DF-7C42-AD39-DD2B54E762CA}" destId="{815F4A7C-F586-CF4B-B9FC-F05D5BF99220}" srcOrd="1" destOrd="0" presId="urn:microsoft.com/office/officeart/2024/3/layout/SimpleTimelineDefaultVariant#1"/>
    <dgm:cxn modelId="{AA58BD1D-805C-B849-92AF-6951A538C658}" type="presParOf" srcId="{815F4A7C-F586-CF4B-B9FC-F05D5BF99220}" destId="{3A992B98-2E28-8841-97DC-C609A55156C8}" srcOrd="0" destOrd="0" presId="urn:microsoft.com/office/officeart/2024/3/layout/SimpleTimelineDefaultVariant#1"/>
    <dgm:cxn modelId="{0A158E0E-638E-1841-932C-07C7009712A2}" type="presParOf" srcId="{815F4A7C-F586-CF4B-B9FC-F05D5BF99220}" destId="{6A30C4CC-381C-174D-A4E6-5B89B9DE00EC}" srcOrd="1" destOrd="0" presId="urn:microsoft.com/office/officeart/2024/3/layout/SimpleTimelineDefaultVariant#1"/>
    <dgm:cxn modelId="{39EC8D95-B3EB-174E-9AB4-7215CF478D3F}" type="presParOf" srcId="{9A16328B-71DF-7C42-AD39-DD2B54E762CA}" destId="{AEB63C26-EFEC-D548-805D-1F3D298E3A30}" srcOrd="2" destOrd="0" presId="urn:microsoft.com/office/officeart/2024/3/layout/SimpleTimelineDefaultVariant#1"/>
    <dgm:cxn modelId="{43CC1844-D004-BC49-8731-B5774A057281}" type="presParOf" srcId="{9A16328B-71DF-7C42-AD39-DD2B54E762CA}" destId="{CD07474B-C94A-C740-ABBB-B6BEA8DDC24E}" srcOrd="3" destOrd="0" presId="urn:microsoft.com/office/officeart/2024/3/layout/SimpleTimelineDefaultVariant#1"/>
    <dgm:cxn modelId="{409C010C-B979-8142-BDA6-CE22A8C12160}" type="presParOf" srcId="{9A16328B-71DF-7C42-AD39-DD2B54E762CA}" destId="{EF1B1142-9CEE-4B4A-BF75-89C293CE4C6C}" srcOrd="4" destOrd="0" presId="urn:microsoft.com/office/officeart/2024/3/layout/SimpleTimelineDefaultVariant#1"/>
    <dgm:cxn modelId="{F16F979C-1A3E-2F44-A59F-B8678FE86181}" type="presParOf" srcId="{9A16328B-71DF-7C42-AD39-DD2B54E762CA}" destId="{682A4DFC-46EC-1F44-91AE-03D0282962D2}" srcOrd="5" destOrd="0" presId="urn:microsoft.com/office/officeart/2024/3/layout/SimpleTimelineDefaultVariant#1"/>
    <dgm:cxn modelId="{8C268706-BD04-A340-BE4F-B9D9CFCB1026}" type="presParOf" srcId="{D1CFE5E2-55F0-1A4E-8DEC-E2ADF97392AB}" destId="{1A207E96-FFFE-F644-BC57-F236CE9B9F45}" srcOrd="3" destOrd="0" presId="urn:microsoft.com/office/officeart/2024/3/layout/SimpleTimelineDefaultVariant#1"/>
    <dgm:cxn modelId="{1F565275-F7B1-8C41-8FD5-81725E71BD12}" type="presParOf" srcId="{D1CFE5E2-55F0-1A4E-8DEC-E2ADF97392AB}" destId="{AB8FD7C4-BDD8-BD45-876C-ABD99AED9CDE}" srcOrd="4" destOrd="0" presId="urn:microsoft.com/office/officeart/2024/3/layout/SimpleTimelineDefaultVariant#1"/>
    <dgm:cxn modelId="{7A759DC2-1421-8A4A-A40D-519C1C65BD73}" type="presParOf" srcId="{AB8FD7C4-BDD8-BD45-876C-ABD99AED9CDE}" destId="{AFB34852-C947-BB41-8B71-95F498B76196}" srcOrd="0" destOrd="0" presId="urn:microsoft.com/office/officeart/2024/3/layout/SimpleTimelineDefaultVariant#1"/>
    <dgm:cxn modelId="{5F5A9222-F08C-344D-974F-B96B678E3588}" type="presParOf" srcId="{AB8FD7C4-BDD8-BD45-876C-ABD99AED9CDE}" destId="{A37452DA-30D3-DD45-B9A8-9CAB5FA26C05}" srcOrd="1" destOrd="0" presId="urn:microsoft.com/office/officeart/2024/3/layout/SimpleTimelineDefaultVariant#1"/>
    <dgm:cxn modelId="{5F33BEC8-2D9E-8342-9C23-75D1739BE7DF}" type="presParOf" srcId="{A37452DA-30D3-DD45-B9A8-9CAB5FA26C05}" destId="{E52C9845-DCC9-E74B-BB9F-6878116AEB7B}" srcOrd="0" destOrd="0" presId="urn:microsoft.com/office/officeart/2024/3/layout/SimpleTimelineDefaultVariant#1"/>
    <dgm:cxn modelId="{D6996B3E-FF22-6A4A-8B6A-F94175581A13}" type="presParOf" srcId="{A37452DA-30D3-DD45-B9A8-9CAB5FA26C05}" destId="{9E3DB7A5-25E8-D74D-879E-861BC23CFABB}" srcOrd="1" destOrd="0" presId="urn:microsoft.com/office/officeart/2024/3/layout/SimpleTimelineDefaultVariant#1"/>
    <dgm:cxn modelId="{91F92CA8-0784-364E-80D2-DDCBF4E7B905}" type="presParOf" srcId="{AB8FD7C4-BDD8-BD45-876C-ABD99AED9CDE}" destId="{55A58305-9E38-3A44-B05B-DB3FA537F307}" srcOrd="2" destOrd="0" presId="urn:microsoft.com/office/officeart/2024/3/layout/SimpleTimelineDefaultVariant#1"/>
    <dgm:cxn modelId="{4549623D-E2B2-5B44-B90F-A30238561497}" type="presParOf" srcId="{AB8FD7C4-BDD8-BD45-876C-ABD99AED9CDE}" destId="{4D26A799-1893-9A45-B557-D9D744A0110E}" srcOrd="3" destOrd="0" presId="urn:microsoft.com/office/officeart/2024/3/layout/SimpleTimelineDefaultVariant#1"/>
    <dgm:cxn modelId="{3792106F-AB66-CD42-981A-D3CAAA1CC58A}" type="presParOf" srcId="{AB8FD7C4-BDD8-BD45-876C-ABD99AED9CDE}" destId="{24CC84F0-CB49-754B-BA72-B2FD335442DB}" srcOrd="4" destOrd="0" presId="urn:microsoft.com/office/officeart/2024/3/layout/SimpleTimelineDefaultVariant#1"/>
    <dgm:cxn modelId="{BC49F9DF-7C5F-874B-9215-3EAE9F90B4E4}" type="presParOf" srcId="{AB8FD7C4-BDD8-BD45-876C-ABD99AED9CDE}" destId="{EA68611B-194E-164E-8440-C1C902FE1AC7}" srcOrd="5" destOrd="0" presId="urn:microsoft.com/office/officeart/2024/3/layout/SimpleTimelineDefaultVariant#1"/>
    <dgm:cxn modelId="{AE337D29-AAA7-E24C-83A7-B83FA9578DE6}" type="presParOf" srcId="{D1CFE5E2-55F0-1A4E-8DEC-E2ADF97392AB}" destId="{E98D4ABD-52FD-9A43-BC83-1F70399EF743}" srcOrd="5" destOrd="0" presId="urn:microsoft.com/office/officeart/2024/3/layout/SimpleTimelineDefaultVariant#1"/>
    <dgm:cxn modelId="{C6DCCFCF-0092-8746-AD4B-C86730B5CF20}" type="presParOf" srcId="{D1CFE5E2-55F0-1A4E-8DEC-E2ADF97392AB}" destId="{33F55604-285C-C647-9146-CA0EBC49159F}" srcOrd="6" destOrd="0" presId="urn:microsoft.com/office/officeart/2024/3/layout/SimpleTimelineDefaultVariant#1"/>
    <dgm:cxn modelId="{2BA84D8A-0BF4-694A-AE36-E91BD0A1339B}" type="presParOf" srcId="{33F55604-285C-C647-9146-CA0EBC49159F}" destId="{B82CA32B-189F-8C4A-AAC9-2A7742A3DE03}" srcOrd="0" destOrd="0" presId="urn:microsoft.com/office/officeart/2024/3/layout/SimpleTimelineDefaultVariant#1"/>
    <dgm:cxn modelId="{146823CC-26B7-1346-B651-49351EFBD21B}" type="presParOf" srcId="{33F55604-285C-C647-9146-CA0EBC49159F}" destId="{5FD125FA-8F8B-7E48-BDBC-43C9C4DC88A7}" srcOrd="1" destOrd="0" presId="urn:microsoft.com/office/officeart/2024/3/layout/SimpleTimelineDefaultVariant#1"/>
    <dgm:cxn modelId="{4678B62A-19A9-634F-B3C9-61193BFF9E0D}" type="presParOf" srcId="{5FD125FA-8F8B-7E48-BDBC-43C9C4DC88A7}" destId="{74C2A984-C037-3041-A855-3A03D1548B3D}" srcOrd="0" destOrd="0" presId="urn:microsoft.com/office/officeart/2024/3/layout/SimpleTimelineDefaultVariant#1"/>
    <dgm:cxn modelId="{331D42F0-BCE8-0B49-B74B-368393280DC0}" type="presParOf" srcId="{5FD125FA-8F8B-7E48-BDBC-43C9C4DC88A7}" destId="{6D981777-406D-9E4D-A7CE-9658D9BBE9A0}" srcOrd="1" destOrd="0" presId="urn:microsoft.com/office/officeart/2024/3/layout/SimpleTimelineDefaultVariant#1"/>
    <dgm:cxn modelId="{4E9C81AD-F269-494A-A9C0-8C712A7FA017}" type="presParOf" srcId="{33F55604-285C-C647-9146-CA0EBC49159F}" destId="{F1943F07-0AAD-B241-95FC-CC50C0F4E9B6}" srcOrd="2" destOrd="0" presId="urn:microsoft.com/office/officeart/2024/3/layout/SimpleTimelineDefaultVariant#1"/>
    <dgm:cxn modelId="{38362555-D789-594F-BBC1-81812328E7DA}" type="presParOf" srcId="{33F55604-285C-C647-9146-CA0EBC49159F}" destId="{98878AFB-22BF-D442-8EE3-D2C24BE38BFC}" srcOrd="3" destOrd="0" presId="urn:microsoft.com/office/officeart/2024/3/layout/SimpleTimelineDefaultVariant#1"/>
    <dgm:cxn modelId="{5C65E14C-4910-BD44-B690-BCB20B4FFE95}" type="presParOf" srcId="{33F55604-285C-C647-9146-CA0EBC49159F}" destId="{A6170E9E-48F3-7148-906E-437950507A41}" srcOrd="4" destOrd="0" presId="urn:microsoft.com/office/officeart/2024/3/layout/SimpleTimelineDefaultVariant#1"/>
    <dgm:cxn modelId="{5F64A0C0-5349-3C46-9418-97301A923EDB}" type="presParOf" srcId="{33F55604-285C-C647-9146-CA0EBC49159F}" destId="{C7713650-628B-4448-9E1C-6DB9078DC961}" srcOrd="5" destOrd="0" presId="urn:microsoft.com/office/officeart/2024/3/layout/SimpleTimelineDefaultVarian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2FCF49-83DE-6C48-BD46-567565B6541D}" type="doc">
      <dgm:prSet loTypeId="urn:microsoft.com/office/officeart/2024/3/layout/SimpleTimelineDefaultVariant#1" loCatId="Timeline" qsTypeId="urn:microsoft.com/office/officeart/2005/8/quickstyle/simple1" qsCatId="simple" csTypeId="urn:microsoft.com/office/officeart/2005/8/colors/SimpleTimelineDefaultColorVariant" csCatId="other" phldr="1"/>
      <dgm:spPr/>
      <dgm:t>
        <a:bodyPr/>
        <a:lstStyle/>
        <a:p>
          <a:endParaRPr lang="en-US"/>
        </a:p>
      </dgm:t>
    </dgm:pt>
    <dgm:pt modelId="{57163DCC-B1CC-3C41-B57D-C20AB3BAF29A}">
      <dgm:prSet/>
      <dgm:spPr/>
      <dgm:t>
        <a:bodyPr/>
        <a:lstStyle/>
        <a:p>
          <a:pPr>
            <a:defRPr b="1"/>
          </a:pPr>
          <a:r>
            <a:rPr lang="en-US">
              <a:latin typeface="+mj-lt"/>
            </a:rPr>
            <a:t>Case Conceptualization</a:t>
          </a:r>
        </a:p>
      </dgm:t>
    </dgm:pt>
    <dgm:pt modelId="{E29E203D-287A-CA49-926A-13A2C313DEFD}" type="parTrans" cxnId="{E05464B2-107F-FE4C-B336-1CABE487FFFE}">
      <dgm:prSet/>
      <dgm:spPr/>
      <dgm:t>
        <a:bodyPr/>
        <a:lstStyle/>
        <a:p>
          <a:endParaRPr lang="en-US"/>
        </a:p>
      </dgm:t>
    </dgm:pt>
    <dgm:pt modelId="{7A77A1A1-904A-914A-8351-11210F338EE3}" type="sibTrans" cxnId="{E05464B2-107F-FE4C-B336-1CABE487FFFE}">
      <dgm:prSet/>
      <dgm:spPr/>
      <dgm:t>
        <a:bodyPr/>
        <a:lstStyle/>
        <a:p>
          <a:endParaRPr lang="en-US"/>
        </a:p>
      </dgm:t>
    </dgm:pt>
    <dgm:pt modelId="{91BF7E50-A8D0-0246-9042-35DE31E6D7F9}">
      <dgm:prSet/>
      <dgm:spPr/>
      <dgm:t>
        <a:bodyPr/>
        <a:lstStyle/>
        <a:p>
          <a:r>
            <a:rPr lang="en-US" b="1"/>
            <a:t>PSC-17 shows elevated attention and internalizing symptoms.</a:t>
          </a:r>
        </a:p>
        <a:p>
          <a:r>
            <a:rPr lang="en-US" b="1"/>
            <a:t>Vanderbilt confirms ADHD, predominately inattentive type.</a:t>
          </a:r>
        </a:p>
        <a:p>
          <a:r>
            <a:rPr lang="en-US" b="1"/>
            <a:t>NQLS shows overall low quality of life.</a:t>
          </a:r>
        </a:p>
      </dgm:t>
    </dgm:pt>
    <dgm:pt modelId="{71FE09C3-97F2-E24A-841D-D636BB09094D}" type="parTrans" cxnId="{EAE524D2-D8D5-074D-A613-CB0574C7A914}">
      <dgm:prSet/>
      <dgm:spPr/>
      <dgm:t>
        <a:bodyPr/>
        <a:lstStyle/>
        <a:p>
          <a:endParaRPr lang="en-US"/>
        </a:p>
      </dgm:t>
    </dgm:pt>
    <dgm:pt modelId="{0A3B38C3-DE3D-F642-BC14-3C5B82BE67EB}" type="sibTrans" cxnId="{EAE524D2-D8D5-074D-A613-CB0574C7A914}">
      <dgm:prSet/>
      <dgm:spPr/>
      <dgm:t>
        <a:bodyPr/>
        <a:lstStyle/>
        <a:p>
          <a:endParaRPr lang="en-US"/>
        </a:p>
      </dgm:t>
    </dgm:pt>
    <dgm:pt modelId="{1DC241B1-03AA-1F41-9F97-15C4ADFE3607}">
      <dgm:prSet/>
      <dgm:spPr/>
      <dgm:t>
        <a:bodyPr/>
        <a:lstStyle/>
        <a:p>
          <a:pPr>
            <a:defRPr b="1"/>
          </a:pPr>
          <a:r>
            <a:rPr lang="en-US">
              <a:latin typeface="+mj-lt"/>
            </a:rPr>
            <a:t>Treatment Planning</a:t>
          </a:r>
        </a:p>
      </dgm:t>
    </dgm:pt>
    <dgm:pt modelId="{9D1AF8B4-2159-B846-A48B-E56E89851620}" type="parTrans" cxnId="{FC13C01A-7A7B-4F4A-86A4-6D3385DF5F72}">
      <dgm:prSet/>
      <dgm:spPr/>
      <dgm:t>
        <a:bodyPr/>
        <a:lstStyle/>
        <a:p>
          <a:endParaRPr lang="en-US"/>
        </a:p>
      </dgm:t>
    </dgm:pt>
    <dgm:pt modelId="{F3C872E0-D851-5D45-8008-3C61ED88DF78}" type="sibTrans" cxnId="{FC13C01A-7A7B-4F4A-86A4-6D3385DF5F72}">
      <dgm:prSet/>
      <dgm:spPr/>
      <dgm:t>
        <a:bodyPr/>
        <a:lstStyle/>
        <a:p>
          <a:endParaRPr lang="en-US"/>
        </a:p>
      </dgm:t>
    </dgm:pt>
    <dgm:pt modelId="{09B6B688-3C8C-FF44-86A9-25A6EF1DD62C}">
      <dgm:prSet/>
      <dgm:spPr/>
      <dgm:t>
        <a:bodyPr/>
        <a:lstStyle/>
        <a:p>
          <a:r>
            <a:rPr lang="en-US" b="1"/>
            <a:t>The family agrees to begin medication management and outpatient therapy.</a:t>
          </a:r>
        </a:p>
        <a:p>
          <a:r>
            <a:rPr lang="en-US" b="1"/>
            <a:t>Vanderbilt and NQLS scores show need to improve school-related satisfaction and performance.</a:t>
          </a:r>
        </a:p>
      </dgm:t>
    </dgm:pt>
    <dgm:pt modelId="{7F1B5ED0-F979-144F-9A78-F9936BE169A7}" type="parTrans" cxnId="{3E5C9FCA-52D8-F648-B211-711164F1DB46}">
      <dgm:prSet/>
      <dgm:spPr/>
      <dgm:t>
        <a:bodyPr/>
        <a:lstStyle/>
        <a:p>
          <a:endParaRPr lang="en-US"/>
        </a:p>
      </dgm:t>
    </dgm:pt>
    <dgm:pt modelId="{47BFE565-8D3C-D942-9840-BE1039E9636D}" type="sibTrans" cxnId="{3E5C9FCA-52D8-F648-B211-711164F1DB46}">
      <dgm:prSet/>
      <dgm:spPr/>
      <dgm:t>
        <a:bodyPr/>
        <a:lstStyle/>
        <a:p>
          <a:endParaRPr lang="en-US"/>
        </a:p>
      </dgm:t>
    </dgm:pt>
    <dgm:pt modelId="{4C281819-DDC8-6942-B38B-5388A5F09512}">
      <dgm:prSet/>
      <dgm:spPr/>
      <dgm:t>
        <a:bodyPr/>
        <a:lstStyle/>
        <a:p>
          <a:pPr>
            <a:defRPr b="1"/>
          </a:pPr>
          <a:r>
            <a:rPr lang="en-US">
              <a:latin typeface="+mj-lt"/>
            </a:rPr>
            <a:t>Progress Monitoring</a:t>
          </a:r>
        </a:p>
      </dgm:t>
    </dgm:pt>
    <dgm:pt modelId="{4D55BA2F-E6D4-4844-BACC-CCB7998D8FCD}" type="parTrans" cxnId="{7AFD4566-B83B-FB47-BF0E-D1F2F910B78E}">
      <dgm:prSet/>
      <dgm:spPr/>
      <dgm:t>
        <a:bodyPr/>
        <a:lstStyle/>
        <a:p>
          <a:endParaRPr lang="en-US"/>
        </a:p>
      </dgm:t>
    </dgm:pt>
    <dgm:pt modelId="{03B55026-08FB-004A-B74B-E1BE98CADD5A}" type="sibTrans" cxnId="{7AFD4566-B83B-FB47-BF0E-D1F2F910B78E}">
      <dgm:prSet/>
      <dgm:spPr/>
      <dgm:t>
        <a:bodyPr/>
        <a:lstStyle/>
        <a:p>
          <a:endParaRPr lang="en-US"/>
        </a:p>
      </dgm:t>
    </dgm:pt>
    <dgm:pt modelId="{907D5A9A-78ED-9A43-A03F-6E8FD7F153E7}">
      <dgm:prSet/>
      <dgm:spPr/>
      <dgm:t>
        <a:bodyPr/>
        <a:lstStyle/>
        <a:p>
          <a:r>
            <a:rPr lang="en-US">
              <a:solidFill>
                <a:schemeClr val="bg2">
                  <a:lumMod val="90000"/>
                </a:schemeClr>
              </a:solidFill>
            </a:rPr>
            <a:t>Use of routine measure administration to monitor response to treatment, treatment effectiveness, and adjust treatment as needed. </a:t>
          </a:r>
        </a:p>
      </dgm:t>
    </dgm:pt>
    <dgm:pt modelId="{06DF3CEA-49AE-004A-9FE2-4A9604ADE0D1}" type="parTrans" cxnId="{33B7D42A-6FFF-BF4E-B8C2-642C39E02A6B}">
      <dgm:prSet/>
      <dgm:spPr/>
      <dgm:t>
        <a:bodyPr/>
        <a:lstStyle/>
        <a:p>
          <a:endParaRPr lang="en-US"/>
        </a:p>
      </dgm:t>
    </dgm:pt>
    <dgm:pt modelId="{9EB80CF7-8797-2F4A-8DA3-1D91D767A518}" type="sibTrans" cxnId="{33B7D42A-6FFF-BF4E-B8C2-642C39E02A6B}">
      <dgm:prSet/>
      <dgm:spPr/>
      <dgm:t>
        <a:bodyPr/>
        <a:lstStyle/>
        <a:p>
          <a:endParaRPr lang="en-US"/>
        </a:p>
      </dgm:t>
    </dgm:pt>
    <dgm:pt modelId="{2D7D184A-FB3F-E443-AED5-FD85B29397F8}">
      <dgm:prSet/>
      <dgm:spPr/>
      <dgm:t>
        <a:bodyPr/>
        <a:lstStyle/>
        <a:p>
          <a:pPr>
            <a:defRPr b="1"/>
          </a:pPr>
          <a:r>
            <a:rPr lang="en-US">
              <a:latin typeface="+mj-lt"/>
            </a:rPr>
            <a:t>Discharge/ Termination </a:t>
          </a:r>
        </a:p>
      </dgm:t>
    </dgm:pt>
    <dgm:pt modelId="{13933981-D982-EF41-A31D-332BF3A247D4}" type="parTrans" cxnId="{8270CDC8-20B1-324C-A284-B08F1E8E0E8B}">
      <dgm:prSet/>
      <dgm:spPr/>
      <dgm:t>
        <a:bodyPr/>
        <a:lstStyle/>
        <a:p>
          <a:endParaRPr lang="en-US"/>
        </a:p>
      </dgm:t>
    </dgm:pt>
    <dgm:pt modelId="{F83EBB16-C6D6-D041-B1BC-DC17B7A86018}" type="sibTrans" cxnId="{8270CDC8-20B1-324C-A284-B08F1E8E0E8B}">
      <dgm:prSet/>
      <dgm:spPr/>
      <dgm:t>
        <a:bodyPr/>
        <a:lstStyle/>
        <a:p>
          <a:endParaRPr lang="en-US"/>
        </a:p>
      </dgm:t>
    </dgm:pt>
    <dgm:pt modelId="{494FC8DA-D44B-FE49-A631-44DAC4CE745B}">
      <dgm:prSet/>
      <dgm:spPr/>
      <dgm:t>
        <a:bodyPr/>
        <a:lstStyle/>
        <a:p>
          <a:r>
            <a:rPr lang="en-US">
              <a:solidFill>
                <a:schemeClr val="bg2">
                  <a:lumMod val="90000"/>
                </a:schemeClr>
              </a:solidFill>
            </a:rPr>
            <a:t>Use of quantitative data to assist with decision-making relative to readiness for discharge. </a:t>
          </a:r>
        </a:p>
      </dgm:t>
    </dgm:pt>
    <dgm:pt modelId="{F15C96B2-0AA4-F443-8A34-993E59F68C81}" type="parTrans" cxnId="{8CA869CF-7EED-1A4D-9742-B431F00DE7D3}">
      <dgm:prSet/>
      <dgm:spPr/>
      <dgm:t>
        <a:bodyPr/>
        <a:lstStyle/>
        <a:p>
          <a:endParaRPr lang="en-US"/>
        </a:p>
      </dgm:t>
    </dgm:pt>
    <dgm:pt modelId="{71459EDD-FCB7-F741-96A5-5EC94107E4C2}" type="sibTrans" cxnId="{8CA869CF-7EED-1A4D-9742-B431F00DE7D3}">
      <dgm:prSet/>
      <dgm:spPr/>
      <dgm:t>
        <a:bodyPr/>
        <a:lstStyle/>
        <a:p>
          <a:endParaRPr lang="en-US"/>
        </a:p>
      </dgm:t>
    </dgm:pt>
    <dgm:pt modelId="{E1E13116-73DA-B246-8C04-B8F1BC4C47BE}" type="pres">
      <dgm:prSet presAssocID="{4E2FCF49-83DE-6C48-BD46-567565B6541D}" presName="root" presStyleCnt="0">
        <dgm:presLayoutVars>
          <dgm:chMax/>
          <dgm:chPref/>
          <dgm:animLvl val="lvl"/>
        </dgm:presLayoutVars>
      </dgm:prSet>
      <dgm:spPr/>
    </dgm:pt>
    <dgm:pt modelId="{40EF567E-8AAB-A344-8BBB-12398AE57151}" type="pres">
      <dgm:prSet presAssocID="{4E2FCF49-83DE-6C48-BD46-567565B6541D}" presName="divider" presStyleLbl="alignAcc1" presStyleIdx="0" presStyleCnt="1"/>
      <dgm:spPr>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gm:spPr>
    </dgm:pt>
    <dgm:pt modelId="{D1CFE5E2-55F0-1A4E-8DEC-E2ADF97392AB}" type="pres">
      <dgm:prSet presAssocID="{4E2FCF49-83DE-6C48-BD46-567565B6541D}" presName="nodes" presStyleCnt="0">
        <dgm:presLayoutVars>
          <dgm:chMax/>
          <dgm:chPref/>
          <dgm:animLvl val="lvl"/>
        </dgm:presLayoutVars>
      </dgm:prSet>
      <dgm:spPr/>
    </dgm:pt>
    <dgm:pt modelId="{EF4327EF-31CB-1842-B69C-75917A49BB5D}" type="pres">
      <dgm:prSet presAssocID="{57163DCC-B1CC-3C41-B57D-C20AB3BAF29A}" presName="composite" presStyleCnt="0"/>
      <dgm:spPr/>
    </dgm:pt>
    <dgm:pt modelId="{A0C3425F-FEC6-AB4D-884D-271E15A6D051}" type="pres">
      <dgm:prSet presAssocID="{57163DCC-B1CC-3C41-B57D-C20AB3BAF29A}" presName="ConnectorPoint" presStyleLbl="lnNode1" presStyleIdx="0"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14AB47DE-7219-6945-A989-9BFC27E1233F}" type="pres">
      <dgm:prSet presAssocID="{57163DCC-B1CC-3C41-B57D-C20AB3BAF29A}" presName="DropPinPlaceHolder" presStyleCnt="0"/>
      <dgm:spPr/>
    </dgm:pt>
    <dgm:pt modelId="{2B0D3E10-D767-E94C-8D0C-A83254EE4E96}" type="pres">
      <dgm:prSet presAssocID="{57163DCC-B1CC-3C41-B57D-C20AB3BAF29A}" presName="DropPin" presStyleLbl="alignNode1" presStyleIdx="0" presStyleCnt="8"/>
      <dgm:spPr/>
    </dgm:pt>
    <dgm:pt modelId="{5AA0396C-17E5-A644-9FE2-D2B18F635894}" type="pres">
      <dgm:prSet presAssocID="{57163DCC-B1CC-3C41-B57D-C20AB3BAF29A}" presName="Ellipse" presStyleLbl="fgAcc1" presStyleIdx="0" presStyleCnt="4"/>
      <dgm:spPr>
        <a:solidFill>
          <a:schemeClr val="accent1">
            <a:alpha val="90000"/>
            <a:hueOff val="0"/>
            <a:satOff val="0"/>
            <a:lumOff val="0"/>
            <a:alphaOff val="0"/>
          </a:schemeClr>
        </a:solidFill>
        <a:ln w="19050" cap="flat" cmpd="sng" algn="ctr">
          <a:noFill/>
          <a:prstDash val="solid"/>
          <a:miter lim="800000"/>
        </a:ln>
        <a:effectLst/>
      </dgm:spPr>
    </dgm:pt>
    <dgm:pt modelId="{6D5DA738-6B85-8D4A-B177-EA4845A4AE89}" type="pres">
      <dgm:prSet presAssocID="{57163DCC-B1CC-3C41-B57D-C20AB3BAF29A}" presName="L2TextContainer" presStyleLbl="revTx" presStyleIdx="0" presStyleCnt="4">
        <dgm:presLayoutVars>
          <dgm:bulletEnabled val="1"/>
        </dgm:presLayoutVars>
      </dgm:prSet>
      <dgm:spPr/>
    </dgm:pt>
    <dgm:pt modelId="{9F3B607F-F6B3-1145-A876-BFABF96D0635}" type="pres">
      <dgm:prSet presAssocID="{57163DCC-B1CC-3C41-B57D-C20AB3BAF29A}" presName="L1TextContainer" presStyleLbl="alignNode1" presStyleIdx="1" presStyleCnt="8" custLinFactNeighborY="-76021">
        <dgm:presLayoutVars>
          <dgm:chMax val="1"/>
          <dgm:chPref val="1"/>
          <dgm:bulletEnabled val="1"/>
        </dgm:presLayoutVars>
      </dgm:prSet>
      <dgm:spPr/>
    </dgm:pt>
    <dgm:pt modelId="{4D99DB7E-8EC0-1645-B3F6-B65EB6BC321F}" type="pres">
      <dgm:prSet presAssocID="{57163DCC-B1CC-3C41-B57D-C20AB3BAF29A}" presName="ConnectLine" presStyleLbl="sibTrans1D1" presStyleIdx="0" presStyleCnt="4"/>
      <dgm:spPr/>
    </dgm:pt>
    <dgm:pt modelId="{E15547E5-72BB-0149-A658-3914668DB050}" type="pres">
      <dgm:prSet presAssocID="{57163DCC-B1CC-3C41-B57D-C20AB3BAF29A}" presName="EmptyPlaceHolder" presStyleCnt="0"/>
      <dgm:spPr/>
    </dgm:pt>
    <dgm:pt modelId="{2AD8A33A-7836-E240-B282-60E964CAA2E7}" type="pres">
      <dgm:prSet presAssocID="{7A77A1A1-904A-914A-8351-11210F338EE3}" presName="spaceBetweenRectangles" presStyleCnt="0"/>
      <dgm:spPr/>
    </dgm:pt>
    <dgm:pt modelId="{9A16328B-71DF-7C42-AD39-DD2B54E762CA}" type="pres">
      <dgm:prSet presAssocID="{1DC241B1-03AA-1F41-9F97-15C4ADFE3607}" presName="composite" presStyleCnt="0"/>
      <dgm:spPr/>
    </dgm:pt>
    <dgm:pt modelId="{50711626-A0A3-DB4D-B193-4F8E873C6F3D}" type="pres">
      <dgm:prSet presAssocID="{1DC241B1-03AA-1F41-9F97-15C4ADFE3607}" presName="ConnectorPoint" presStyleLbl="lnNode1" presStyleIdx="1"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815F4A7C-F586-CF4B-B9FC-F05D5BF99220}" type="pres">
      <dgm:prSet presAssocID="{1DC241B1-03AA-1F41-9F97-15C4ADFE3607}" presName="DropPinPlaceHolder" presStyleCnt="0"/>
      <dgm:spPr/>
    </dgm:pt>
    <dgm:pt modelId="{3A992B98-2E28-8841-97DC-C609A55156C8}" type="pres">
      <dgm:prSet presAssocID="{1DC241B1-03AA-1F41-9F97-15C4ADFE3607}" presName="DropPin" presStyleLbl="alignNode1" presStyleIdx="2" presStyleCnt="8"/>
      <dgm:spPr/>
    </dgm:pt>
    <dgm:pt modelId="{6A30C4CC-381C-174D-A4E6-5B89B9DE00EC}" type="pres">
      <dgm:prSet presAssocID="{1DC241B1-03AA-1F41-9F97-15C4ADFE3607}" presName="Ellipse" presStyleLbl="fgAcc1" presStyleIdx="1" presStyleCnt="4"/>
      <dgm:spPr>
        <a:solidFill>
          <a:schemeClr val="accent1">
            <a:alpha val="90000"/>
            <a:hueOff val="0"/>
            <a:satOff val="0"/>
            <a:lumOff val="0"/>
            <a:alphaOff val="0"/>
          </a:schemeClr>
        </a:solidFill>
        <a:ln w="19050" cap="flat" cmpd="sng" algn="ctr">
          <a:noFill/>
          <a:prstDash val="solid"/>
          <a:miter lim="800000"/>
        </a:ln>
        <a:effectLst/>
      </dgm:spPr>
    </dgm:pt>
    <dgm:pt modelId="{AEB63C26-EFEC-D548-805D-1F3D298E3A30}" type="pres">
      <dgm:prSet presAssocID="{1DC241B1-03AA-1F41-9F97-15C4ADFE3607}" presName="L2TextContainer" presStyleLbl="revTx" presStyleIdx="1" presStyleCnt="4">
        <dgm:presLayoutVars>
          <dgm:bulletEnabled val="1"/>
        </dgm:presLayoutVars>
      </dgm:prSet>
      <dgm:spPr/>
    </dgm:pt>
    <dgm:pt modelId="{CD07474B-C94A-C740-ABBB-B6BEA8DDC24E}" type="pres">
      <dgm:prSet presAssocID="{1DC241B1-03AA-1F41-9F97-15C4ADFE3607}" presName="L1TextContainer" presStyleLbl="alignNode1" presStyleIdx="3" presStyleCnt="8">
        <dgm:presLayoutVars>
          <dgm:chMax val="1"/>
          <dgm:chPref val="1"/>
          <dgm:bulletEnabled val="1"/>
        </dgm:presLayoutVars>
      </dgm:prSet>
      <dgm:spPr/>
    </dgm:pt>
    <dgm:pt modelId="{EF1B1142-9CEE-4B4A-BF75-89C293CE4C6C}" type="pres">
      <dgm:prSet presAssocID="{1DC241B1-03AA-1F41-9F97-15C4ADFE3607}" presName="ConnectLine" presStyleLbl="sibTrans1D1" presStyleIdx="1" presStyleCnt="4"/>
      <dgm:spPr/>
    </dgm:pt>
    <dgm:pt modelId="{682A4DFC-46EC-1F44-91AE-03D0282962D2}" type="pres">
      <dgm:prSet presAssocID="{1DC241B1-03AA-1F41-9F97-15C4ADFE3607}" presName="EmptyPlaceHolder" presStyleCnt="0"/>
      <dgm:spPr/>
    </dgm:pt>
    <dgm:pt modelId="{1A207E96-FFFE-F644-BC57-F236CE9B9F45}" type="pres">
      <dgm:prSet presAssocID="{F3C872E0-D851-5D45-8008-3C61ED88DF78}" presName="spaceBetweenRectangles" presStyleCnt="0"/>
      <dgm:spPr/>
    </dgm:pt>
    <dgm:pt modelId="{AB8FD7C4-BDD8-BD45-876C-ABD99AED9CDE}" type="pres">
      <dgm:prSet presAssocID="{4C281819-DDC8-6942-B38B-5388A5F09512}" presName="composite" presStyleCnt="0"/>
      <dgm:spPr/>
    </dgm:pt>
    <dgm:pt modelId="{AFB34852-C947-BB41-8B71-95F498B76196}" type="pres">
      <dgm:prSet presAssocID="{4C281819-DDC8-6942-B38B-5388A5F09512}" presName="ConnectorPoint" presStyleLbl="lnNode1" presStyleIdx="2"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37452DA-30D3-DD45-B9A8-9CAB5FA26C05}" type="pres">
      <dgm:prSet presAssocID="{4C281819-DDC8-6942-B38B-5388A5F09512}" presName="DropPinPlaceHolder" presStyleCnt="0"/>
      <dgm:spPr/>
    </dgm:pt>
    <dgm:pt modelId="{E52C9845-DCC9-E74B-BB9F-6878116AEB7B}" type="pres">
      <dgm:prSet presAssocID="{4C281819-DDC8-6942-B38B-5388A5F09512}" presName="DropPin" presStyleLbl="alignNode1" presStyleIdx="4" presStyleCnt="8"/>
      <dgm:spPr/>
    </dgm:pt>
    <dgm:pt modelId="{9E3DB7A5-25E8-D74D-879E-861BC23CFABB}" type="pres">
      <dgm:prSet presAssocID="{4C281819-DDC8-6942-B38B-5388A5F09512}" presName="Ellipse" presStyleLbl="fgAcc1" presStyleIdx="2" presStyleCnt="4"/>
      <dgm:spPr>
        <a:solidFill>
          <a:schemeClr val="accent1">
            <a:alpha val="90000"/>
            <a:hueOff val="0"/>
            <a:satOff val="0"/>
            <a:lumOff val="0"/>
            <a:alphaOff val="0"/>
          </a:schemeClr>
        </a:solidFill>
        <a:ln w="19050" cap="flat" cmpd="sng" algn="ctr">
          <a:noFill/>
          <a:prstDash val="solid"/>
          <a:miter lim="800000"/>
        </a:ln>
        <a:effectLst/>
      </dgm:spPr>
    </dgm:pt>
    <dgm:pt modelId="{55A58305-9E38-3A44-B05B-DB3FA537F307}" type="pres">
      <dgm:prSet presAssocID="{4C281819-DDC8-6942-B38B-5388A5F09512}" presName="L2TextContainer" presStyleLbl="revTx" presStyleIdx="2" presStyleCnt="4">
        <dgm:presLayoutVars>
          <dgm:bulletEnabled val="1"/>
        </dgm:presLayoutVars>
      </dgm:prSet>
      <dgm:spPr/>
    </dgm:pt>
    <dgm:pt modelId="{4D26A799-1893-9A45-B557-D9D744A0110E}" type="pres">
      <dgm:prSet presAssocID="{4C281819-DDC8-6942-B38B-5388A5F09512}" presName="L1TextContainer" presStyleLbl="alignNode1" presStyleIdx="5" presStyleCnt="8" custLinFactNeighborX="-691" custLinFactNeighborY="-76021">
        <dgm:presLayoutVars>
          <dgm:chMax val="1"/>
          <dgm:chPref val="1"/>
          <dgm:bulletEnabled val="1"/>
        </dgm:presLayoutVars>
      </dgm:prSet>
      <dgm:spPr/>
    </dgm:pt>
    <dgm:pt modelId="{24CC84F0-CB49-754B-BA72-B2FD335442DB}" type="pres">
      <dgm:prSet presAssocID="{4C281819-DDC8-6942-B38B-5388A5F09512}" presName="ConnectLine" presStyleLbl="sibTrans1D1" presStyleIdx="2" presStyleCnt="4"/>
      <dgm:spPr/>
    </dgm:pt>
    <dgm:pt modelId="{EA68611B-194E-164E-8440-C1C902FE1AC7}" type="pres">
      <dgm:prSet presAssocID="{4C281819-DDC8-6942-B38B-5388A5F09512}" presName="EmptyPlaceHolder" presStyleCnt="0"/>
      <dgm:spPr/>
    </dgm:pt>
    <dgm:pt modelId="{E98D4ABD-52FD-9A43-BC83-1F70399EF743}" type="pres">
      <dgm:prSet presAssocID="{03B55026-08FB-004A-B74B-E1BE98CADD5A}" presName="spaceBetweenRectangles" presStyleCnt="0"/>
      <dgm:spPr/>
    </dgm:pt>
    <dgm:pt modelId="{33F55604-285C-C647-9146-CA0EBC49159F}" type="pres">
      <dgm:prSet presAssocID="{2D7D184A-FB3F-E443-AED5-FD85B29397F8}" presName="composite" presStyleCnt="0"/>
      <dgm:spPr/>
    </dgm:pt>
    <dgm:pt modelId="{B82CA32B-189F-8C4A-AAC9-2A7742A3DE03}" type="pres">
      <dgm:prSet presAssocID="{2D7D184A-FB3F-E443-AED5-FD85B29397F8}" presName="ConnectorPoint" presStyleLbl="lnNode1" presStyleIdx="3"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5FD125FA-8F8B-7E48-BDBC-43C9C4DC88A7}" type="pres">
      <dgm:prSet presAssocID="{2D7D184A-FB3F-E443-AED5-FD85B29397F8}" presName="DropPinPlaceHolder" presStyleCnt="0"/>
      <dgm:spPr/>
    </dgm:pt>
    <dgm:pt modelId="{74C2A984-C037-3041-A855-3A03D1548B3D}" type="pres">
      <dgm:prSet presAssocID="{2D7D184A-FB3F-E443-AED5-FD85B29397F8}" presName="DropPin" presStyleLbl="alignNode1" presStyleIdx="6" presStyleCnt="8"/>
      <dgm:spPr/>
    </dgm:pt>
    <dgm:pt modelId="{6D981777-406D-9E4D-A7CE-9658D9BBE9A0}" type="pres">
      <dgm:prSet presAssocID="{2D7D184A-FB3F-E443-AED5-FD85B29397F8}" presName="Ellipse" presStyleLbl="fgAcc1" presStyleIdx="3" presStyleCnt="4"/>
      <dgm:spPr>
        <a:solidFill>
          <a:schemeClr val="accent1">
            <a:alpha val="90000"/>
            <a:hueOff val="0"/>
            <a:satOff val="0"/>
            <a:lumOff val="0"/>
            <a:alphaOff val="0"/>
          </a:schemeClr>
        </a:solidFill>
        <a:ln w="19050" cap="flat" cmpd="sng" algn="ctr">
          <a:noFill/>
          <a:prstDash val="solid"/>
          <a:miter lim="800000"/>
        </a:ln>
        <a:effectLst/>
      </dgm:spPr>
    </dgm:pt>
    <dgm:pt modelId="{F1943F07-0AAD-B241-95FC-CC50C0F4E9B6}" type="pres">
      <dgm:prSet presAssocID="{2D7D184A-FB3F-E443-AED5-FD85B29397F8}" presName="L2TextContainer" presStyleLbl="revTx" presStyleIdx="3" presStyleCnt="4">
        <dgm:presLayoutVars>
          <dgm:bulletEnabled val="1"/>
        </dgm:presLayoutVars>
      </dgm:prSet>
      <dgm:spPr/>
    </dgm:pt>
    <dgm:pt modelId="{98878AFB-22BF-D442-8EE3-D2C24BE38BFC}" type="pres">
      <dgm:prSet presAssocID="{2D7D184A-FB3F-E443-AED5-FD85B29397F8}" presName="L1TextContainer" presStyleLbl="alignNode1" presStyleIdx="7" presStyleCnt="8">
        <dgm:presLayoutVars>
          <dgm:chMax val="1"/>
          <dgm:chPref val="1"/>
          <dgm:bulletEnabled val="1"/>
        </dgm:presLayoutVars>
      </dgm:prSet>
      <dgm:spPr/>
    </dgm:pt>
    <dgm:pt modelId="{A6170E9E-48F3-7148-906E-437950507A41}" type="pres">
      <dgm:prSet presAssocID="{2D7D184A-FB3F-E443-AED5-FD85B29397F8}" presName="ConnectLine" presStyleLbl="sibTrans1D1" presStyleIdx="3" presStyleCnt="4"/>
      <dgm:spPr/>
    </dgm:pt>
    <dgm:pt modelId="{C7713650-628B-4448-9E1C-6DB9078DC961}" type="pres">
      <dgm:prSet presAssocID="{2D7D184A-FB3F-E443-AED5-FD85B29397F8}" presName="EmptyPlaceHolder" presStyleCnt="0"/>
      <dgm:spPr/>
    </dgm:pt>
  </dgm:ptLst>
  <dgm:cxnLst>
    <dgm:cxn modelId="{9E43EC02-C52A-2745-AC74-C38C1FC2E6C9}" type="presOf" srcId="{494FC8DA-D44B-FE49-A631-44DAC4CE745B}" destId="{F1943F07-0AAD-B241-95FC-CC50C0F4E9B6}" srcOrd="0" destOrd="0" presId="urn:microsoft.com/office/officeart/2024/3/layout/SimpleTimelineDefaultVariant#1"/>
    <dgm:cxn modelId="{FC13C01A-7A7B-4F4A-86A4-6D3385DF5F72}" srcId="{4E2FCF49-83DE-6C48-BD46-567565B6541D}" destId="{1DC241B1-03AA-1F41-9F97-15C4ADFE3607}" srcOrd="1" destOrd="0" parTransId="{9D1AF8B4-2159-B846-A48B-E56E89851620}" sibTransId="{F3C872E0-D851-5D45-8008-3C61ED88DF78}"/>
    <dgm:cxn modelId="{FC30C12A-D395-0A45-AEA4-E2AD1C23748B}" type="presOf" srcId="{09B6B688-3C8C-FF44-86A9-25A6EF1DD62C}" destId="{AEB63C26-EFEC-D548-805D-1F3D298E3A30}" srcOrd="0" destOrd="0" presId="urn:microsoft.com/office/officeart/2024/3/layout/SimpleTimelineDefaultVariant#1"/>
    <dgm:cxn modelId="{33B7D42A-6FFF-BF4E-B8C2-642C39E02A6B}" srcId="{4C281819-DDC8-6942-B38B-5388A5F09512}" destId="{907D5A9A-78ED-9A43-A03F-6E8FD7F153E7}" srcOrd="0" destOrd="0" parTransId="{06DF3CEA-49AE-004A-9FE2-4A9604ADE0D1}" sibTransId="{9EB80CF7-8797-2F4A-8DA3-1D91D767A518}"/>
    <dgm:cxn modelId="{4D573D42-970F-CB4E-A653-7177E52B9F7D}" type="presOf" srcId="{4C281819-DDC8-6942-B38B-5388A5F09512}" destId="{4D26A799-1893-9A45-B557-D9D744A0110E}" srcOrd="0" destOrd="0" presId="urn:microsoft.com/office/officeart/2024/3/layout/SimpleTimelineDefaultVariant#1"/>
    <dgm:cxn modelId="{7AFD4566-B83B-FB47-BF0E-D1F2F910B78E}" srcId="{4E2FCF49-83DE-6C48-BD46-567565B6541D}" destId="{4C281819-DDC8-6942-B38B-5388A5F09512}" srcOrd="2" destOrd="0" parTransId="{4D55BA2F-E6D4-4844-BACC-CCB7998D8FCD}" sibTransId="{03B55026-08FB-004A-B74B-E1BE98CADD5A}"/>
    <dgm:cxn modelId="{DD10A06E-D2B1-5143-B7C1-B0C460F1D7EB}" type="presOf" srcId="{1DC241B1-03AA-1F41-9F97-15C4ADFE3607}" destId="{CD07474B-C94A-C740-ABBB-B6BEA8DDC24E}" srcOrd="0" destOrd="0" presId="urn:microsoft.com/office/officeart/2024/3/layout/SimpleTimelineDefaultVariant#1"/>
    <dgm:cxn modelId="{A968DB89-9864-6B40-835F-DFDD7C5F7AE5}" type="presOf" srcId="{907D5A9A-78ED-9A43-A03F-6E8FD7F153E7}" destId="{55A58305-9E38-3A44-B05B-DB3FA537F307}" srcOrd="0" destOrd="0" presId="urn:microsoft.com/office/officeart/2024/3/layout/SimpleTimelineDefaultVariant#1"/>
    <dgm:cxn modelId="{2D971E8D-3371-7848-9F5D-849F26620D49}" type="presOf" srcId="{91BF7E50-A8D0-0246-9042-35DE31E6D7F9}" destId="{6D5DA738-6B85-8D4A-B177-EA4845A4AE89}" srcOrd="0" destOrd="0" presId="urn:microsoft.com/office/officeart/2024/3/layout/SimpleTimelineDefaultVariant#1"/>
    <dgm:cxn modelId="{714A85A3-5CC5-2F4A-B794-0621030CDF86}" type="presOf" srcId="{2D7D184A-FB3F-E443-AED5-FD85B29397F8}" destId="{98878AFB-22BF-D442-8EE3-D2C24BE38BFC}" srcOrd="0" destOrd="0" presId="urn:microsoft.com/office/officeart/2024/3/layout/SimpleTimelineDefaultVariant#1"/>
    <dgm:cxn modelId="{9DD192A4-3084-5542-B5B7-99AA806C3AEA}" type="presOf" srcId="{57163DCC-B1CC-3C41-B57D-C20AB3BAF29A}" destId="{9F3B607F-F6B3-1145-A876-BFABF96D0635}" srcOrd="0" destOrd="0" presId="urn:microsoft.com/office/officeart/2024/3/layout/SimpleTimelineDefaultVariant#1"/>
    <dgm:cxn modelId="{E05464B2-107F-FE4C-B336-1CABE487FFFE}" srcId="{4E2FCF49-83DE-6C48-BD46-567565B6541D}" destId="{57163DCC-B1CC-3C41-B57D-C20AB3BAF29A}" srcOrd="0" destOrd="0" parTransId="{E29E203D-287A-CA49-926A-13A2C313DEFD}" sibTransId="{7A77A1A1-904A-914A-8351-11210F338EE3}"/>
    <dgm:cxn modelId="{8270CDC8-20B1-324C-A284-B08F1E8E0E8B}" srcId="{4E2FCF49-83DE-6C48-BD46-567565B6541D}" destId="{2D7D184A-FB3F-E443-AED5-FD85B29397F8}" srcOrd="3" destOrd="0" parTransId="{13933981-D982-EF41-A31D-332BF3A247D4}" sibTransId="{F83EBB16-C6D6-D041-B1BC-DC17B7A86018}"/>
    <dgm:cxn modelId="{3E5C9FCA-52D8-F648-B211-711164F1DB46}" srcId="{1DC241B1-03AA-1F41-9F97-15C4ADFE3607}" destId="{09B6B688-3C8C-FF44-86A9-25A6EF1DD62C}" srcOrd="0" destOrd="0" parTransId="{7F1B5ED0-F979-144F-9A78-F9936BE169A7}" sibTransId="{47BFE565-8D3C-D942-9840-BE1039E9636D}"/>
    <dgm:cxn modelId="{8CA869CF-7EED-1A4D-9742-B431F00DE7D3}" srcId="{2D7D184A-FB3F-E443-AED5-FD85B29397F8}" destId="{494FC8DA-D44B-FE49-A631-44DAC4CE745B}" srcOrd="0" destOrd="0" parTransId="{F15C96B2-0AA4-F443-8A34-993E59F68C81}" sibTransId="{71459EDD-FCB7-F741-96A5-5EC94107E4C2}"/>
    <dgm:cxn modelId="{EAE524D2-D8D5-074D-A613-CB0574C7A914}" srcId="{57163DCC-B1CC-3C41-B57D-C20AB3BAF29A}" destId="{91BF7E50-A8D0-0246-9042-35DE31E6D7F9}" srcOrd="0" destOrd="0" parTransId="{71FE09C3-97F2-E24A-841D-D636BB09094D}" sibTransId="{0A3B38C3-DE3D-F642-BC14-3C5B82BE67EB}"/>
    <dgm:cxn modelId="{3DCB2EFB-090E-A44D-A06B-756F8389C71A}" type="presOf" srcId="{4E2FCF49-83DE-6C48-BD46-567565B6541D}" destId="{E1E13116-73DA-B246-8C04-B8F1BC4C47BE}" srcOrd="0" destOrd="0" presId="urn:microsoft.com/office/officeart/2024/3/layout/SimpleTimelineDefaultVariant#1"/>
    <dgm:cxn modelId="{AA70E3B4-4A1F-A842-968D-70D43484D054}" type="presParOf" srcId="{E1E13116-73DA-B246-8C04-B8F1BC4C47BE}" destId="{40EF567E-8AAB-A344-8BBB-12398AE57151}" srcOrd="0" destOrd="0" presId="urn:microsoft.com/office/officeart/2024/3/layout/SimpleTimelineDefaultVariant#1"/>
    <dgm:cxn modelId="{21108E82-3008-8946-9F41-51680E820A68}" type="presParOf" srcId="{E1E13116-73DA-B246-8C04-B8F1BC4C47BE}" destId="{D1CFE5E2-55F0-1A4E-8DEC-E2ADF97392AB}" srcOrd="1" destOrd="0" presId="urn:microsoft.com/office/officeart/2024/3/layout/SimpleTimelineDefaultVariant#1"/>
    <dgm:cxn modelId="{71A8B8E0-478E-DE4B-A687-00F8AAC4ECB5}" type="presParOf" srcId="{D1CFE5E2-55F0-1A4E-8DEC-E2ADF97392AB}" destId="{EF4327EF-31CB-1842-B69C-75917A49BB5D}" srcOrd="0" destOrd="0" presId="urn:microsoft.com/office/officeart/2024/3/layout/SimpleTimelineDefaultVariant#1"/>
    <dgm:cxn modelId="{68D0803A-F218-714F-A5E7-1C3E8048A542}" type="presParOf" srcId="{EF4327EF-31CB-1842-B69C-75917A49BB5D}" destId="{A0C3425F-FEC6-AB4D-884D-271E15A6D051}" srcOrd="0" destOrd="0" presId="urn:microsoft.com/office/officeart/2024/3/layout/SimpleTimelineDefaultVariant#1"/>
    <dgm:cxn modelId="{DB07E1FF-CF52-0C4A-8EE2-3EAFAA1B5ED8}" type="presParOf" srcId="{EF4327EF-31CB-1842-B69C-75917A49BB5D}" destId="{14AB47DE-7219-6945-A989-9BFC27E1233F}" srcOrd="1" destOrd="0" presId="urn:microsoft.com/office/officeart/2024/3/layout/SimpleTimelineDefaultVariant#1"/>
    <dgm:cxn modelId="{CEB1B045-E678-A040-B310-717E85263558}" type="presParOf" srcId="{14AB47DE-7219-6945-A989-9BFC27E1233F}" destId="{2B0D3E10-D767-E94C-8D0C-A83254EE4E96}" srcOrd="0" destOrd="0" presId="urn:microsoft.com/office/officeart/2024/3/layout/SimpleTimelineDefaultVariant#1"/>
    <dgm:cxn modelId="{314F9029-73CC-1B44-B1AF-476F7D07896F}" type="presParOf" srcId="{14AB47DE-7219-6945-A989-9BFC27E1233F}" destId="{5AA0396C-17E5-A644-9FE2-D2B18F635894}" srcOrd="1" destOrd="0" presId="urn:microsoft.com/office/officeart/2024/3/layout/SimpleTimelineDefaultVariant#1"/>
    <dgm:cxn modelId="{6D75C1BE-2FED-2349-A78A-51D20DC74FA4}" type="presParOf" srcId="{EF4327EF-31CB-1842-B69C-75917A49BB5D}" destId="{6D5DA738-6B85-8D4A-B177-EA4845A4AE89}" srcOrd="2" destOrd="0" presId="urn:microsoft.com/office/officeart/2024/3/layout/SimpleTimelineDefaultVariant#1"/>
    <dgm:cxn modelId="{9F97BA15-278F-FB4A-A3C1-324FFF40971B}" type="presParOf" srcId="{EF4327EF-31CB-1842-B69C-75917A49BB5D}" destId="{9F3B607F-F6B3-1145-A876-BFABF96D0635}" srcOrd="3" destOrd="0" presId="urn:microsoft.com/office/officeart/2024/3/layout/SimpleTimelineDefaultVariant#1"/>
    <dgm:cxn modelId="{8CC1B3D6-2D34-1745-9766-CB02D46674ED}" type="presParOf" srcId="{EF4327EF-31CB-1842-B69C-75917A49BB5D}" destId="{4D99DB7E-8EC0-1645-B3F6-B65EB6BC321F}" srcOrd="4" destOrd="0" presId="urn:microsoft.com/office/officeart/2024/3/layout/SimpleTimelineDefaultVariant#1"/>
    <dgm:cxn modelId="{44684B50-8972-8A4E-93C2-135B1B35510D}" type="presParOf" srcId="{EF4327EF-31CB-1842-B69C-75917A49BB5D}" destId="{E15547E5-72BB-0149-A658-3914668DB050}" srcOrd="5" destOrd="0" presId="urn:microsoft.com/office/officeart/2024/3/layout/SimpleTimelineDefaultVariant#1"/>
    <dgm:cxn modelId="{43BFDCD9-DC62-EB40-9C44-7B6152D4DCF6}" type="presParOf" srcId="{D1CFE5E2-55F0-1A4E-8DEC-E2ADF97392AB}" destId="{2AD8A33A-7836-E240-B282-60E964CAA2E7}" srcOrd="1" destOrd="0" presId="urn:microsoft.com/office/officeart/2024/3/layout/SimpleTimelineDefaultVariant#1"/>
    <dgm:cxn modelId="{5636F26F-35DE-5C48-8FE0-CB8AB590E8A1}" type="presParOf" srcId="{D1CFE5E2-55F0-1A4E-8DEC-E2ADF97392AB}" destId="{9A16328B-71DF-7C42-AD39-DD2B54E762CA}" srcOrd="2" destOrd="0" presId="urn:microsoft.com/office/officeart/2024/3/layout/SimpleTimelineDefaultVariant#1"/>
    <dgm:cxn modelId="{9DB756BF-5C75-044E-B773-526498AD882A}" type="presParOf" srcId="{9A16328B-71DF-7C42-AD39-DD2B54E762CA}" destId="{50711626-A0A3-DB4D-B193-4F8E873C6F3D}" srcOrd="0" destOrd="0" presId="urn:microsoft.com/office/officeart/2024/3/layout/SimpleTimelineDefaultVariant#1"/>
    <dgm:cxn modelId="{9CC7DB19-9412-5449-A224-83E669CDD019}" type="presParOf" srcId="{9A16328B-71DF-7C42-AD39-DD2B54E762CA}" destId="{815F4A7C-F586-CF4B-B9FC-F05D5BF99220}" srcOrd="1" destOrd="0" presId="urn:microsoft.com/office/officeart/2024/3/layout/SimpleTimelineDefaultVariant#1"/>
    <dgm:cxn modelId="{AA58BD1D-805C-B849-92AF-6951A538C658}" type="presParOf" srcId="{815F4A7C-F586-CF4B-B9FC-F05D5BF99220}" destId="{3A992B98-2E28-8841-97DC-C609A55156C8}" srcOrd="0" destOrd="0" presId="urn:microsoft.com/office/officeart/2024/3/layout/SimpleTimelineDefaultVariant#1"/>
    <dgm:cxn modelId="{0A158E0E-638E-1841-932C-07C7009712A2}" type="presParOf" srcId="{815F4A7C-F586-CF4B-B9FC-F05D5BF99220}" destId="{6A30C4CC-381C-174D-A4E6-5B89B9DE00EC}" srcOrd="1" destOrd="0" presId="urn:microsoft.com/office/officeart/2024/3/layout/SimpleTimelineDefaultVariant#1"/>
    <dgm:cxn modelId="{39EC8D95-B3EB-174E-9AB4-7215CF478D3F}" type="presParOf" srcId="{9A16328B-71DF-7C42-AD39-DD2B54E762CA}" destId="{AEB63C26-EFEC-D548-805D-1F3D298E3A30}" srcOrd="2" destOrd="0" presId="urn:microsoft.com/office/officeart/2024/3/layout/SimpleTimelineDefaultVariant#1"/>
    <dgm:cxn modelId="{43CC1844-D004-BC49-8731-B5774A057281}" type="presParOf" srcId="{9A16328B-71DF-7C42-AD39-DD2B54E762CA}" destId="{CD07474B-C94A-C740-ABBB-B6BEA8DDC24E}" srcOrd="3" destOrd="0" presId="urn:microsoft.com/office/officeart/2024/3/layout/SimpleTimelineDefaultVariant#1"/>
    <dgm:cxn modelId="{409C010C-B979-8142-BDA6-CE22A8C12160}" type="presParOf" srcId="{9A16328B-71DF-7C42-AD39-DD2B54E762CA}" destId="{EF1B1142-9CEE-4B4A-BF75-89C293CE4C6C}" srcOrd="4" destOrd="0" presId="urn:microsoft.com/office/officeart/2024/3/layout/SimpleTimelineDefaultVariant#1"/>
    <dgm:cxn modelId="{F16F979C-1A3E-2F44-A59F-B8678FE86181}" type="presParOf" srcId="{9A16328B-71DF-7C42-AD39-DD2B54E762CA}" destId="{682A4DFC-46EC-1F44-91AE-03D0282962D2}" srcOrd="5" destOrd="0" presId="urn:microsoft.com/office/officeart/2024/3/layout/SimpleTimelineDefaultVariant#1"/>
    <dgm:cxn modelId="{8C268706-BD04-A340-BE4F-B9D9CFCB1026}" type="presParOf" srcId="{D1CFE5E2-55F0-1A4E-8DEC-E2ADF97392AB}" destId="{1A207E96-FFFE-F644-BC57-F236CE9B9F45}" srcOrd="3" destOrd="0" presId="urn:microsoft.com/office/officeart/2024/3/layout/SimpleTimelineDefaultVariant#1"/>
    <dgm:cxn modelId="{1F565275-F7B1-8C41-8FD5-81725E71BD12}" type="presParOf" srcId="{D1CFE5E2-55F0-1A4E-8DEC-E2ADF97392AB}" destId="{AB8FD7C4-BDD8-BD45-876C-ABD99AED9CDE}" srcOrd="4" destOrd="0" presId="urn:microsoft.com/office/officeart/2024/3/layout/SimpleTimelineDefaultVariant#1"/>
    <dgm:cxn modelId="{7A759DC2-1421-8A4A-A40D-519C1C65BD73}" type="presParOf" srcId="{AB8FD7C4-BDD8-BD45-876C-ABD99AED9CDE}" destId="{AFB34852-C947-BB41-8B71-95F498B76196}" srcOrd="0" destOrd="0" presId="urn:microsoft.com/office/officeart/2024/3/layout/SimpleTimelineDefaultVariant#1"/>
    <dgm:cxn modelId="{5F5A9222-F08C-344D-974F-B96B678E3588}" type="presParOf" srcId="{AB8FD7C4-BDD8-BD45-876C-ABD99AED9CDE}" destId="{A37452DA-30D3-DD45-B9A8-9CAB5FA26C05}" srcOrd="1" destOrd="0" presId="urn:microsoft.com/office/officeart/2024/3/layout/SimpleTimelineDefaultVariant#1"/>
    <dgm:cxn modelId="{5F33BEC8-2D9E-8342-9C23-75D1739BE7DF}" type="presParOf" srcId="{A37452DA-30D3-DD45-B9A8-9CAB5FA26C05}" destId="{E52C9845-DCC9-E74B-BB9F-6878116AEB7B}" srcOrd="0" destOrd="0" presId="urn:microsoft.com/office/officeart/2024/3/layout/SimpleTimelineDefaultVariant#1"/>
    <dgm:cxn modelId="{D6996B3E-FF22-6A4A-8B6A-F94175581A13}" type="presParOf" srcId="{A37452DA-30D3-DD45-B9A8-9CAB5FA26C05}" destId="{9E3DB7A5-25E8-D74D-879E-861BC23CFABB}" srcOrd="1" destOrd="0" presId="urn:microsoft.com/office/officeart/2024/3/layout/SimpleTimelineDefaultVariant#1"/>
    <dgm:cxn modelId="{91F92CA8-0784-364E-80D2-DDCBF4E7B905}" type="presParOf" srcId="{AB8FD7C4-BDD8-BD45-876C-ABD99AED9CDE}" destId="{55A58305-9E38-3A44-B05B-DB3FA537F307}" srcOrd="2" destOrd="0" presId="urn:microsoft.com/office/officeart/2024/3/layout/SimpleTimelineDefaultVariant#1"/>
    <dgm:cxn modelId="{4549623D-E2B2-5B44-B90F-A30238561497}" type="presParOf" srcId="{AB8FD7C4-BDD8-BD45-876C-ABD99AED9CDE}" destId="{4D26A799-1893-9A45-B557-D9D744A0110E}" srcOrd="3" destOrd="0" presId="urn:microsoft.com/office/officeart/2024/3/layout/SimpleTimelineDefaultVariant#1"/>
    <dgm:cxn modelId="{3792106F-AB66-CD42-981A-D3CAAA1CC58A}" type="presParOf" srcId="{AB8FD7C4-BDD8-BD45-876C-ABD99AED9CDE}" destId="{24CC84F0-CB49-754B-BA72-B2FD335442DB}" srcOrd="4" destOrd="0" presId="urn:microsoft.com/office/officeart/2024/3/layout/SimpleTimelineDefaultVariant#1"/>
    <dgm:cxn modelId="{BC49F9DF-7C5F-874B-9215-3EAE9F90B4E4}" type="presParOf" srcId="{AB8FD7C4-BDD8-BD45-876C-ABD99AED9CDE}" destId="{EA68611B-194E-164E-8440-C1C902FE1AC7}" srcOrd="5" destOrd="0" presId="urn:microsoft.com/office/officeart/2024/3/layout/SimpleTimelineDefaultVariant#1"/>
    <dgm:cxn modelId="{AE337D29-AAA7-E24C-83A7-B83FA9578DE6}" type="presParOf" srcId="{D1CFE5E2-55F0-1A4E-8DEC-E2ADF97392AB}" destId="{E98D4ABD-52FD-9A43-BC83-1F70399EF743}" srcOrd="5" destOrd="0" presId="urn:microsoft.com/office/officeart/2024/3/layout/SimpleTimelineDefaultVariant#1"/>
    <dgm:cxn modelId="{C6DCCFCF-0092-8746-AD4B-C86730B5CF20}" type="presParOf" srcId="{D1CFE5E2-55F0-1A4E-8DEC-E2ADF97392AB}" destId="{33F55604-285C-C647-9146-CA0EBC49159F}" srcOrd="6" destOrd="0" presId="urn:microsoft.com/office/officeart/2024/3/layout/SimpleTimelineDefaultVariant#1"/>
    <dgm:cxn modelId="{2BA84D8A-0BF4-694A-AE36-E91BD0A1339B}" type="presParOf" srcId="{33F55604-285C-C647-9146-CA0EBC49159F}" destId="{B82CA32B-189F-8C4A-AAC9-2A7742A3DE03}" srcOrd="0" destOrd="0" presId="urn:microsoft.com/office/officeart/2024/3/layout/SimpleTimelineDefaultVariant#1"/>
    <dgm:cxn modelId="{146823CC-26B7-1346-B651-49351EFBD21B}" type="presParOf" srcId="{33F55604-285C-C647-9146-CA0EBC49159F}" destId="{5FD125FA-8F8B-7E48-BDBC-43C9C4DC88A7}" srcOrd="1" destOrd="0" presId="urn:microsoft.com/office/officeart/2024/3/layout/SimpleTimelineDefaultVariant#1"/>
    <dgm:cxn modelId="{4678B62A-19A9-634F-B3C9-61193BFF9E0D}" type="presParOf" srcId="{5FD125FA-8F8B-7E48-BDBC-43C9C4DC88A7}" destId="{74C2A984-C037-3041-A855-3A03D1548B3D}" srcOrd="0" destOrd="0" presId="urn:microsoft.com/office/officeart/2024/3/layout/SimpleTimelineDefaultVariant#1"/>
    <dgm:cxn modelId="{331D42F0-BCE8-0B49-B74B-368393280DC0}" type="presParOf" srcId="{5FD125FA-8F8B-7E48-BDBC-43C9C4DC88A7}" destId="{6D981777-406D-9E4D-A7CE-9658D9BBE9A0}" srcOrd="1" destOrd="0" presId="urn:microsoft.com/office/officeart/2024/3/layout/SimpleTimelineDefaultVariant#1"/>
    <dgm:cxn modelId="{4E9C81AD-F269-494A-A9C0-8C712A7FA017}" type="presParOf" srcId="{33F55604-285C-C647-9146-CA0EBC49159F}" destId="{F1943F07-0AAD-B241-95FC-CC50C0F4E9B6}" srcOrd="2" destOrd="0" presId="urn:microsoft.com/office/officeart/2024/3/layout/SimpleTimelineDefaultVariant#1"/>
    <dgm:cxn modelId="{38362555-D789-594F-BBC1-81812328E7DA}" type="presParOf" srcId="{33F55604-285C-C647-9146-CA0EBC49159F}" destId="{98878AFB-22BF-D442-8EE3-D2C24BE38BFC}" srcOrd="3" destOrd="0" presId="urn:microsoft.com/office/officeart/2024/3/layout/SimpleTimelineDefaultVariant#1"/>
    <dgm:cxn modelId="{5C65E14C-4910-BD44-B690-BCB20B4FFE95}" type="presParOf" srcId="{33F55604-285C-C647-9146-CA0EBC49159F}" destId="{A6170E9E-48F3-7148-906E-437950507A41}" srcOrd="4" destOrd="0" presId="urn:microsoft.com/office/officeart/2024/3/layout/SimpleTimelineDefaultVariant#1"/>
    <dgm:cxn modelId="{5F64A0C0-5349-3C46-9418-97301A923EDB}" type="presParOf" srcId="{33F55604-285C-C647-9146-CA0EBC49159F}" destId="{C7713650-628B-4448-9E1C-6DB9078DC961}" srcOrd="5" destOrd="0" presId="urn:microsoft.com/office/officeart/2024/3/layout/SimpleTimelineDefaultVarian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E2FCF49-83DE-6C48-BD46-567565B6541D}" type="doc">
      <dgm:prSet loTypeId="urn:microsoft.com/office/officeart/2024/3/layout/SimpleTimelineDefaultVariant#1" loCatId="Timeline" qsTypeId="urn:microsoft.com/office/officeart/2005/8/quickstyle/simple1" qsCatId="simple" csTypeId="urn:microsoft.com/office/officeart/2005/8/colors/SimpleTimelineDefaultColorVariant" csCatId="other" phldr="1"/>
      <dgm:spPr/>
      <dgm:t>
        <a:bodyPr/>
        <a:lstStyle/>
        <a:p>
          <a:endParaRPr lang="en-US"/>
        </a:p>
      </dgm:t>
    </dgm:pt>
    <dgm:pt modelId="{57163DCC-B1CC-3C41-B57D-C20AB3BAF29A}">
      <dgm:prSet/>
      <dgm:spPr/>
      <dgm:t>
        <a:bodyPr/>
        <a:lstStyle/>
        <a:p>
          <a:pPr>
            <a:defRPr b="1"/>
          </a:pPr>
          <a:r>
            <a:rPr lang="en-US">
              <a:latin typeface="+mj-lt"/>
            </a:rPr>
            <a:t>Case Conceptualization</a:t>
          </a:r>
        </a:p>
      </dgm:t>
    </dgm:pt>
    <dgm:pt modelId="{E29E203D-287A-CA49-926A-13A2C313DEFD}" type="parTrans" cxnId="{E05464B2-107F-FE4C-B336-1CABE487FFFE}">
      <dgm:prSet/>
      <dgm:spPr/>
      <dgm:t>
        <a:bodyPr/>
        <a:lstStyle/>
        <a:p>
          <a:endParaRPr lang="en-US"/>
        </a:p>
      </dgm:t>
    </dgm:pt>
    <dgm:pt modelId="{7A77A1A1-904A-914A-8351-11210F338EE3}" type="sibTrans" cxnId="{E05464B2-107F-FE4C-B336-1CABE487FFFE}">
      <dgm:prSet/>
      <dgm:spPr/>
      <dgm:t>
        <a:bodyPr/>
        <a:lstStyle/>
        <a:p>
          <a:endParaRPr lang="en-US"/>
        </a:p>
      </dgm:t>
    </dgm:pt>
    <dgm:pt modelId="{91BF7E50-A8D0-0246-9042-35DE31E6D7F9}">
      <dgm:prSet/>
      <dgm:spPr/>
      <dgm:t>
        <a:bodyPr/>
        <a:lstStyle/>
        <a:p>
          <a:r>
            <a:rPr lang="en-US" b="1"/>
            <a:t>PSC-17 shows elevated attention and internalizing symptoms.</a:t>
          </a:r>
        </a:p>
        <a:p>
          <a:r>
            <a:rPr lang="en-US" b="1"/>
            <a:t>Vanderbilt confirms ADHD, predominately inattentive type.</a:t>
          </a:r>
        </a:p>
        <a:p>
          <a:r>
            <a:rPr lang="en-US" b="1"/>
            <a:t>NQLS shows overall low quality of life.</a:t>
          </a:r>
        </a:p>
      </dgm:t>
    </dgm:pt>
    <dgm:pt modelId="{71FE09C3-97F2-E24A-841D-D636BB09094D}" type="parTrans" cxnId="{EAE524D2-D8D5-074D-A613-CB0574C7A914}">
      <dgm:prSet/>
      <dgm:spPr/>
      <dgm:t>
        <a:bodyPr/>
        <a:lstStyle/>
        <a:p>
          <a:endParaRPr lang="en-US"/>
        </a:p>
      </dgm:t>
    </dgm:pt>
    <dgm:pt modelId="{0A3B38C3-DE3D-F642-BC14-3C5B82BE67EB}" type="sibTrans" cxnId="{EAE524D2-D8D5-074D-A613-CB0574C7A914}">
      <dgm:prSet/>
      <dgm:spPr/>
      <dgm:t>
        <a:bodyPr/>
        <a:lstStyle/>
        <a:p>
          <a:endParaRPr lang="en-US"/>
        </a:p>
      </dgm:t>
    </dgm:pt>
    <dgm:pt modelId="{1DC241B1-03AA-1F41-9F97-15C4ADFE3607}">
      <dgm:prSet/>
      <dgm:spPr/>
      <dgm:t>
        <a:bodyPr/>
        <a:lstStyle/>
        <a:p>
          <a:pPr>
            <a:defRPr b="1"/>
          </a:pPr>
          <a:r>
            <a:rPr lang="en-US">
              <a:latin typeface="+mj-lt"/>
            </a:rPr>
            <a:t>Treatment Planning</a:t>
          </a:r>
        </a:p>
      </dgm:t>
    </dgm:pt>
    <dgm:pt modelId="{9D1AF8B4-2159-B846-A48B-E56E89851620}" type="parTrans" cxnId="{FC13C01A-7A7B-4F4A-86A4-6D3385DF5F72}">
      <dgm:prSet/>
      <dgm:spPr/>
      <dgm:t>
        <a:bodyPr/>
        <a:lstStyle/>
        <a:p>
          <a:endParaRPr lang="en-US"/>
        </a:p>
      </dgm:t>
    </dgm:pt>
    <dgm:pt modelId="{F3C872E0-D851-5D45-8008-3C61ED88DF78}" type="sibTrans" cxnId="{FC13C01A-7A7B-4F4A-86A4-6D3385DF5F72}">
      <dgm:prSet/>
      <dgm:spPr/>
      <dgm:t>
        <a:bodyPr/>
        <a:lstStyle/>
        <a:p>
          <a:endParaRPr lang="en-US"/>
        </a:p>
      </dgm:t>
    </dgm:pt>
    <dgm:pt modelId="{09B6B688-3C8C-FF44-86A9-25A6EF1DD62C}">
      <dgm:prSet/>
      <dgm:spPr/>
      <dgm:t>
        <a:bodyPr/>
        <a:lstStyle/>
        <a:p>
          <a:r>
            <a:rPr lang="en-US" b="1"/>
            <a:t>The family agrees to begin medication management and outpatient therapy.</a:t>
          </a:r>
        </a:p>
        <a:p>
          <a:r>
            <a:rPr lang="en-US" b="1"/>
            <a:t>Vanderbilt and NQLS scores show need to improve school-related satisfaction and performance.</a:t>
          </a:r>
        </a:p>
      </dgm:t>
    </dgm:pt>
    <dgm:pt modelId="{7F1B5ED0-F979-144F-9A78-F9936BE169A7}" type="parTrans" cxnId="{3E5C9FCA-52D8-F648-B211-711164F1DB46}">
      <dgm:prSet/>
      <dgm:spPr/>
      <dgm:t>
        <a:bodyPr/>
        <a:lstStyle/>
        <a:p>
          <a:endParaRPr lang="en-US"/>
        </a:p>
      </dgm:t>
    </dgm:pt>
    <dgm:pt modelId="{47BFE565-8D3C-D942-9840-BE1039E9636D}" type="sibTrans" cxnId="{3E5C9FCA-52D8-F648-B211-711164F1DB46}">
      <dgm:prSet/>
      <dgm:spPr/>
      <dgm:t>
        <a:bodyPr/>
        <a:lstStyle/>
        <a:p>
          <a:endParaRPr lang="en-US"/>
        </a:p>
      </dgm:t>
    </dgm:pt>
    <dgm:pt modelId="{4C281819-DDC8-6942-B38B-5388A5F09512}">
      <dgm:prSet/>
      <dgm:spPr/>
      <dgm:t>
        <a:bodyPr/>
        <a:lstStyle/>
        <a:p>
          <a:pPr>
            <a:defRPr b="1"/>
          </a:pPr>
          <a:r>
            <a:rPr lang="en-US">
              <a:latin typeface="+mj-lt"/>
            </a:rPr>
            <a:t>Progress Monitoring</a:t>
          </a:r>
        </a:p>
      </dgm:t>
    </dgm:pt>
    <dgm:pt modelId="{4D55BA2F-E6D4-4844-BACC-CCB7998D8FCD}" type="parTrans" cxnId="{7AFD4566-B83B-FB47-BF0E-D1F2F910B78E}">
      <dgm:prSet/>
      <dgm:spPr/>
      <dgm:t>
        <a:bodyPr/>
        <a:lstStyle/>
        <a:p>
          <a:endParaRPr lang="en-US"/>
        </a:p>
      </dgm:t>
    </dgm:pt>
    <dgm:pt modelId="{03B55026-08FB-004A-B74B-E1BE98CADD5A}" type="sibTrans" cxnId="{7AFD4566-B83B-FB47-BF0E-D1F2F910B78E}">
      <dgm:prSet/>
      <dgm:spPr/>
      <dgm:t>
        <a:bodyPr/>
        <a:lstStyle/>
        <a:p>
          <a:endParaRPr lang="en-US"/>
        </a:p>
      </dgm:t>
    </dgm:pt>
    <dgm:pt modelId="{907D5A9A-78ED-9A43-A03F-6E8FD7F153E7}">
      <dgm:prSet/>
      <dgm:spPr/>
      <dgm:t>
        <a:bodyPr/>
        <a:lstStyle/>
        <a:p>
          <a:r>
            <a:rPr lang="en-US" b="1">
              <a:solidFill>
                <a:schemeClr val="tx1"/>
              </a:solidFill>
            </a:rPr>
            <a:t>All scores have improved with medication and therapy for 60 days.</a:t>
          </a:r>
        </a:p>
        <a:p>
          <a:r>
            <a:rPr lang="en-US" b="1">
              <a:solidFill>
                <a:schemeClr val="tx1"/>
              </a:solidFill>
            </a:rPr>
            <a:t>Her parents report decreased conflict in the home, and she is showing more signs of independence with schoolwork.</a:t>
          </a:r>
        </a:p>
      </dgm:t>
    </dgm:pt>
    <dgm:pt modelId="{06DF3CEA-49AE-004A-9FE2-4A9604ADE0D1}" type="parTrans" cxnId="{33B7D42A-6FFF-BF4E-B8C2-642C39E02A6B}">
      <dgm:prSet/>
      <dgm:spPr/>
      <dgm:t>
        <a:bodyPr/>
        <a:lstStyle/>
        <a:p>
          <a:endParaRPr lang="en-US"/>
        </a:p>
      </dgm:t>
    </dgm:pt>
    <dgm:pt modelId="{9EB80CF7-8797-2F4A-8DA3-1D91D767A518}" type="sibTrans" cxnId="{33B7D42A-6FFF-BF4E-B8C2-642C39E02A6B}">
      <dgm:prSet/>
      <dgm:spPr/>
      <dgm:t>
        <a:bodyPr/>
        <a:lstStyle/>
        <a:p>
          <a:endParaRPr lang="en-US"/>
        </a:p>
      </dgm:t>
    </dgm:pt>
    <dgm:pt modelId="{2D7D184A-FB3F-E443-AED5-FD85B29397F8}">
      <dgm:prSet/>
      <dgm:spPr/>
      <dgm:t>
        <a:bodyPr/>
        <a:lstStyle/>
        <a:p>
          <a:pPr>
            <a:defRPr b="1"/>
          </a:pPr>
          <a:r>
            <a:rPr lang="en-US">
              <a:latin typeface="+mj-lt"/>
            </a:rPr>
            <a:t>Discharge/ Termination </a:t>
          </a:r>
        </a:p>
      </dgm:t>
    </dgm:pt>
    <dgm:pt modelId="{13933981-D982-EF41-A31D-332BF3A247D4}" type="parTrans" cxnId="{8270CDC8-20B1-324C-A284-B08F1E8E0E8B}">
      <dgm:prSet/>
      <dgm:spPr/>
      <dgm:t>
        <a:bodyPr/>
        <a:lstStyle/>
        <a:p>
          <a:endParaRPr lang="en-US"/>
        </a:p>
      </dgm:t>
    </dgm:pt>
    <dgm:pt modelId="{F83EBB16-C6D6-D041-B1BC-DC17B7A86018}" type="sibTrans" cxnId="{8270CDC8-20B1-324C-A284-B08F1E8E0E8B}">
      <dgm:prSet/>
      <dgm:spPr/>
      <dgm:t>
        <a:bodyPr/>
        <a:lstStyle/>
        <a:p>
          <a:endParaRPr lang="en-US"/>
        </a:p>
      </dgm:t>
    </dgm:pt>
    <dgm:pt modelId="{494FC8DA-D44B-FE49-A631-44DAC4CE745B}">
      <dgm:prSet/>
      <dgm:spPr/>
      <dgm:t>
        <a:bodyPr/>
        <a:lstStyle/>
        <a:p>
          <a:r>
            <a:rPr lang="en-US">
              <a:solidFill>
                <a:schemeClr val="bg2">
                  <a:lumMod val="90000"/>
                </a:schemeClr>
              </a:solidFill>
            </a:rPr>
            <a:t>Use of quantitative data to assist with decision-making relative to readiness for discharge. </a:t>
          </a:r>
        </a:p>
      </dgm:t>
    </dgm:pt>
    <dgm:pt modelId="{F15C96B2-0AA4-F443-8A34-993E59F68C81}" type="parTrans" cxnId="{8CA869CF-7EED-1A4D-9742-B431F00DE7D3}">
      <dgm:prSet/>
      <dgm:spPr/>
      <dgm:t>
        <a:bodyPr/>
        <a:lstStyle/>
        <a:p>
          <a:endParaRPr lang="en-US"/>
        </a:p>
      </dgm:t>
    </dgm:pt>
    <dgm:pt modelId="{71459EDD-FCB7-F741-96A5-5EC94107E4C2}" type="sibTrans" cxnId="{8CA869CF-7EED-1A4D-9742-B431F00DE7D3}">
      <dgm:prSet/>
      <dgm:spPr/>
      <dgm:t>
        <a:bodyPr/>
        <a:lstStyle/>
        <a:p>
          <a:endParaRPr lang="en-US"/>
        </a:p>
      </dgm:t>
    </dgm:pt>
    <dgm:pt modelId="{E1E13116-73DA-B246-8C04-B8F1BC4C47BE}" type="pres">
      <dgm:prSet presAssocID="{4E2FCF49-83DE-6C48-BD46-567565B6541D}" presName="root" presStyleCnt="0">
        <dgm:presLayoutVars>
          <dgm:chMax/>
          <dgm:chPref/>
          <dgm:animLvl val="lvl"/>
        </dgm:presLayoutVars>
      </dgm:prSet>
      <dgm:spPr/>
    </dgm:pt>
    <dgm:pt modelId="{40EF567E-8AAB-A344-8BBB-12398AE57151}" type="pres">
      <dgm:prSet presAssocID="{4E2FCF49-83DE-6C48-BD46-567565B6541D}" presName="divider" presStyleLbl="alignAcc1" presStyleIdx="0" presStyleCnt="1"/>
      <dgm:spPr>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gm:spPr>
    </dgm:pt>
    <dgm:pt modelId="{D1CFE5E2-55F0-1A4E-8DEC-E2ADF97392AB}" type="pres">
      <dgm:prSet presAssocID="{4E2FCF49-83DE-6C48-BD46-567565B6541D}" presName="nodes" presStyleCnt="0">
        <dgm:presLayoutVars>
          <dgm:chMax/>
          <dgm:chPref/>
          <dgm:animLvl val="lvl"/>
        </dgm:presLayoutVars>
      </dgm:prSet>
      <dgm:spPr/>
    </dgm:pt>
    <dgm:pt modelId="{EF4327EF-31CB-1842-B69C-75917A49BB5D}" type="pres">
      <dgm:prSet presAssocID="{57163DCC-B1CC-3C41-B57D-C20AB3BAF29A}" presName="composite" presStyleCnt="0"/>
      <dgm:spPr/>
    </dgm:pt>
    <dgm:pt modelId="{A0C3425F-FEC6-AB4D-884D-271E15A6D051}" type="pres">
      <dgm:prSet presAssocID="{57163DCC-B1CC-3C41-B57D-C20AB3BAF29A}" presName="ConnectorPoint" presStyleLbl="lnNode1" presStyleIdx="0"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14AB47DE-7219-6945-A989-9BFC27E1233F}" type="pres">
      <dgm:prSet presAssocID="{57163DCC-B1CC-3C41-B57D-C20AB3BAF29A}" presName="DropPinPlaceHolder" presStyleCnt="0"/>
      <dgm:spPr/>
    </dgm:pt>
    <dgm:pt modelId="{2B0D3E10-D767-E94C-8D0C-A83254EE4E96}" type="pres">
      <dgm:prSet presAssocID="{57163DCC-B1CC-3C41-B57D-C20AB3BAF29A}" presName="DropPin" presStyleLbl="alignNode1" presStyleIdx="0" presStyleCnt="8"/>
      <dgm:spPr/>
    </dgm:pt>
    <dgm:pt modelId="{5AA0396C-17E5-A644-9FE2-D2B18F635894}" type="pres">
      <dgm:prSet presAssocID="{57163DCC-B1CC-3C41-B57D-C20AB3BAF29A}" presName="Ellipse" presStyleLbl="fgAcc1" presStyleIdx="0" presStyleCnt="4"/>
      <dgm:spPr>
        <a:solidFill>
          <a:schemeClr val="accent1">
            <a:alpha val="90000"/>
            <a:hueOff val="0"/>
            <a:satOff val="0"/>
            <a:lumOff val="0"/>
            <a:alphaOff val="0"/>
          </a:schemeClr>
        </a:solidFill>
        <a:ln w="19050" cap="flat" cmpd="sng" algn="ctr">
          <a:noFill/>
          <a:prstDash val="solid"/>
          <a:miter lim="800000"/>
        </a:ln>
        <a:effectLst/>
      </dgm:spPr>
    </dgm:pt>
    <dgm:pt modelId="{6D5DA738-6B85-8D4A-B177-EA4845A4AE89}" type="pres">
      <dgm:prSet presAssocID="{57163DCC-B1CC-3C41-B57D-C20AB3BAF29A}" presName="L2TextContainer" presStyleLbl="revTx" presStyleIdx="0" presStyleCnt="4">
        <dgm:presLayoutVars>
          <dgm:bulletEnabled val="1"/>
        </dgm:presLayoutVars>
      </dgm:prSet>
      <dgm:spPr/>
    </dgm:pt>
    <dgm:pt modelId="{9F3B607F-F6B3-1145-A876-BFABF96D0635}" type="pres">
      <dgm:prSet presAssocID="{57163DCC-B1CC-3C41-B57D-C20AB3BAF29A}" presName="L1TextContainer" presStyleLbl="alignNode1" presStyleIdx="1" presStyleCnt="8" custLinFactNeighborY="-76021">
        <dgm:presLayoutVars>
          <dgm:chMax val="1"/>
          <dgm:chPref val="1"/>
          <dgm:bulletEnabled val="1"/>
        </dgm:presLayoutVars>
      </dgm:prSet>
      <dgm:spPr/>
    </dgm:pt>
    <dgm:pt modelId="{4D99DB7E-8EC0-1645-B3F6-B65EB6BC321F}" type="pres">
      <dgm:prSet presAssocID="{57163DCC-B1CC-3C41-B57D-C20AB3BAF29A}" presName="ConnectLine" presStyleLbl="sibTrans1D1" presStyleIdx="0" presStyleCnt="4"/>
      <dgm:spPr/>
    </dgm:pt>
    <dgm:pt modelId="{E15547E5-72BB-0149-A658-3914668DB050}" type="pres">
      <dgm:prSet presAssocID="{57163DCC-B1CC-3C41-B57D-C20AB3BAF29A}" presName="EmptyPlaceHolder" presStyleCnt="0"/>
      <dgm:spPr/>
    </dgm:pt>
    <dgm:pt modelId="{2AD8A33A-7836-E240-B282-60E964CAA2E7}" type="pres">
      <dgm:prSet presAssocID="{7A77A1A1-904A-914A-8351-11210F338EE3}" presName="spaceBetweenRectangles" presStyleCnt="0"/>
      <dgm:spPr/>
    </dgm:pt>
    <dgm:pt modelId="{9A16328B-71DF-7C42-AD39-DD2B54E762CA}" type="pres">
      <dgm:prSet presAssocID="{1DC241B1-03AA-1F41-9F97-15C4ADFE3607}" presName="composite" presStyleCnt="0"/>
      <dgm:spPr/>
    </dgm:pt>
    <dgm:pt modelId="{50711626-A0A3-DB4D-B193-4F8E873C6F3D}" type="pres">
      <dgm:prSet presAssocID="{1DC241B1-03AA-1F41-9F97-15C4ADFE3607}" presName="ConnectorPoint" presStyleLbl="lnNode1" presStyleIdx="1"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815F4A7C-F586-CF4B-B9FC-F05D5BF99220}" type="pres">
      <dgm:prSet presAssocID="{1DC241B1-03AA-1F41-9F97-15C4ADFE3607}" presName="DropPinPlaceHolder" presStyleCnt="0"/>
      <dgm:spPr/>
    </dgm:pt>
    <dgm:pt modelId="{3A992B98-2E28-8841-97DC-C609A55156C8}" type="pres">
      <dgm:prSet presAssocID="{1DC241B1-03AA-1F41-9F97-15C4ADFE3607}" presName="DropPin" presStyleLbl="alignNode1" presStyleIdx="2" presStyleCnt="8"/>
      <dgm:spPr/>
    </dgm:pt>
    <dgm:pt modelId="{6A30C4CC-381C-174D-A4E6-5B89B9DE00EC}" type="pres">
      <dgm:prSet presAssocID="{1DC241B1-03AA-1F41-9F97-15C4ADFE3607}" presName="Ellipse" presStyleLbl="fgAcc1" presStyleIdx="1" presStyleCnt="4"/>
      <dgm:spPr>
        <a:solidFill>
          <a:schemeClr val="accent1">
            <a:alpha val="90000"/>
            <a:hueOff val="0"/>
            <a:satOff val="0"/>
            <a:lumOff val="0"/>
            <a:alphaOff val="0"/>
          </a:schemeClr>
        </a:solidFill>
        <a:ln w="19050" cap="flat" cmpd="sng" algn="ctr">
          <a:noFill/>
          <a:prstDash val="solid"/>
          <a:miter lim="800000"/>
        </a:ln>
        <a:effectLst/>
      </dgm:spPr>
    </dgm:pt>
    <dgm:pt modelId="{AEB63C26-EFEC-D548-805D-1F3D298E3A30}" type="pres">
      <dgm:prSet presAssocID="{1DC241B1-03AA-1F41-9F97-15C4ADFE3607}" presName="L2TextContainer" presStyleLbl="revTx" presStyleIdx="1" presStyleCnt="4">
        <dgm:presLayoutVars>
          <dgm:bulletEnabled val="1"/>
        </dgm:presLayoutVars>
      </dgm:prSet>
      <dgm:spPr/>
    </dgm:pt>
    <dgm:pt modelId="{CD07474B-C94A-C740-ABBB-B6BEA8DDC24E}" type="pres">
      <dgm:prSet presAssocID="{1DC241B1-03AA-1F41-9F97-15C4ADFE3607}" presName="L1TextContainer" presStyleLbl="alignNode1" presStyleIdx="3" presStyleCnt="8">
        <dgm:presLayoutVars>
          <dgm:chMax val="1"/>
          <dgm:chPref val="1"/>
          <dgm:bulletEnabled val="1"/>
        </dgm:presLayoutVars>
      </dgm:prSet>
      <dgm:spPr/>
    </dgm:pt>
    <dgm:pt modelId="{EF1B1142-9CEE-4B4A-BF75-89C293CE4C6C}" type="pres">
      <dgm:prSet presAssocID="{1DC241B1-03AA-1F41-9F97-15C4ADFE3607}" presName="ConnectLine" presStyleLbl="sibTrans1D1" presStyleIdx="1" presStyleCnt="4"/>
      <dgm:spPr/>
    </dgm:pt>
    <dgm:pt modelId="{682A4DFC-46EC-1F44-91AE-03D0282962D2}" type="pres">
      <dgm:prSet presAssocID="{1DC241B1-03AA-1F41-9F97-15C4ADFE3607}" presName="EmptyPlaceHolder" presStyleCnt="0"/>
      <dgm:spPr/>
    </dgm:pt>
    <dgm:pt modelId="{1A207E96-FFFE-F644-BC57-F236CE9B9F45}" type="pres">
      <dgm:prSet presAssocID="{F3C872E0-D851-5D45-8008-3C61ED88DF78}" presName="spaceBetweenRectangles" presStyleCnt="0"/>
      <dgm:spPr/>
    </dgm:pt>
    <dgm:pt modelId="{AB8FD7C4-BDD8-BD45-876C-ABD99AED9CDE}" type="pres">
      <dgm:prSet presAssocID="{4C281819-DDC8-6942-B38B-5388A5F09512}" presName="composite" presStyleCnt="0"/>
      <dgm:spPr/>
    </dgm:pt>
    <dgm:pt modelId="{AFB34852-C947-BB41-8B71-95F498B76196}" type="pres">
      <dgm:prSet presAssocID="{4C281819-DDC8-6942-B38B-5388A5F09512}" presName="ConnectorPoint" presStyleLbl="lnNode1" presStyleIdx="2"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37452DA-30D3-DD45-B9A8-9CAB5FA26C05}" type="pres">
      <dgm:prSet presAssocID="{4C281819-DDC8-6942-B38B-5388A5F09512}" presName="DropPinPlaceHolder" presStyleCnt="0"/>
      <dgm:spPr/>
    </dgm:pt>
    <dgm:pt modelId="{E52C9845-DCC9-E74B-BB9F-6878116AEB7B}" type="pres">
      <dgm:prSet presAssocID="{4C281819-DDC8-6942-B38B-5388A5F09512}" presName="DropPin" presStyleLbl="alignNode1" presStyleIdx="4" presStyleCnt="8"/>
      <dgm:spPr/>
    </dgm:pt>
    <dgm:pt modelId="{9E3DB7A5-25E8-D74D-879E-861BC23CFABB}" type="pres">
      <dgm:prSet presAssocID="{4C281819-DDC8-6942-B38B-5388A5F09512}" presName="Ellipse" presStyleLbl="fgAcc1" presStyleIdx="2" presStyleCnt="4"/>
      <dgm:spPr>
        <a:solidFill>
          <a:schemeClr val="accent1">
            <a:alpha val="90000"/>
            <a:hueOff val="0"/>
            <a:satOff val="0"/>
            <a:lumOff val="0"/>
            <a:alphaOff val="0"/>
          </a:schemeClr>
        </a:solidFill>
        <a:ln w="19050" cap="flat" cmpd="sng" algn="ctr">
          <a:noFill/>
          <a:prstDash val="solid"/>
          <a:miter lim="800000"/>
        </a:ln>
        <a:effectLst/>
      </dgm:spPr>
    </dgm:pt>
    <dgm:pt modelId="{55A58305-9E38-3A44-B05B-DB3FA537F307}" type="pres">
      <dgm:prSet presAssocID="{4C281819-DDC8-6942-B38B-5388A5F09512}" presName="L2TextContainer" presStyleLbl="revTx" presStyleIdx="2" presStyleCnt="4">
        <dgm:presLayoutVars>
          <dgm:bulletEnabled val="1"/>
        </dgm:presLayoutVars>
      </dgm:prSet>
      <dgm:spPr/>
    </dgm:pt>
    <dgm:pt modelId="{4D26A799-1893-9A45-B557-D9D744A0110E}" type="pres">
      <dgm:prSet presAssocID="{4C281819-DDC8-6942-B38B-5388A5F09512}" presName="L1TextContainer" presStyleLbl="alignNode1" presStyleIdx="5" presStyleCnt="8" custLinFactNeighborX="-691" custLinFactNeighborY="-76021">
        <dgm:presLayoutVars>
          <dgm:chMax val="1"/>
          <dgm:chPref val="1"/>
          <dgm:bulletEnabled val="1"/>
        </dgm:presLayoutVars>
      </dgm:prSet>
      <dgm:spPr/>
    </dgm:pt>
    <dgm:pt modelId="{24CC84F0-CB49-754B-BA72-B2FD335442DB}" type="pres">
      <dgm:prSet presAssocID="{4C281819-DDC8-6942-B38B-5388A5F09512}" presName="ConnectLine" presStyleLbl="sibTrans1D1" presStyleIdx="2" presStyleCnt="4"/>
      <dgm:spPr/>
    </dgm:pt>
    <dgm:pt modelId="{EA68611B-194E-164E-8440-C1C902FE1AC7}" type="pres">
      <dgm:prSet presAssocID="{4C281819-DDC8-6942-B38B-5388A5F09512}" presName="EmptyPlaceHolder" presStyleCnt="0"/>
      <dgm:spPr/>
    </dgm:pt>
    <dgm:pt modelId="{E98D4ABD-52FD-9A43-BC83-1F70399EF743}" type="pres">
      <dgm:prSet presAssocID="{03B55026-08FB-004A-B74B-E1BE98CADD5A}" presName="spaceBetweenRectangles" presStyleCnt="0"/>
      <dgm:spPr/>
    </dgm:pt>
    <dgm:pt modelId="{33F55604-285C-C647-9146-CA0EBC49159F}" type="pres">
      <dgm:prSet presAssocID="{2D7D184A-FB3F-E443-AED5-FD85B29397F8}" presName="composite" presStyleCnt="0"/>
      <dgm:spPr/>
    </dgm:pt>
    <dgm:pt modelId="{B82CA32B-189F-8C4A-AAC9-2A7742A3DE03}" type="pres">
      <dgm:prSet presAssocID="{2D7D184A-FB3F-E443-AED5-FD85B29397F8}" presName="ConnectorPoint" presStyleLbl="lnNode1" presStyleIdx="3"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5FD125FA-8F8B-7E48-BDBC-43C9C4DC88A7}" type="pres">
      <dgm:prSet presAssocID="{2D7D184A-FB3F-E443-AED5-FD85B29397F8}" presName="DropPinPlaceHolder" presStyleCnt="0"/>
      <dgm:spPr/>
    </dgm:pt>
    <dgm:pt modelId="{74C2A984-C037-3041-A855-3A03D1548B3D}" type="pres">
      <dgm:prSet presAssocID="{2D7D184A-FB3F-E443-AED5-FD85B29397F8}" presName="DropPin" presStyleLbl="alignNode1" presStyleIdx="6" presStyleCnt="8"/>
      <dgm:spPr/>
    </dgm:pt>
    <dgm:pt modelId="{6D981777-406D-9E4D-A7CE-9658D9BBE9A0}" type="pres">
      <dgm:prSet presAssocID="{2D7D184A-FB3F-E443-AED5-FD85B29397F8}" presName="Ellipse" presStyleLbl="fgAcc1" presStyleIdx="3" presStyleCnt="4"/>
      <dgm:spPr>
        <a:solidFill>
          <a:schemeClr val="accent1">
            <a:alpha val="90000"/>
            <a:hueOff val="0"/>
            <a:satOff val="0"/>
            <a:lumOff val="0"/>
            <a:alphaOff val="0"/>
          </a:schemeClr>
        </a:solidFill>
        <a:ln w="19050" cap="flat" cmpd="sng" algn="ctr">
          <a:noFill/>
          <a:prstDash val="solid"/>
          <a:miter lim="800000"/>
        </a:ln>
        <a:effectLst/>
      </dgm:spPr>
    </dgm:pt>
    <dgm:pt modelId="{F1943F07-0AAD-B241-95FC-CC50C0F4E9B6}" type="pres">
      <dgm:prSet presAssocID="{2D7D184A-FB3F-E443-AED5-FD85B29397F8}" presName="L2TextContainer" presStyleLbl="revTx" presStyleIdx="3" presStyleCnt="4">
        <dgm:presLayoutVars>
          <dgm:bulletEnabled val="1"/>
        </dgm:presLayoutVars>
      </dgm:prSet>
      <dgm:spPr/>
    </dgm:pt>
    <dgm:pt modelId="{98878AFB-22BF-D442-8EE3-D2C24BE38BFC}" type="pres">
      <dgm:prSet presAssocID="{2D7D184A-FB3F-E443-AED5-FD85B29397F8}" presName="L1TextContainer" presStyleLbl="alignNode1" presStyleIdx="7" presStyleCnt="8">
        <dgm:presLayoutVars>
          <dgm:chMax val="1"/>
          <dgm:chPref val="1"/>
          <dgm:bulletEnabled val="1"/>
        </dgm:presLayoutVars>
      </dgm:prSet>
      <dgm:spPr/>
    </dgm:pt>
    <dgm:pt modelId="{A6170E9E-48F3-7148-906E-437950507A41}" type="pres">
      <dgm:prSet presAssocID="{2D7D184A-FB3F-E443-AED5-FD85B29397F8}" presName="ConnectLine" presStyleLbl="sibTrans1D1" presStyleIdx="3" presStyleCnt="4"/>
      <dgm:spPr/>
    </dgm:pt>
    <dgm:pt modelId="{C7713650-628B-4448-9E1C-6DB9078DC961}" type="pres">
      <dgm:prSet presAssocID="{2D7D184A-FB3F-E443-AED5-FD85B29397F8}" presName="EmptyPlaceHolder" presStyleCnt="0"/>
      <dgm:spPr/>
    </dgm:pt>
  </dgm:ptLst>
  <dgm:cxnLst>
    <dgm:cxn modelId="{9E43EC02-C52A-2745-AC74-C38C1FC2E6C9}" type="presOf" srcId="{494FC8DA-D44B-FE49-A631-44DAC4CE745B}" destId="{F1943F07-0AAD-B241-95FC-CC50C0F4E9B6}" srcOrd="0" destOrd="0" presId="urn:microsoft.com/office/officeart/2024/3/layout/SimpleTimelineDefaultVariant#1"/>
    <dgm:cxn modelId="{FC13C01A-7A7B-4F4A-86A4-6D3385DF5F72}" srcId="{4E2FCF49-83DE-6C48-BD46-567565B6541D}" destId="{1DC241B1-03AA-1F41-9F97-15C4ADFE3607}" srcOrd="1" destOrd="0" parTransId="{9D1AF8B4-2159-B846-A48B-E56E89851620}" sibTransId="{F3C872E0-D851-5D45-8008-3C61ED88DF78}"/>
    <dgm:cxn modelId="{FC30C12A-D395-0A45-AEA4-E2AD1C23748B}" type="presOf" srcId="{09B6B688-3C8C-FF44-86A9-25A6EF1DD62C}" destId="{AEB63C26-EFEC-D548-805D-1F3D298E3A30}" srcOrd="0" destOrd="0" presId="urn:microsoft.com/office/officeart/2024/3/layout/SimpleTimelineDefaultVariant#1"/>
    <dgm:cxn modelId="{33B7D42A-6FFF-BF4E-B8C2-642C39E02A6B}" srcId="{4C281819-DDC8-6942-B38B-5388A5F09512}" destId="{907D5A9A-78ED-9A43-A03F-6E8FD7F153E7}" srcOrd="0" destOrd="0" parTransId="{06DF3CEA-49AE-004A-9FE2-4A9604ADE0D1}" sibTransId="{9EB80CF7-8797-2F4A-8DA3-1D91D767A518}"/>
    <dgm:cxn modelId="{4D573D42-970F-CB4E-A653-7177E52B9F7D}" type="presOf" srcId="{4C281819-DDC8-6942-B38B-5388A5F09512}" destId="{4D26A799-1893-9A45-B557-D9D744A0110E}" srcOrd="0" destOrd="0" presId="urn:microsoft.com/office/officeart/2024/3/layout/SimpleTimelineDefaultVariant#1"/>
    <dgm:cxn modelId="{7AFD4566-B83B-FB47-BF0E-D1F2F910B78E}" srcId="{4E2FCF49-83DE-6C48-BD46-567565B6541D}" destId="{4C281819-DDC8-6942-B38B-5388A5F09512}" srcOrd="2" destOrd="0" parTransId="{4D55BA2F-E6D4-4844-BACC-CCB7998D8FCD}" sibTransId="{03B55026-08FB-004A-B74B-E1BE98CADD5A}"/>
    <dgm:cxn modelId="{DD10A06E-D2B1-5143-B7C1-B0C460F1D7EB}" type="presOf" srcId="{1DC241B1-03AA-1F41-9F97-15C4ADFE3607}" destId="{CD07474B-C94A-C740-ABBB-B6BEA8DDC24E}" srcOrd="0" destOrd="0" presId="urn:microsoft.com/office/officeart/2024/3/layout/SimpleTimelineDefaultVariant#1"/>
    <dgm:cxn modelId="{A968DB89-9864-6B40-835F-DFDD7C5F7AE5}" type="presOf" srcId="{907D5A9A-78ED-9A43-A03F-6E8FD7F153E7}" destId="{55A58305-9E38-3A44-B05B-DB3FA537F307}" srcOrd="0" destOrd="0" presId="urn:microsoft.com/office/officeart/2024/3/layout/SimpleTimelineDefaultVariant#1"/>
    <dgm:cxn modelId="{2D971E8D-3371-7848-9F5D-849F26620D49}" type="presOf" srcId="{91BF7E50-A8D0-0246-9042-35DE31E6D7F9}" destId="{6D5DA738-6B85-8D4A-B177-EA4845A4AE89}" srcOrd="0" destOrd="0" presId="urn:microsoft.com/office/officeart/2024/3/layout/SimpleTimelineDefaultVariant#1"/>
    <dgm:cxn modelId="{714A85A3-5CC5-2F4A-B794-0621030CDF86}" type="presOf" srcId="{2D7D184A-FB3F-E443-AED5-FD85B29397F8}" destId="{98878AFB-22BF-D442-8EE3-D2C24BE38BFC}" srcOrd="0" destOrd="0" presId="urn:microsoft.com/office/officeart/2024/3/layout/SimpleTimelineDefaultVariant#1"/>
    <dgm:cxn modelId="{9DD192A4-3084-5542-B5B7-99AA806C3AEA}" type="presOf" srcId="{57163DCC-B1CC-3C41-B57D-C20AB3BAF29A}" destId="{9F3B607F-F6B3-1145-A876-BFABF96D0635}" srcOrd="0" destOrd="0" presId="urn:microsoft.com/office/officeart/2024/3/layout/SimpleTimelineDefaultVariant#1"/>
    <dgm:cxn modelId="{E05464B2-107F-FE4C-B336-1CABE487FFFE}" srcId="{4E2FCF49-83DE-6C48-BD46-567565B6541D}" destId="{57163DCC-B1CC-3C41-B57D-C20AB3BAF29A}" srcOrd="0" destOrd="0" parTransId="{E29E203D-287A-CA49-926A-13A2C313DEFD}" sibTransId="{7A77A1A1-904A-914A-8351-11210F338EE3}"/>
    <dgm:cxn modelId="{8270CDC8-20B1-324C-A284-B08F1E8E0E8B}" srcId="{4E2FCF49-83DE-6C48-BD46-567565B6541D}" destId="{2D7D184A-FB3F-E443-AED5-FD85B29397F8}" srcOrd="3" destOrd="0" parTransId="{13933981-D982-EF41-A31D-332BF3A247D4}" sibTransId="{F83EBB16-C6D6-D041-B1BC-DC17B7A86018}"/>
    <dgm:cxn modelId="{3E5C9FCA-52D8-F648-B211-711164F1DB46}" srcId="{1DC241B1-03AA-1F41-9F97-15C4ADFE3607}" destId="{09B6B688-3C8C-FF44-86A9-25A6EF1DD62C}" srcOrd="0" destOrd="0" parTransId="{7F1B5ED0-F979-144F-9A78-F9936BE169A7}" sibTransId="{47BFE565-8D3C-D942-9840-BE1039E9636D}"/>
    <dgm:cxn modelId="{8CA869CF-7EED-1A4D-9742-B431F00DE7D3}" srcId="{2D7D184A-FB3F-E443-AED5-FD85B29397F8}" destId="{494FC8DA-D44B-FE49-A631-44DAC4CE745B}" srcOrd="0" destOrd="0" parTransId="{F15C96B2-0AA4-F443-8A34-993E59F68C81}" sibTransId="{71459EDD-FCB7-F741-96A5-5EC94107E4C2}"/>
    <dgm:cxn modelId="{EAE524D2-D8D5-074D-A613-CB0574C7A914}" srcId="{57163DCC-B1CC-3C41-B57D-C20AB3BAF29A}" destId="{91BF7E50-A8D0-0246-9042-35DE31E6D7F9}" srcOrd="0" destOrd="0" parTransId="{71FE09C3-97F2-E24A-841D-D636BB09094D}" sibTransId="{0A3B38C3-DE3D-F642-BC14-3C5B82BE67EB}"/>
    <dgm:cxn modelId="{3DCB2EFB-090E-A44D-A06B-756F8389C71A}" type="presOf" srcId="{4E2FCF49-83DE-6C48-BD46-567565B6541D}" destId="{E1E13116-73DA-B246-8C04-B8F1BC4C47BE}" srcOrd="0" destOrd="0" presId="urn:microsoft.com/office/officeart/2024/3/layout/SimpleTimelineDefaultVariant#1"/>
    <dgm:cxn modelId="{AA70E3B4-4A1F-A842-968D-70D43484D054}" type="presParOf" srcId="{E1E13116-73DA-B246-8C04-B8F1BC4C47BE}" destId="{40EF567E-8AAB-A344-8BBB-12398AE57151}" srcOrd="0" destOrd="0" presId="urn:microsoft.com/office/officeart/2024/3/layout/SimpleTimelineDefaultVariant#1"/>
    <dgm:cxn modelId="{21108E82-3008-8946-9F41-51680E820A68}" type="presParOf" srcId="{E1E13116-73DA-B246-8C04-B8F1BC4C47BE}" destId="{D1CFE5E2-55F0-1A4E-8DEC-E2ADF97392AB}" srcOrd="1" destOrd="0" presId="urn:microsoft.com/office/officeart/2024/3/layout/SimpleTimelineDefaultVariant#1"/>
    <dgm:cxn modelId="{71A8B8E0-478E-DE4B-A687-00F8AAC4ECB5}" type="presParOf" srcId="{D1CFE5E2-55F0-1A4E-8DEC-E2ADF97392AB}" destId="{EF4327EF-31CB-1842-B69C-75917A49BB5D}" srcOrd="0" destOrd="0" presId="urn:microsoft.com/office/officeart/2024/3/layout/SimpleTimelineDefaultVariant#1"/>
    <dgm:cxn modelId="{68D0803A-F218-714F-A5E7-1C3E8048A542}" type="presParOf" srcId="{EF4327EF-31CB-1842-B69C-75917A49BB5D}" destId="{A0C3425F-FEC6-AB4D-884D-271E15A6D051}" srcOrd="0" destOrd="0" presId="urn:microsoft.com/office/officeart/2024/3/layout/SimpleTimelineDefaultVariant#1"/>
    <dgm:cxn modelId="{DB07E1FF-CF52-0C4A-8EE2-3EAFAA1B5ED8}" type="presParOf" srcId="{EF4327EF-31CB-1842-B69C-75917A49BB5D}" destId="{14AB47DE-7219-6945-A989-9BFC27E1233F}" srcOrd="1" destOrd="0" presId="urn:microsoft.com/office/officeart/2024/3/layout/SimpleTimelineDefaultVariant#1"/>
    <dgm:cxn modelId="{CEB1B045-E678-A040-B310-717E85263558}" type="presParOf" srcId="{14AB47DE-7219-6945-A989-9BFC27E1233F}" destId="{2B0D3E10-D767-E94C-8D0C-A83254EE4E96}" srcOrd="0" destOrd="0" presId="urn:microsoft.com/office/officeart/2024/3/layout/SimpleTimelineDefaultVariant#1"/>
    <dgm:cxn modelId="{314F9029-73CC-1B44-B1AF-476F7D07896F}" type="presParOf" srcId="{14AB47DE-7219-6945-A989-9BFC27E1233F}" destId="{5AA0396C-17E5-A644-9FE2-D2B18F635894}" srcOrd="1" destOrd="0" presId="urn:microsoft.com/office/officeart/2024/3/layout/SimpleTimelineDefaultVariant#1"/>
    <dgm:cxn modelId="{6D75C1BE-2FED-2349-A78A-51D20DC74FA4}" type="presParOf" srcId="{EF4327EF-31CB-1842-B69C-75917A49BB5D}" destId="{6D5DA738-6B85-8D4A-B177-EA4845A4AE89}" srcOrd="2" destOrd="0" presId="urn:microsoft.com/office/officeart/2024/3/layout/SimpleTimelineDefaultVariant#1"/>
    <dgm:cxn modelId="{9F97BA15-278F-FB4A-A3C1-324FFF40971B}" type="presParOf" srcId="{EF4327EF-31CB-1842-B69C-75917A49BB5D}" destId="{9F3B607F-F6B3-1145-A876-BFABF96D0635}" srcOrd="3" destOrd="0" presId="urn:microsoft.com/office/officeart/2024/3/layout/SimpleTimelineDefaultVariant#1"/>
    <dgm:cxn modelId="{8CC1B3D6-2D34-1745-9766-CB02D46674ED}" type="presParOf" srcId="{EF4327EF-31CB-1842-B69C-75917A49BB5D}" destId="{4D99DB7E-8EC0-1645-B3F6-B65EB6BC321F}" srcOrd="4" destOrd="0" presId="urn:microsoft.com/office/officeart/2024/3/layout/SimpleTimelineDefaultVariant#1"/>
    <dgm:cxn modelId="{44684B50-8972-8A4E-93C2-135B1B35510D}" type="presParOf" srcId="{EF4327EF-31CB-1842-B69C-75917A49BB5D}" destId="{E15547E5-72BB-0149-A658-3914668DB050}" srcOrd="5" destOrd="0" presId="urn:microsoft.com/office/officeart/2024/3/layout/SimpleTimelineDefaultVariant#1"/>
    <dgm:cxn modelId="{43BFDCD9-DC62-EB40-9C44-7B6152D4DCF6}" type="presParOf" srcId="{D1CFE5E2-55F0-1A4E-8DEC-E2ADF97392AB}" destId="{2AD8A33A-7836-E240-B282-60E964CAA2E7}" srcOrd="1" destOrd="0" presId="urn:microsoft.com/office/officeart/2024/3/layout/SimpleTimelineDefaultVariant#1"/>
    <dgm:cxn modelId="{5636F26F-35DE-5C48-8FE0-CB8AB590E8A1}" type="presParOf" srcId="{D1CFE5E2-55F0-1A4E-8DEC-E2ADF97392AB}" destId="{9A16328B-71DF-7C42-AD39-DD2B54E762CA}" srcOrd="2" destOrd="0" presId="urn:microsoft.com/office/officeart/2024/3/layout/SimpleTimelineDefaultVariant#1"/>
    <dgm:cxn modelId="{9DB756BF-5C75-044E-B773-526498AD882A}" type="presParOf" srcId="{9A16328B-71DF-7C42-AD39-DD2B54E762CA}" destId="{50711626-A0A3-DB4D-B193-4F8E873C6F3D}" srcOrd="0" destOrd="0" presId="urn:microsoft.com/office/officeart/2024/3/layout/SimpleTimelineDefaultVariant#1"/>
    <dgm:cxn modelId="{9CC7DB19-9412-5449-A224-83E669CDD019}" type="presParOf" srcId="{9A16328B-71DF-7C42-AD39-DD2B54E762CA}" destId="{815F4A7C-F586-CF4B-B9FC-F05D5BF99220}" srcOrd="1" destOrd="0" presId="urn:microsoft.com/office/officeart/2024/3/layout/SimpleTimelineDefaultVariant#1"/>
    <dgm:cxn modelId="{AA58BD1D-805C-B849-92AF-6951A538C658}" type="presParOf" srcId="{815F4A7C-F586-CF4B-B9FC-F05D5BF99220}" destId="{3A992B98-2E28-8841-97DC-C609A55156C8}" srcOrd="0" destOrd="0" presId="urn:microsoft.com/office/officeart/2024/3/layout/SimpleTimelineDefaultVariant#1"/>
    <dgm:cxn modelId="{0A158E0E-638E-1841-932C-07C7009712A2}" type="presParOf" srcId="{815F4A7C-F586-CF4B-B9FC-F05D5BF99220}" destId="{6A30C4CC-381C-174D-A4E6-5B89B9DE00EC}" srcOrd="1" destOrd="0" presId="urn:microsoft.com/office/officeart/2024/3/layout/SimpleTimelineDefaultVariant#1"/>
    <dgm:cxn modelId="{39EC8D95-B3EB-174E-9AB4-7215CF478D3F}" type="presParOf" srcId="{9A16328B-71DF-7C42-AD39-DD2B54E762CA}" destId="{AEB63C26-EFEC-D548-805D-1F3D298E3A30}" srcOrd="2" destOrd="0" presId="urn:microsoft.com/office/officeart/2024/3/layout/SimpleTimelineDefaultVariant#1"/>
    <dgm:cxn modelId="{43CC1844-D004-BC49-8731-B5774A057281}" type="presParOf" srcId="{9A16328B-71DF-7C42-AD39-DD2B54E762CA}" destId="{CD07474B-C94A-C740-ABBB-B6BEA8DDC24E}" srcOrd="3" destOrd="0" presId="urn:microsoft.com/office/officeart/2024/3/layout/SimpleTimelineDefaultVariant#1"/>
    <dgm:cxn modelId="{409C010C-B979-8142-BDA6-CE22A8C12160}" type="presParOf" srcId="{9A16328B-71DF-7C42-AD39-DD2B54E762CA}" destId="{EF1B1142-9CEE-4B4A-BF75-89C293CE4C6C}" srcOrd="4" destOrd="0" presId="urn:microsoft.com/office/officeart/2024/3/layout/SimpleTimelineDefaultVariant#1"/>
    <dgm:cxn modelId="{F16F979C-1A3E-2F44-A59F-B8678FE86181}" type="presParOf" srcId="{9A16328B-71DF-7C42-AD39-DD2B54E762CA}" destId="{682A4DFC-46EC-1F44-91AE-03D0282962D2}" srcOrd="5" destOrd="0" presId="urn:microsoft.com/office/officeart/2024/3/layout/SimpleTimelineDefaultVariant#1"/>
    <dgm:cxn modelId="{8C268706-BD04-A340-BE4F-B9D9CFCB1026}" type="presParOf" srcId="{D1CFE5E2-55F0-1A4E-8DEC-E2ADF97392AB}" destId="{1A207E96-FFFE-F644-BC57-F236CE9B9F45}" srcOrd="3" destOrd="0" presId="urn:microsoft.com/office/officeart/2024/3/layout/SimpleTimelineDefaultVariant#1"/>
    <dgm:cxn modelId="{1F565275-F7B1-8C41-8FD5-81725E71BD12}" type="presParOf" srcId="{D1CFE5E2-55F0-1A4E-8DEC-E2ADF97392AB}" destId="{AB8FD7C4-BDD8-BD45-876C-ABD99AED9CDE}" srcOrd="4" destOrd="0" presId="urn:microsoft.com/office/officeart/2024/3/layout/SimpleTimelineDefaultVariant#1"/>
    <dgm:cxn modelId="{7A759DC2-1421-8A4A-A40D-519C1C65BD73}" type="presParOf" srcId="{AB8FD7C4-BDD8-BD45-876C-ABD99AED9CDE}" destId="{AFB34852-C947-BB41-8B71-95F498B76196}" srcOrd="0" destOrd="0" presId="urn:microsoft.com/office/officeart/2024/3/layout/SimpleTimelineDefaultVariant#1"/>
    <dgm:cxn modelId="{5F5A9222-F08C-344D-974F-B96B678E3588}" type="presParOf" srcId="{AB8FD7C4-BDD8-BD45-876C-ABD99AED9CDE}" destId="{A37452DA-30D3-DD45-B9A8-9CAB5FA26C05}" srcOrd="1" destOrd="0" presId="urn:microsoft.com/office/officeart/2024/3/layout/SimpleTimelineDefaultVariant#1"/>
    <dgm:cxn modelId="{5F33BEC8-2D9E-8342-9C23-75D1739BE7DF}" type="presParOf" srcId="{A37452DA-30D3-DD45-B9A8-9CAB5FA26C05}" destId="{E52C9845-DCC9-E74B-BB9F-6878116AEB7B}" srcOrd="0" destOrd="0" presId="urn:microsoft.com/office/officeart/2024/3/layout/SimpleTimelineDefaultVariant#1"/>
    <dgm:cxn modelId="{D6996B3E-FF22-6A4A-8B6A-F94175581A13}" type="presParOf" srcId="{A37452DA-30D3-DD45-B9A8-9CAB5FA26C05}" destId="{9E3DB7A5-25E8-D74D-879E-861BC23CFABB}" srcOrd="1" destOrd="0" presId="urn:microsoft.com/office/officeart/2024/3/layout/SimpleTimelineDefaultVariant#1"/>
    <dgm:cxn modelId="{91F92CA8-0784-364E-80D2-DDCBF4E7B905}" type="presParOf" srcId="{AB8FD7C4-BDD8-BD45-876C-ABD99AED9CDE}" destId="{55A58305-9E38-3A44-B05B-DB3FA537F307}" srcOrd="2" destOrd="0" presId="urn:microsoft.com/office/officeart/2024/3/layout/SimpleTimelineDefaultVariant#1"/>
    <dgm:cxn modelId="{4549623D-E2B2-5B44-B90F-A30238561497}" type="presParOf" srcId="{AB8FD7C4-BDD8-BD45-876C-ABD99AED9CDE}" destId="{4D26A799-1893-9A45-B557-D9D744A0110E}" srcOrd="3" destOrd="0" presId="urn:microsoft.com/office/officeart/2024/3/layout/SimpleTimelineDefaultVariant#1"/>
    <dgm:cxn modelId="{3792106F-AB66-CD42-981A-D3CAAA1CC58A}" type="presParOf" srcId="{AB8FD7C4-BDD8-BD45-876C-ABD99AED9CDE}" destId="{24CC84F0-CB49-754B-BA72-B2FD335442DB}" srcOrd="4" destOrd="0" presId="urn:microsoft.com/office/officeart/2024/3/layout/SimpleTimelineDefaultVariant#1"/>
    <dgm:cxn modelId="{BC49F9DF-7C5F-874B-9215-3EAE9F90B4E4}" type="presParOf" srcId="{AB8FD7C4-BDD8-BD45-876C-ABD99AED9CDE}" destId="{EA68611B-194E-164E-8440-C1C902FE1AC7}" srcOrd="5" destOrd="0" presId="urn:microsoft.com/office/officeart/2024/3/layout/SimpleTimelineDefaultVariant#1"/>
    <dgm:cxn modelId="{AE337D29-AAA7-E24C-83A7-B83FA9578DE6}" type="presParOf" srcId="{D1CFE5E2-55F0-1A4E-8DEC-E2ADF97392AB}" destId="{E98D4ABD-52FD-9A43-BC83-1F70399EF743}" srcOrd="5" destOrd="0" presId="urn:microsoft.com/office/officeart/2024/3/layout/SimpleTimelineDefaultVariant#1"/>
    <dgm:cxn modelId="{C6DCCFCF-0092-8746-AD4B-C86730B5CF20}" type="presParOf" srcId="{D1CFE5E2-55F0-1A4E-8DEC-E2ADF97392AB}" destId="{33F55604-285C-C647-9146-CA0EBC49159F}" srcOrd="6" destOrd="0" presId="urn:microsoft.com/office/officeart/2024/3/layout/SimpleTimelineDefaultVariant#1"/>
    <dgm:cxn modelId="{2BA84D8A-0BF4-694A-AE36-E91BD0A1339B}" type="presParOf" srcId="{33F55604-285C-C647-9146-CA0EBC49159F}" destId="{B82CA32B-189F-8C4A-AAC9-2A7742A3DE03}" srcOrd="0" destOrd="0" presId="urn:microsoft.com/office/officeart/2024/3/layout/SimpleTimelineDefaultVariant#1"/>
    <dgm:cxn modelId="{146823CC-26B7-1346-B651-49351EFBD21B}" type="presParOf" srcId="{33F55604-285C-C647-9146-CA0EBC49159F}" destId="{5FD125FA-8F8B-7E48-BDBC-43C9C4DC88A7}" srcOrd="1" destOrd="0" presId="urn:microsoft.com/office/officeart/2024/3/layout/SimpleTimelineDefaultVariant#1"/>
    <dgm:cxn modelId="{4678B62A-19A9-634F-B3C9-61193BFF9E0D}" type="presParOf" srcId="{5FD125FA-8F8B-7E48-BDBC-43C9C4DC88A7}" destId="{74C2A984-C037-3041-A855-3A03D1548B3D}" srcOrd="0" destOrd="0" presId="urn:microsoft.com/office/officeart/2024/3/layout/SimpleTimelineDefaultVariant#1"/>
    <dgm:cxn modelId="{331D42F0-BCE8-0B49-B74B-368393280DC0}" type="presParOf" srcId="{5FD125FA-8F8B-7E48-BDBC-43C9C4DC88A7}" destId="{6D981777-406D-9E4D-A7CE-9658D9BBE9A0}" srcOrd="1" destOrd="0" presId="urn:microsoft.com/office/officeart/2024/3/layout/SimpleTimelineDefaultVariant#1"/>
    <dgm:cxn modelId="{4E9C81AD-F269-494A-A9C0-8C712A7FA017}" type="presParOf" srcId="{33F55604-285C-C647-9146-CA0EBC49159F}" destId="{F1943F07-0AAD-B241-95FC-CC50C0F4E9B6}" srcOrd="2" destOrd="0" presId="urn:microsoft.com/office/officeart/2024/3/layout/SimpleTimelineDefaultVariant#1"/>
    <dgm:cxn modelId="{38362555-D789-594F-BBC1-81812328E7DA}" type="presParOf" srcId="{33F55604-285C-C647-9146-CA0EBC49159F}" destId="{98878AFB-22BF-D442-8EE3-D2C24BE38BFC}" srcOrd="3" destOrd="0" presId="urn:microsoft.com/office/officeart/2024/3/layout/SimpleTimelineDefaultVariant#1"/>
    <dgm:cxn modelId="{5C65E14C-4910-BD44-B690-BCB20B4FFE95}" type="presParOf" srcId="{33F55604-285C-C647-9146-CA0EBC49159F}" destId="{A6170E9E-48F3-7148-906E-437950507A41}" srcOrd="4" destOrd="0" presId="urn:microsoft.com/office/officeart/2024/3/layout/SimpleTimelineDefaultVariant#1"/>
    <dgm:cxn modelId="{5F64A0C0-5349-3C46-9418-97301A923EDB}" type="presParOf" srcId="{33F55604-285C-C647-9146-CA0EBC49159F}" destId="{C7713650-628B-4448-9E1C-6DB9078DC961}" srcOrd="5" destOrd="0" presId="urn:microsoft.com/office/officeart/2024/3/layout/SimpleTimelineDefaultVarian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F567E-8AAB-A344-8BBB-12398AE57151}">
      <dsp:nvSpPr>
        <dsp:cNvPr id="0" name=""/>
        <dsp:cNvSpPr/>
      </dsp:nvSpPr>
      <dsp:spPr>
        <a:xfrm>
          <a:off x="0" y="1814285"/>
          <a:ext cx="10468678" cy="0"/>
        </a:xfrm>
        <a:prstGeom prst="line">
          <a:avLst/>
        </a:prstGeom>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sp:spPr>
      <dsp:style>
        <a:lnRef idx="2">
          <a:scrgbClr r="0" g="0" b="0"/>
        </a:lnRef>
        <a:fillRef idx="1">
          <a:scrgbClr r="0" g="0" b="0"/>
        </a:fillRef>
        <a:effectRef idx="0">
          <a:scrgbClr r="0" g="0" b="0"/>
        </a:effectRef>
        <a:fontRef idx="minor"/>
      </dsp:style>
    </dsp:sp>
    <dsp:sp modelId="{6D5DA738-6B85-8D4A-B177-EA4845A4AE89}">
      <dsp:nvSpPr>
        <dsp:cNvPr id="0" name=""/>
        <dsp:cNvSpPr/>
      </dsp:nvSpPr>
      <dsp:spPr>
        <a:xfrm>
          <a:off x="381478" y="740228"/>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Use of patient-generated data and multi-informant reporting to support diagnostic clarification. </a:t>
          </a:r>
        </a:p>
      </dsp:txBody>
      <dsp:txXfrm>
        <a:off x="381478" y="740228"/>
        <a:ext cx="3481533" cy="1074057"/>
      </dsp:txXfrm>
    </dsp:sp>
    <dsp:sp modelId="{9F3B607F-F6B3-1145-A876-BFABF96D0635}">
      <dsp:nvSpPr>
        <dsp:cNvPr id="0" name=""/>
        <dsp:cNvSpPr/>
      </dsp:nvSpPr>
      <dsp:spPr>
        <a:xfrm>
          <a:off x="381478" y="362857"/>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Case Conceptualization</a:t>
          </a:r>
        </a:p>
      </dsp:txBody>
      <dsp:txXfrm>
        <a:off x="381478" y="362857"/>
        <a:ext cx="3481533" cy="377371"/>
      </dsp:txXfrm>
    </dsp:sp>
    <dsp:sp modelId="{4D99DB7E-8EC0-1645-B3F6-B65EB6BC321F}">
      <dsp:nvSpPr>
        <dsp:cNvPr id="0" name=""/>
        <dsp:cNvSpPr/>
      </dsp:nvSpPr>
      <dsp:spPr>
        <a:xfrm>
          <a:off x="192793"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C3425F-FEC6-AB4D-884D-271E15A6D051}">
      <dsp:nvSpPr>
        <dsp:cNvPr id="0" name=""/>
        <dsp:cNvSpPr/>
      </dsp:nvSpPr>
      <dsp:spPr>
        <a:xfrm>
          <a:off x="14939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63C26-EFEC-D548-805D-1F3D298E3A30}">
      <dsp:nvSpPr>
        <dsp:cNvPr id="0" name=""/>
        <dsp:cNvSpPr/>
      </dsp:nvSpPr>
      <dsp:spPr>
        <a:xfrm>
          <a:off x="247009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kern="1200"/>
            <a:t>Use of baseline data to help guide treatment goals and select appropriate treatment strategies and modalities. </a:t>
          </a:r>
        </a:p>
      </dsp:txBody>
      <dsp:txXfrm>
        <a:off x="2470093" y="2685142"/>
        <a:ext cx="3481533" cy="580571"/>
      </dsp:txXfrm>
    </dsp:sp>
    <dsp:sp modelId="{CD07474B-C94A-C740-ABBB-B6BEA8DDC24E}">
      <dsp:nvSpPr>
        <dsp:cNvPr id="0" name=""/>
        <dsp:cNvSpPr/>
      </dsp:nvSpPr>
      <dsp:spPr>
        <a:xfrm>
          <a:off x="247009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Treatment Planning</a:t>
          </a:r>
        </a:p>
      </dsp:txBody>
      <dsp:txXfrm>
        <a:off x="2470093" y="2322285"/>
        <a:ext cx="3481533" cy="362857"/>
      </dsp:txXfrm>
    </dsp:sp>
    <dsp:sp modelId="{EF1B1142-9CEE-4B4A-BF75-89C293CE4C6C}">
      <dsp:nvSpPr>
        <dsp:cNvPr id="0" name=""/>
        <dsp:cNvSpPr/>
      </dsp:nvSpPr>
      <dsp:spPr>
        <a:xfrm>
          <a:off x="2281408"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0711626-A0A3-DB4D-B193-4F8E873C6F3D}">
      <dsp:nvSpPr>
        <dsp:cNvPr id="0" name=""/>
        <dsp:cNvSpPr/>
      </dsp:nvSpPr>
      <dsp:spPr>
        <a:xfrm>
          <a:off x="223801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A58305-9E38-3A44-B05B-DB3FA537F307}">
      <dsp:nvSpPr>
        <dsp:cNvPr id="0" name=""/>
        <dsp:cNvSpPr/>
      </dsp:nvSpPr>
      <dsp:spPr>
        <a:xfrm>
          <a:off x="4558708" y="740228"/>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Use of routine measure administration to monitor response to treatment, treatment effectiveness, and adjust treatment as needed. </a:t>
          </a:r>
        </a:p>
      </dsp:txBody>
      <dsp:txXfrm>
        <a:off x="4558708" y="740228"/>
        <a:ext cx="3481533" cy="1074057"/>
      </dsp:txXfrm>
    </dsp:sp>
    <dsp:sp modelId="{4D26A799-1893-9A45-B557-D9D744A0110E}">
      <dsp:nvSpPr>
        <dsp:cNvPr id="0" name=""/>
        <dsp:cNvSpPr/>
      </dsp:nvSpPr>
      <dsp:spPr>
        <a:xfrm>
          <a:off x="4558708" y="362857"/>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Progress Monitoring</a:t>
          </a:r>
        </a:p>
      </dsp:txBody>
      <dsp:txXfrm>
        <a:off x="4558708" y="362857"/>
        <a:ext cx="3481533" cy="377371"/>
      </dsp:txXfrm>
    </dsp:sp>
    <dsp:sp modelId="{24CC84F0-CB49-754B-BA72-B2FD335442DB}">
      <dsp:nvSpPr>
        <dsp:cNvPr id="0" name=""/>
        <dsp:cNvSpPr/>
      </dsp:nvSpPr>
      <dsp:spPr>
        <a:xfrm>
          <a:off x="4370022"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B34852-C947-BB41-8B71-95F498B76196}">
      <dsp:nvSpPr>
        <dsp:cNvPr id="0" name=""/>
        <dsp:cNvSpPr/>
      </dsp:nvSpPr>
      <dsp:spPr>
        <a:xfrm>
          <a:off x="432662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943F07-0AAD-B241-95FC-CC50C0F4E9B6}">
      <dsp:nvSpPr>
        <dsp:cNvPr id="0" name=""/>
        <dsp:cNvSpPr/>
      </dsp:nvSpPr>
      <dsp:spPr>
        <a:xfrm>
          <a:off x="664732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kern="1200"/>
            <a:t>Use of quantitative data to assist with decision-making relative to readiness for discharge. </a:t>
          </a:r>
        </a:p>
      </dsp:txBody>
      <dsp:txXfrm>
        <a:off x="6647323" y="2685142"/>
        <a:ext cx="3481533" cy="580571"/>
      </dsp:txXfrm>
    </dsp:sp>
    <dsp:sp modelId="{98878AFB-22BF-D442-8EE3-D2C24BE38BFC}">
      <dsp:nvSpPr>
        <dsp:cNvPr id="0" name=""/>
        <dsp:cNvSpPr/>
      </dsp:nvSpPr>
      <dsp:spPr>
        <a:xfrm>
          <a:off x="664732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Discharge/Termination </a:t>
          </a:r>
        </a:p>
      </dsp:txBody>
      <dsp:txXfrm>
        <a:off x="6647323" y="2322285"/>
        <a:ext cx="3481533" cy="362857"/>
      </dsp:txXfrm>
    </dsp:sp>
    <dsp:sp modelId="{A6170E9E-48F3-7148-906E-437950507A41}">
      <dsp:nvSpPr>
        <dsp:cNvPr id="0" name=""/>
        <dsp:cNvSpPr/>
      </dsp:nvSpPr>
      <dsp:spPr>
        <a:xfrm>
          <a:off x="6458637"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82CA32B-189F-8C4A-AAC9-2A7742A3DE03}">
      <dsp:nvSpPr>
        <dsp:cNvPr id="0" name=""/>
        <dsp:cNvSpPr/>
      </dsp:nvSpPr>
      <dsp:spPr>
        <a:xfrm>
          <a:off x="641524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F567E-8AAB-A344-8BBB-12398AE57151}">
      <dsp:nvSpPr>
        <dsp:cNvPr id="0" name=""/>
        <dsp:cNvSpPr/>
      </dsp:nvSpPr>
      <dsp:spPr>
        <a:xfrm>
          <a:off x="0" y="1814285"/>
          <a:ext cx="10468678" cy="0"/>
        </a:xfrm>
        <a:prstGeom prst="line">
          <a:avLst/>
        </a:prstGeom>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sp:spPr>
      <dsp:style>
        <a:lnRef idx="2">
          <a:scrgbClr r="0" g="0" b="0"/>
        </a:lnRef>
        <a:fillRef idx="1">
          <a:scrgbClr r="0" g="0" b="0"/>
        </a:fillRef>
        <a:effectRef idx="0">
          <a:scrgbClr r="0" g="0" b="0"/>
        </a:effectRef>
        <a:fontRef idx="minor"/>
      </dsp:style>
    </dsp:sp>
    <dsp:sp modelId="{6D5DA738-6B85-8D4A-B177-EA4845A4AE89}">
      <dsp:nvSpPr>
        <dsp:cNvPr id="0" name=""/>
        <dsp:cNvSpPr/>
      </dsp:nvSpPr>
      <dsp:spPr>
        <a:xfrm>
          <a:off x="381478" y="453346"/>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1" kern="1200"/>
            <a:t>PSC-17 shows elevated attention and internalizing symptoms.</a:t>
          </a:r>
        </a:p>
        <a:p>
          <a:pPr marL="0" lvl="0" indent="0" algn="l" defTabSz="666750">
            <a:lnSpc>
              <a:spcPct val="90000"/>
            </a:lnSpc>
            <a:spcBef>
              <a:spcPct val="0"/>
            </a:spcBef>
            <a:spcAft>
              <a:spcPct val="35000"/>
            </a:spcAft>
            <a:buNone/>
          </a:pPr>
          <a:r>
            <a:rPr lang="en-US" sz="1500" b="1" kern="1200"/>
            <a:t>Vanderbilt confirms ADHD, predominately inattentive type.</a:t>
          </a:r>
        </a:p>
        <a:p>
          <a:pPr marL="0" lvl="0" indent="0" algn="l" defTabSz="666750">
            <a:lnSpc>
              <a:spcPct val="90000"/>
            </a:lnSpc>
            <a:spcBef>
              <a:spcPct val="0"/>
            </a:spcBef>
            <a:spcAft>
              <a:spcPct val="35000"/>
            </a:spcAft>
            <a:buNone/>
          </a:pPr>
          <a:r>
            <a:rPr lang="en-US" sz="1500" b="1" kern="1200"/>
            <a:t>NQLS shows overall low quality of life.</a:t>
          </a:r>
        </a:p>
      </dsp:txBody>
      <dsp:txXfrm>
        <a:off x="381478" y="453346"/>
        <a:ext cx="3481533" cy="1074057"/>
      </dsp:txXfrm>
    </dsp:sp>
    <dsp:sp modelId="{9F3B607F-F6B3-1145-A876-BFABF96D0635}">
      <dsp:nvSpPr>
        <dsp:cNvPr id="0" name=""/>
        <dsp:cNvSpPr/>
      </dsp:nvSpPr>
      <dsp:spPr>
        <a:xfrm>
          <a:off x="381478" y="75975"/>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Case Conceptualization</a:t>
          </a:r>
        </a:p>
      </dsp:txBody>
      <dsp:txXfrm>
        <a:off x="381478" y="75975"/>
        <a:ext cx="3481533" cy="377371"/>
      </dsp:txXfrm>
    </dsp:sp>
    <dsp:sp modelId="{4D99DB7E-8EC0-1645-B3F6-B65EB6BC321F}">
      <dsp:nvSpPr>
        <dsp:cNvPr id="0" name=""/>
        <dsp:cNvSpPr/>
      </dsp:nvSpPr>
      <dsp:spPr>
        <a:xfrm>
          <a:off x="192793"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C3425F-FEC6-AB4D-884D-271E15A6D051}">
      <dsp:nvSpPr>
        <dsp:cNvPr id="0" name=""/>
        <dsp:cNvSpPr/>
      </dsp:nvSpPr>
      <dsp:spPr>
        <a:xfrm>
          <a:off x="14939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63C26-EFEC-D548-805D-1F3D298E3A30}">
      <dsp:nvSpPr>
        <dsp:cNvPr id="0" name=""/>
        <dsp:cNvSpPr/>
      </dsp:nvSpPr>
      <dsp:spPr>
        <a:xfrm>
          <a:off x="247009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kern="1200">
              <a:solidFill>
                <a:schemeClr val="bg2">
                  <a:lumMod val="90000"/>
                </a:schemeClr>
              </a:solidFill>
            </a:rPr>
            <a:t>Use of baseline data to help guide treatment goals and select appropriate treatment strategies and modalities. </a:t>
          </a:r>
        </a:p>
      </dsp:txBody>
      <dsp:txXfrm>
        <a:off x="2470093" y="2685142"/>
        <a:ext cx="3481533" cy="580571"/>
      </dsp:txXfrm>
    </dsp:sp>
    <dsp:sp modelId="{CD07474B-C94A-C740-ABBB-B6BEA8DDC24E}">
      <dsp:nvSpPr>
        <dsp:cNvPr id="0" name=""/>
        <dsp:cNvSpPr/>
      </dsp:nvSpPr>
      <dsp:spPr>
        <a:xfrm>
          <a:off x="247009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Treatment Planning</a:t>
          </a:r>
        </a:p>
      </dsp:txBody>
      <dsp:txXfrm>
        <a:off x="2470093" y="2322285"/>
        <a:ext cx="3481533" cy="362857"/>
      </dsp:txXfrm>
    </dsp:sp>
    <dsp:sp modelId="{EF1B1142-9CEE-4B4A-BF75-89C293CE4C6C}">
      <dsp:nvSpPr>
        <dsp:cNvPr id="0" name=""/>
        <dsp:cNvSpPr/>
      </dsp:nvSpPr>
      <dsp:spPr>
        <a:xfrm>
          <a:off x="2281408"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0711626-A0A3-DB4D-B193-4F8E873C6F3D}">
      <dsp:nvSpPr>
        <dsp:cNvPr id="0" name=""/>
        <dsp:cNvSpPr/>
      </dsp:nvSpPr>
      <dsp:spPr>
        <a:xfrm>
          <a:off x="223801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A58305-9E38-3A44-B05B-DB3FA537F307}">
      <dsp:nvSpPr>
        <dsp:cNvPr id="0" name=""/>
        <dsp:cNvSpPr/>
      </dsp:nvSpPr>
      <dsp:spPr>
        <a:xfrm>
          <a:off x="4534651" y="453346"/>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solidFill>
                <a:schemeClr val="bg2">
                  <a:lumMod val="90000"/>
                </a:schemeClr>
              </a:solidFill>
            </a:rPr>
            <a:t>Use of routine measure administration to monitor response to treatment, treatment effectiveness, and adjust treatment as needed. </a:t>
          </a:r>
        </a:p>
      </dsp:txBody>
      <dsp:txXfrm>
        <a:off x="4534651" y="453346"/>
        <a:ext cx="3481533" cy="1074057"/>
      </dsp:txXfrm>
    </dsp:sp>
    <dsp:sp modelId="{4D26A799-1893-9A45-B557-D9D744A0110E}">
      <dsp:nvSpPr>
        <dsp:cNvPr id="0" name=""/>
        <dsp:cNvSpPr/>
      </dsp:nvSpPr>
      <dsp:spPr>
        <a:xfrm>
          <a:off x="4534651" y="75975"/>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Progress Monitoring</a:t>
          </a:r>
        </a:p>
      </dsp:txBody>
      <dsp:txXfrm>
        <a:off x="4534651" y="75975"/>
        <a:ext cx="3481533" cy="377371"/>
      </dsp:txXfrm>
    </dsp:sp>
    <dsp:sp modelId="{24CC84F0-CB49-754B-BA72-B2FD335442DB}">
      <dsp:nvSpPr>
        <dsp:cNvPr id="0" name=""/>
        <dsp:cNvSpPr/>
      </dsp:nvSpPr>
      <dsp:spPr>
        <a:xfrm>
          <a:off x="4370022"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B34852-C947-BB41-8B71-95F498B76196}">
      <dsp:nvSpPr>
        <dsp:cNvPr id="0" name=""/>
        <dsp:cNvSpPr/>
      </dsp:nvSpPr>
      <dsp:spPr>
        <a:xfrm>
          <a:off x="432662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943F07-0AAD-B241-95FC-CC50C0F4E9B6}">
      <dsp:nvSpPr>
        <dsp:cNvPr id="0" name=""/>
        <dsp:cNvSpPr/>
      </dsp:nvSpPr>
      <dsp:spPr>
        <a:xfrm>
          <a:off x="664732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kern="1200">
              <a:solidFill>
                <a:schemeClr val="bg2">
                  <a:lumMod val="90000"/>
                </a:schemeClr>
              </a:solidFill>
            </a:rPr>
            <a:t>Use of quantitative data to assist with decision-making relative to readiness for discharge. </a:t>
          </a:r>
        </a:p>
      </dsp:txBody>
      <dsp:txXfrm>
        <a:off x="6647323" y="2685142"/>
        <a:ext cx="3481533" cy="580571"/>
      </dsp:txXfrm>
    </dsp:sp>
    <dsp:sp modelId="{98878AFB-22BF-D442-8EE3-D2C24BE38BFC}">
      <dsp:nvSpPr>
        <dsp:cNvPr id="0" name=""/>
        <dsp:cNvSpPr/>
      </dsp:nvSpPr>
      <dsp:spPr>
        <a:xfrm>
          <a:off x="664732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Discharge/ Termination </a:t>
          </a:r>
        </a:p>
      </dsp:txBody>
      <dsp:txXfrm>
        <a:off x="6647323" y="2322285"/>
        <a:ext cx="3481533" cy="362857"/>
      </dsp:txXfrm>
    </dsp:sp>
    <dsp:sp modelId="{A6170E9E-48F3-7148-906E-437950507A41}">
      <dsp:nvSpPr>
        <dsp:cNvPr id="0" name=""/>
        <dsp:cNvSpPr/>
      </dsp:nvSpPr>
      <dsp:spPr>
        <a:xfrm>
          <a:off x="6458637"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82CA32B-189F-8C4A-AAC9-2A7742A3DE03}">
      <dsp:nvSpPr>
        <dsp:cNvPr id="0" name=""/>
        <dsp:cNvSpPr/>
      </dsp:nvSpPr>
      <dsp:spPr>
        <a:xfrm>
          <a:off x="641524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F567E-8AAB-A344-8BBB-12398AE57151}">
      <dsp:nvSpPr>
        <dsp:cNvPr id="0" name=""/>
        <dsp:cNvSpPr/>
      </dsp:nvSpPr>
      <dsp:spPr>
        <a:xfrm>
          <a:off x="0" y="1814285"/>
          <a:ext cx="10468678" cy="0"/>
        </a:xfrm>
        <a:prstGeom prst="line">
          <a:avLst/>
        </a:prstGeom>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sp:spPr>
      <dsp:style>
        <a:lnRef idx="2">
          <a:scrgbClr r="0" g="0" b="0"/>
        </a:lnRef>
        <a:fillRef idx="1">
          <a:scrgbClr r="0" g="0" b="0"/>
        </a:fillRef>
        <a:effectRef idx="0">
          <a:scrgbClr r="0" g="0" b="0"/>
        </a:effectRef>
        <a:fontRef idx="minor"/>
      </dsp:style>
    </dsp:sp>
    <dsp:sp modelId="{6D5DA738-6B85-8D4A-B177-EA4845A4AE89}">
      <dsp:nvSpPr>
        <dsp:cNvPr id="0" name=""/>
        <dsp:cNvSpPr/>
      </dsp:nvSpPr>
      <dsp:spPr>
        <a:xfrm>
          <a:off x="381478" y="453346"/>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1" kern="1200"/>
            <a:t>PSC-17 shows elevated attention and internalizing symptoms.</a:t>
          </a:r>
        </a:p>
        <a:p>
          <a:pPr marL="0" lvl="0" indent="0" algn="l" defTabSz="666750">
            <a:lnSpc>
              <a:spcPct val="90000"/>
            </a:lnSpc>
            <a:spcBef>
              <a:spcPct val="0"/>
            </a:spcBef>
            <a:spcAft>
              <a:spcPct val="35000"/>
            </a:spcAft>
            <a:buNone/>
          </a:pPr>
          <a:r>
            <a:rPr lang="en-US" sz="1500" b="1" kern="1200"/>
            <a:t>Vanderbilt confirms ADHD, predominately inattentive type.</a:t>
          </a:r>
        </a:p>
        <a:p>
          <a:pPr marL="0" lvl="0" indent="0" algn="l" defTabSz="666750">
            <a:lnSpc>
              <a:spcPct val="90000"/>
            </a:lnSpc>
            <a:spcBef>
              <a:spcPct val="0"/>
            </a:spcBef>
            <a:spcAft>
              <a:spcPct val="35000"/>
            </a:spcAft>
            <a:buNone/>
          </a:pPr>
          <a:r>
            <a:rPr lang="en-US" sz="1500" b="1" kern="1200"/>
            <a:t>NQLS shows overall low quality of life.</a:t>
          </a:r>
        </a:p>
      </dsp:txBody>
      <dsp:txXfrm>
        <a:off x="381478" y="453346"/>
        <a:ext cx="3481533" cy="1074057"/>
      </dsp:txXfrm>
    </dsp:sp>
    <dsp:sp modelId="{9F3B607F-F6B3-1145-A876-BFABF96D0635}">
      <dsp:nvSpPr>
        <dsp:cNvPr id="0" name=""/>
        <dsp:cNvSpPr/>
      </dsp:nvSpPr>
      <dsp:spPr>
        <a:xfrm>
          <a:off x="381478" y="75975"/>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Case Conceptualization</a:t>
          </a:r>
        </a:p>
      </dsp:txBody>
      <dsp:txXfrm>
        <a:off x="381478" y="75975"/>
        <a:ext cx="3481533" cy="377371"/>
      </dsp:txXfrm>
    </dsp:sp>
    <dsp:sp modelId="{4D99DB7E-8EC0-1645-B3F6-B65EB6BC321F}">
      <dsp:nvSpPr>
        <dsp:cNvPr id="0" name=""/>
        <dsp:cNvSpPr/>
      </dsp:nvSpPr>
      <dsp:spPr>
        <a:xfrm>
          <a:off x="192793"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C3425F-FEC6-AB4D-884D-271E15A6D051}">
      <dsp:nvSpPr>
        <dsp:cNvPr id="0" name=""/>
        <dsp:cNvSpPr/>
      </dsp:nvSpPr>
      <dsp:spPr>
        <a:xfrm>
          <a:off x="14939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63C26-EFEC-D548-805D-1F3D298E3A30}">
      <dsp:nvSpPr>
        <dsp:cNvPr id="0" name=""/>
        <dsp:cNvSpPr/>
      </dsp:nvSpPr>
      <dsp:spPr>
        <a:xfrm>
          <a:off x="247009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b="1" kern="1200"/>
            <a:t>The family agrees to begin medication management and outpatient therapy.</a:t>
          </a:r>
        </a:p>
        <a:p>
          <a:pPr marL="0" lvl="0" indent="0" algn="l" defTabSz="666750">
            <a:lnSpc>
              <a:spcPct val="90000"/>
            </a:lnSpc>
            <a:spcBef>
              <a:spcPct val="0"/>
            </a:spcBef>
            <a:spcAft>
              <a:spcPct val="35000"/>
            </a:spcAft>
            <a:buNone/>
          </a:pPr>
          <a:r>
            <a:rPr lang="en-US" sz="1500" b="1" kern="1200"/>
            <a:t>Vanderbilt and NQLS scores show need to improve school-related satisfaction and performance.</a:t>
          </a:r>
        </a:p>
      </dsp:txBody>
      <dsp:txXfrm>
        <a:off x="2470093" y="2685142"/>
        <a:ext cx="3481533" cy="580571"/>
      </dsp:txXfrm>
    </dsp:sp>
    <dsp:sp modelId="{CD07474B-C94A-C740-ABBB-B6BEA8DDC24E}">
      <dsp:nvSpPr>
        <dsp:cNvPr id="0" name=""/>
        <dsp:cNvSpPr/>
      </dsp:nvSpPr>
      <dsp:spPr>
        <a:xfrm>
          <a:off x="247009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Treatment Planning</a:t>
          </a:r>
        </a:p>
      </dsp:txBody>
      <dsp:txXfrm>
        <a:off x="2470093" y="2322285"/>
        <a:ext cx="3481533" cy="362857"/>
      </dsp:txXfrm>
    </dsp:sp>
    <dsp:sp modelId="{EF1B1142-9CEE-4B4A-BF75-89C293CE4C6C}">
      <dsp:nvSpPr>
        <dsp:cNvPr id="0" name=""/>
        <dsp:cNvSpPr/>
      </dsp:nvSpPr>
      <dsp:spPr>
        <a:xfrm>
          <a:off x="2281408"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0711626-A0A3-DB4D-B193-4F8E873C6F3D}">
      <dsp:nvSpPr>
        <dsp:cNvPr id="0" name=""/>
        <dsp:cNvSpPr/>
      </dsp:nvSpPr>
      <dsp:spPr>
        <a:xfrm>
          <a:off x="223801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A58305-9E38-3A44-B05B-DB3FA537F307}">
      <dsp:nvSpPr>
        <dsp:cNvPr id="0" name=""/>
        <dsp:cNvSpPr/>
      </dsp:nvSpPr>
      <dsp:spPr>
        <a:xfrm>
          <a:off x="4534651" y="453346"/>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solidFill>
                <a:schemeClr val="bg2">
                  <a:lumMod val="90000"/>
                </a:schemeClr>
              </a:solidFill>
            </a:rPr>
            <a:t>Use of routine measure administration to monitor response to treatment, treatment effectiveness, and adjust treatment as needed. </a:t>
          </a:r>
        </a:p>
      </dsp:txBody>
      <dsp:txXfrm>
        <a:off x="4534651" y="453346"/>
        <a:ext cx="3481533" cy="1074057"/>
      </dsp:txXfrm>
    </dsp:sp>
    <dsp:sp modelId="{4D26A799-1893-9A45-B557-D9D744A0110E}">
      <dsp:nvSpPr>
        <dsp:cNvPr id="0" name=""/>
        <dsp:cNvSpPr/>
      </dsp:nvSpPr>
      <dsp:spPr>
        <a:xfrm>
          <a:off x="4534651" y="75975"/>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Progress Monitoring</a:t>
          </a:r>
        </a:p>
      </dsp:txBody>
      <dsp:txXfrm>
        <a:off x="4534651" y="75975"/>
        <a:ext cx="3481533" cy="377371"/>
      </dsp:txXfrm>
    </dsp:sp>
    <dsp:sp modelId="{24CC84F0-CB49-754B-BA72-B2FD335442DB}">
      <dsp:nvSpPr>
        <dsp:cNvPr id="0" name=""/>
        <dsp:cNvSpPr/>
      </dsp:nvSpPr>
      <dsp:spPr>
        <a:xfrm>
          <a:off x="4370022"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B34852-C947-BB41-8B71-95F498B76196}">
      <dsp:nvSpPr>
        <dsp:cNvPr id="0" name=""/>
        <dsp:cNvSpPr/>
      </dsp:nvSpPr>
      <dsp:spPr>
        <a:xfrm>
          <a:off x="432662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943F07-0AAD-B241-95FC-CC50C0F4E9B6}">
      <dsp:nvSpPr>
        <dsp:cNvPr id="0" name=""/>
        <dsp:cNvSpPr/>
      </dsp:nvSpPr>
      <dsp:spPr>
        <a:xfrm>
          <a:off x="664732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kern="1200">
              <a:solidFill>
                <a:schemeClr val="bg2">
                  <a:lumMod val="90000"/>
                </a:schemeClr>
              </a:solidFill>
            </a:rPr>
            <a:t>Use of quantitative data to assist with decision-making relative to readiness for discharge. </a:t>
          </a:r>
        </a:p>
      </dsp:txBody>
      <dsp:txXfrm>
        <a:off x="6647323" y="2685142"/>
        <a:ext cx="3481533" cy="580571"/>
      </dsp:txXfrm>
    </dsp:sp>
    <dsp:sp modelId="{98878AFB-22BF-D442-8EE3-D2C24BE38BFC}">
      <dsp:nvSpPr>
        <dsp:cNvPr id="0" name=""/>
        <dsp:cNvSpPr/>
      </dsp:nvSpPr>
      <dsp:spPr>
        <a:xfrm>
          <a:off x="664732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Discharge/ Termination </a:t>
          </a:r>
        </a:p>
      </dsp:txBody>
      <dsp:txXfrm>
        <a:off x="6647323" y="2322285"/>
        <a:ext cx="3481533" cy="362857"/>
      </dsp:txXfrm>
    </dsp:sp>
    <dsp:sp modelId="{A6170E9E-48F3-7148-906E-437950507A41}">
      <dsp:nvSpPr>
        <dsp:cNvPr id="0" name=""/>
        <dsp:cNvSpPr/>
      </dsp:nvSpPr>
      <dsp:spPr>
        <a:xfrm>
          <a:off x="6458637"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82CA32B-189F-8C4A-AAC9-2A7742A3DE03}">
      <dsp:nvSpPr>
        <dsp:cNvPr id="0" name=""/>
        <dsp:cNvSpPr/>
      </dsp:nvSpPr>
      <dsp:spPr>
        <a:xfrm>
          <a:off x="641524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F567E-8AAB-A344-8BBB-12398AE57151}">
      <dsp:nvSpPr>
        <dsp:cNvPr id="0" name=""/>
        <dsp:cNvSpPr/>
      </dsp:nvSpPr>
      <dsp:spPr>
        <a:xfrm>
          <a:off x="0" y="1814285"/>
          <a:ext cx="10468678" cy="0"/>
        </a:xfrm>
        <a:prstGeom prst="line">
          <a:avLst/>
        </a:prstGeom>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sp:spPr>
      <dsp:style>
        <a:lnRef idx="2">
          <a:scrgbClr r="0" g="0" b="0"/>
        </a:lnRef>
        <a:fillRef idx="1">
          <a:scrgbClr r="0" g="0" b="0"/>
        </a:fillRef>
        <a:effectRef idx="0">
          <a:scrgbClr r="0" g="0" b="0"/>
        </a:effectRef>
        <a:fontRef idx="minor"/>
      </dsp:style>
    </dsp:sp>
    <dsp:sp modelId="{6D5DA738-6B85-8D4A-B177-EA4845A4AE89}">
      <dsp:nvSpPr>
        <dsp:cNvPr id="0" name=""/>
        <dsp:cNvSpPr/>
      </dsp:nvSpPr>
      <dsp:spPr>
        <a:xfrm>
          <a:off x="381478" y="453346"/>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1" kern="1200"/>
            <a:t>PSC-17 shows elevated attention and internalizing symptoms.</a:t>
          </a:r>
        </a:p>
        <a:p>
          <a:pPr marL="0" lvl="0" indent="0" algn="l" defTabSz="666750">
            <a:lnSpc>
              <a:spcPct val="90000"/>
            </a:lnSpc>
            <a:spcBef>
              <a:spcPct val="0"/>
            </a:spcBef>
            <a:spcAft>
              <a:spcPct val="35000"/>
            </a:spcAft>
            <a:buNone/>
          </a:pPr>
          <a:r>
            <a:rPr lang="en-US" sz="1500" b="1" kern="1200"/>
            <a:t>Vanderbilt confirms ADHD, predominately inattentive type.</a:t>
          </a:r>
        </a:p>
        <a:p>
          <a:pPr marL="0" lvl="0" indent="0" algn="l" defTabSz="666750">
            <a:lnSpc>
              <a:spcPct val="90000"/>
            </a:lnSpc>
            <a:spcBef>
              <a:spcPct val="0"/>
            </a:spcBef>
            <a:spcAft>
              <a:spcPct val="35000"/>
            </a:spcAft>
            <a:buNone/>
          </a:pPr>
          <a:r>
            <a:rPr lang="en-US" sz="1500" b="1" kern="1200"/>
            <a:t>NQLS shows overall low quality of life.</a:t>
          </a:r>
        </a:p>
      </dsp:txBody>
      <dsp:txXfrm>
        <a:off x="381478" y="453346"/>
        <a:ext cx="3481533" cy="1074057"/>
      </dsp:txXfrm>
    </dsp:sp>
    <dsp:sp modelId="{9F3B607F-F6B3-1145-A876-BFABF96D0635}">
      <dsp:nvSpPr>
        <dsp:cNvPr id="0" name=""/>
        <dsp:cNvSpPr/>
      </dsp:nvSpPr>
      <dsp:spPr>
        <a:xfrm>
          <a:off x="381478" y="75975"/>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Case Conceptualization</a:t>
          </a:r>
        </a:p>
      </dsp:txBody>
      <dsp:txXfrm>
        <a:off x="381478" y="75975"/>
        <a:ext cx="3481533" cy="377371"/>
      </dsp:txXfrm>
    </dsp:sp>
    <dsp:sp modelId="{4D99DB7E-8EC0-1645-B3F6-B65EB6BC321F}">
      <dsp:nvSpPr>
        <dsp:cNvPr id="0" name=""/>
        <dsp:cNvSpPr/>
      </dsp:nvSpPr>
      <dsp:spPr>
        <a:xfrm>
          <a:off x="192793"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C3425F-FEC6-AB4D-884D-271E15A6D051}">
      <dsp:nvSpPr>
        <dsp:cNvPr id="0" name=""/>
        <dsp:cNvSpPr/>
      </dsp:nvSpPr>
      <dsp:spPr>
        <a:xfrm>
          <a:off x="14939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63C26-EFEC-D548-805D-1F3D298E3A30}">
      <dsp:nvSpPr>
        <dsp:cNvPr id="0" name=""/>
        <dsp:cNvSpPr/>
      </dsp:nvSpPr>
      <dsp:spPr>
        <a:xfrm>
          <a:off x="247009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b="1" kern="1200"/>
            <a:t>The family agrees to begin medication management and outpatient therapy.</a:t>
          </a:r>
        </a:p>
        <a:p>
          <a:pPr marL="0" lvl="0" indent="0" algn="l" defTabSz="666750">
            <a:lnSpc>
              <a:spcPct val="90000"/>
            </a:lnSpc>
            <a:spcBef>
              <a:spcPct val="0"/>
            </a:spcBef>
            <a:spcAft>
              <a:spcPct val="35000"/>
            </a:spcAft>
            <a:buNone/>
          </a:pPr>
          <a:r>
            <a:rPr lang="en-US" sz="1500" b="1" kern="1200"/>
            <a:t>Vanderbilt and NQLS scores show need to improve school-related satisfaction and performance.</a:t>
          </a:r>
        </a:p>
      </dsp:txBody>
      <dsp:txXfrm>
        <a:off x="2470093" y="2685142"/>
        <a:ext cx="3481533" cy="580571"/>
      </dsp:txXfrm>
    </dsp:sp>
    <dsp:sp modelId="{CD07474B-C94A-C740-ABBB-B6BEA8DDC24E}">
      <dsp:nvSpPr>
        <dsp:cNvPr id="0" name=""/>
        <dsp:cNvSpPr/>
      </dsp:nvSpPr>
      <dsp:spPr>
        <a:xfrm>
          <a:off x="247009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Treatment Planning</a:t>
          </a:r>
        </a:p>
      </dsp:txBody>
      <dsp:txXfrm>
        <a:off x="2470093" y="2322285"/>
        <a:ext cx="3481533" cy="362857"/>
      </dsp:txXfrm>
    </dsp:sp>
    <dsp:sp modelId="{EF1B1142-9CEE-4B4A-BF75-89C293CE4C6C}">
      <dsp:nvSpPr>
        <dsp:cNvPr id="0" name=""/>
        <dsp:cNvSpPr/>
      </dsp:nvSpPr>
      <dsp:spPr>
        <a:xfrm>
          <a:off x="2281408"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0711626-A0A3-DB4D-B193-4F8E873C6F3D}">
      <dsp:nvSpPr>
        <dsp:cNvPr id="0" name=""/>
        <dsp:cNvSpPr/>
      </dsp:nvSpPr>
      <dsp:spPr>
        <a:xfrm>
          <a:off x="223801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A58305-9E38-3A44-B05B-DB3FA537F307}">
      <dsp:nvSpPr>
        <dsp:cNvPr id="0" name=""/>
        <dsp:cNvSpPr/>
      </dsp:nvSpPr>
      <dsp:spPr>
        <a:xfrm>
          <a:off x="4534651" y="453346"/>
          <a:ext cx="3481533" cy="1074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1" kern="1200">
              <a:solidFill>
                <a:schemeClr val="tx1"/>
              </a:solidFill>
            </a:rPr>
            <a:t>All scores have improved with medication and therapy for 60 days.</a:t>
          </a:r>
        </a:p>
        <a:p>
          <a:pPr marL="0" lvl="0" indent="0" algn="l" defTabSz="666750">
            <a:lnSpc>
              <a:spcPct val="90000"/>
            </a:lnSpc>
            <a:spcBef>
              <a:spcPct val="0"/>
            </a:spcBef>
            <a:spcAft>
              <a:spcPct val="35000"/>
            </a:spcAft>
            <a:buNone/>
          </a:pPr>
          <a:r>
            <a:rPr lang="en-US" sz="1500" b="1" kern="1200">
              <a:solidFill>
                <a:schemeClr val="tx1"/>
              </a:solidFill>
            </a:rPr>
            <a:t>Her parents report decreased conflict in the home, and she is showing more signs of independence with schoolwork.</a:t>
          </a:r>
        </a:p>
      </dsp:txBody>
      <dsp:txXfrm>
        <a:off x="4534651" y="453346"/>
        <a:ext cx="3481533" cy="1074057"/>
      </dsp:txXfrm>
    </dsp:sp>
    <dsp:sp modelId="{4D26A799-1893-9A45-B557-D9D744A0110E}">
      <dsp:nvSpPr>
        <dsp:cNvPr id="0" name=""/>
        <dsp:cNvSpPr/>
      </dsp:nvSpPr>
      <dsp:spPr>
        <a:xfrm>
          <a:off x="4534651" y="75975"/>
          <a:ext cx="3481533" cy="377371"/>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Progress Monitoring</a:t>
          </a:r>
        </a:p>
      </dsp:txBody>
      <dsp:txXfrm>
        <a:off x="4534651" y="75975"/>
        <a:ext cx="3481533" cy="377371"/>
      </dsp:txXfrm>
    </dsp:sp>
    <dsp:sp modelId="{24CC84F0-CB49-754B-BA72-B2FD335442DB}">
      <dsp:nvSpPr>
        <dsp:cNvPr id="0" name=""/>
        <dsp:cNvSpPr/>
      </dsp:nvSpPr>
      <dsp:spPr>
        <a:xfrm>
          <a:off x="4370022" y="362857"/>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B34852-C947-BB41-8B71-95F498B76196}">
      <dsp:nvSpPr>
        <dsp:cNvPr id="0" name=""/>
        <dsp:cNvSpPr/>
      </dsp:nvSpPr>
      <dsp:spPr>
        <a:xfrm>
          <a:off x="4326625"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943F07-0AAD-B241-95FC-CC50C0F4E9B6}">
      <dsp:nvSpPr>
        <dsp:cNvPr id="0" name=""/>
        <dsp:cNvSpPr/>
      </dsp:nvSpPr>
      <dsp:spPr>
        <a:xfrm>
          <a:off x="6647323" y="2685142"/>
          <a:ext cx="3481533" cy="580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142875" bIns="95250" numCol="1" spcCol="1270" anchor="t" anchorCtr="0">
          <a:noAutofit/>
        </a:bodyPr>
        <a:lstStyle/>
        <a:p>
          <a:pPr marL="0" lvl="0" indent="0" algn="l" defTabSz="666750">
            <a:lnSpc>
              <a:spcPct val="90000"/>
            </a:lnSpc>
            <a:spcBef>
              <a:spcPct val="0"/>
            </a:spcBef>
            <a:spcAft>
              <a:spcPct val="35000"/>
            </a:spcAft>
            <a:buNone/>
          </a:pPr>
          <a:r>
            <a:rPr lang="en-US" sz="1500" kern="1200">
              <a:solidFill>
                <a:schemeClr val="bg2">
                  <a:lumMod val="90000"/>
                </a:schemeClr>
              </a:solidFill>
            </a:rPr>
            <a:t>Use of quantitative data to assist with decision-making relative to readiness for discharge. </a:t>
          </a:r>
        </a:p>
      </dsp:txBody>
      <dsp:txXfrm>
        <a:off x="6647323" y="2685142"/>
        <a:ext cx="3481533" cy="580571"/>
      </dsp:txXfrm>
    </dsp:sp>
    <dsp:sp modelId="{98878AFB-22BF-D442-8EE3-D2C24BE38BFC}">
      <dsp:nvSpPr>
        <dsp:cNvPr id="0" name=""/>
        <dsp:cNvSpPr/>
      </dsp:nvSpPr>
      <dsp:spPr>
        <a:xfrm>
          <a:off x="6647323" y="2322285"/>
          <a:ext cx="3481533" cy="362857"/>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latin typeface="+mj-lt"/>
            </a:rPr>
            <a:t>Discharge/ Termination </a:t>
          </a:r>
        </a:p>
      </dsp:txBody>
      <dsp:txXfrm>
        <a:off x="6647323" y="2322285"/>
        <a:ext cx="3481533" cy="362857"/>
      </dsp:txXfrm>
    </dsp:sp>
    <dsp:sp modelId="{A6170E9E-48F3-7148-906E-437950507A41}">
      <dsp:nvSpPr>
        <dsp:cNvPr id="0" name=""/>
        <dsp:cNvSpPr/>
      </dsp:nvSpPr>
      <dsp:spPr>
        <a:xfrm>
          <a:off x="6458637" y="1814285"/>
          <a:ext cx="0" cy="1451428"/>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82CA32B-189F-8C4A-AAC9-2A7742A3DE03}">
      <dsp:nvSpPr>
        <dsp:cNvPr id="0" name=""/>
        <dsp:cNvSpPr/>
      </dsp:nvSpPr>
      <dsp:spPr>
        <a:xfrm>
          <a:off x="6415240" y="1770887"/>
          <a:ext cx="86795" cy="86795"/>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3/layout/SimpleTimelineDefaultVariant#1">
  <dgm:title val="Simple Timeline"/>
  <dgm:desc val="Displays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align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050">
                    <a:solidFill>
                      <a:srgbClr val="000000"/>
                    </a:solidFill>
                    <a:tailEnd type="arrow" w="med" len="med"/>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arrow" w="med" len="med"/>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1"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fact="2"/>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SimpleTimelineDefaultVariant#1">
  <dgm:title val="Simple Timeline"/>
  <dgm:desc val="Displays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align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050">
                    <a:solidFill>
                      <a:srgbClr val="000000"/>
                    </a:solidFill>
                    <a:tailEnd type="arrow" w="med" len="med"/>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arrow" w="med" len="med"/>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1"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fact="2"/>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SimpleTimelineDefaultVariant#1">
  <dgm:title val="Simple Timeline"/>
  <dgm:desc val="Displays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align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050">
                    <a:solidFill>
                      <a:srgbClr val="000000"/>
                    </a:solidFill>
                    <a:tailEnd type="arrow" w="med" len="med"/>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arrow" w="med" len="med"/>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1"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fact="2"/>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SimpleTimelineDefaultVariant#1">
  <dgm:title val="Simple Timeline"/>
  <dgm:desc val="Displays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align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050">
                    <a:solidFill>
                      <a:srgbClr val="000000"/>
                    </a:solidFill>
                    <a:tailEnd type="arrow" w="med" len="med"/>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arrow" w="med" len="med"/>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55"/>
                        <dgm:constr type="t" for="ch" forName="L1TextContainer1" refType="h" fact="0.67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1"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fact="2"/>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55"/>
                        <dgm:constr type="t" for="ch" forName="L1TextContainer" refType="h" fact="0.67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7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6" fact="NaN" max="NaN"/>
                </dgm:ruleLst>
              </dgm:layoutNode>
              <dgm:layoutNode name="L1TextContainer"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20"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362808-757E-4C81-8D93-39A602CB86EF}"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0F2B26-D534-4458-AC44-ABC512A9E800}" type="slidenum">
              <a:rPr lang="en-US" smtClean="0"/>
              <a:t>‹#›</a:t>
            </a:fld>
            <a:endParaRPr lang="en-US"/>
          </a:p>
        </p:txBody>
      </p:sp>
    </p:spTree>
    <p:extLst>
      <p:ext uri="{BB962C8B-B14F-4D97-AF65-F5344CB8AC3E}">
        <p14:creationId xmlns:p14="http://schemas.microsoft.com/office/powerpoint/2010/main" val="4206207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Good morning, everyone! I appreciate you all being here bright and early. My name is Courtney Cleminshaw-Mahan. I am a psychologist on the outpatient Westerville CTH outpatient team. I have no disclosures. Now that I have introduced myself, turn to your neighbor and if it is someone you do not know, introduce yourself, because during the next hour, we are going to have many opportunities to take advantage of our in-person setting today and practice some skills together. Specifically, this presentation has several objectives</a:t>
            </a:r>
          </a:p>
        </p:txBody>
      </p:sp>
      <p:sp>
        <p:nvSpPr>
          <p:cNvPr id="4" name="Slide Number Placeholder 3"/>
          <p:cNvSpPr>
            <a:spLocks noGrp="1"/>
          </p:cNvSpPr>
          <p:nvPr>
            <p:ph type="sldNum" sz="quarter" idx="5"/>
          </p:nvPr>
        </p:nvSpPr>
        <p:spPr/>
        <p:txBody>
          <a:bodyPr/>
          <a:lstStyle/>
          <a:p>
            <a:fld id="{950F2B26-D534-4458-AC44-ABC512A9E800}" type="slidenum">
              <a:rPr lang="en-US" smtClean="0"/>
              <a:t>1</a:t>
            </a:fld>
            <a:endParaRPr lang="en-US"/>
          </a:p>
        </p:txBody>
      </p:sp>
    </p:spTree>
    <p:extLst>
      <p:ext uri="{BB962C8B-B14F-4D97-AF65-F5344CB8AC3E}">
        <p14:creationId xmlns:p14="http://schemas.microsoft.com/office/powerpoint/2010/main" val="2632214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A35E03-66B4-46B9-8495-382437CC27DB}" type="slidenum">
              <a:rPr lang="en-US" altLang="en-US" smtClean="0"/>
              <a:pPr/>
              <a:t>2</a:t>
            </a:fld>
            <a:endParaRPr lang="en-US" altLang="en-US"/>
          </a:p>
        </p:txBody>
      </p:sp>
    </p:spTree>
    <p:extLst>
      <p:ext uri="{BB962C8B-B14F-4D97-AF65-F5344CB8AC3E}">
        <p14:creationId xmlns:p14="http://schemas.microsoft.com/office/powerpoint/2010/main" val="2867127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4</a:t>
            </a:fld>
            <a:endParaRPr lang="en-US"/>
          </a:p>
        </p:txBody>
      </p:sp>
    </p:spTree>
    <p:extLst>
      <p:ext uri="{BB962C8B-B14F-4D97-AF65-F5344CB8AC3E}">
        <p14:creationId xmlns:p14="http://schemas.microsoft.com/office/powerpoint/2010/main" val="953124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Reliability: does it measure something real? Is this score correctly signaling to something?</a:t>
            </a:r>
          </a:p>
          <a:p>
            <a:r>
              <a:rPr lang="en-US" dirty="0"/>
              <a:t>Norms: what’s typical for this age? How does this child compare to others their age?</a:t>
            </a:r>
          </a:p>
          <a:p>
            <a:r>
              <a:rPr lang="en-US" dirty="0"/>
              <a:t>Reliable change: is the observed change real or is it “noise?”</a:t>
            </a:r>
          </a:p>
          <a:p>
            <a:r>
              <a:rPr lang="en-US" dirty="0"/>
              <a:t>Clinical significance benchmarks: how concerning is this score? How does it “measure up” to other kids?</a:t>
            </a:r>
          </a:p>
        </p:txBody>
      </p:sp>
      <p:sp>
        <p:nvSpPr>
          <p:cNvPr id="4" name="Slide Number Placeholder 3"/>
          <p:cNvSpPr>
            <a:spLocks noGrp="1"/>
          </p:cNvSpPr>
          <p:nvPr>
            <p:ph type="sldNum" sz="quarter" idx="5"/>
          </p:nvPr>
        </p:nvSpPr>
        <p:spPr/>
        <p:txBody>
          <a:bodyPr/>
          <a:lstStyle/>
          <a:p>
            <a:fld id="{950F2B26-D534-4458-AC44-ABC512A9E800}" type="slidenum">
              <a:rPr lang="en-US" smtClean="0"/>
              <a:t>5</a:t>
            </a:fld>
            <a:endParaRPr lang="en-US"/>
          </a:p>
        </p:txBody>
      </p:sp>
    </p:spTree>
    <p:extLst>
      <p:ext uri="{BB962C8B-B14F-4D97-AF65-F5344CB8AC3E}">
        <p14:creationId xmlns:p14="http://schemas.microsoft.com/office/powerpoint/2010/main" val="4094068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7</a:t>
            </a:fld>
            <a:endParaRPr lang="en-US"/>
          </a:p>
        </p:txBody>
      </p:sp>
    </p:spTree>
    <p:extLst>
      <p:ext uri="{BB962C8B-B14F-4D97-AF65-F5344CB8AC3E}">
        <p14:creationId xmlns:p14="http://schemas.microsoft.com/office/powerpoint/2010/main" val="3749736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Jordan is a 12-year-old female with declining grades, incomplete assignments, forgetfulness, and increasing homework frustration.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 parents brought her in to be seen in an outpatient BH clinic after these concerns got worse going back to school this year.</a:t>
            </a:r>
            <a:endParaRPr lang="en-US" dirty="0"/>
          </a:p>
        </p:txBody>
      </p:sp>
      <p:sp>
        <p:nvSpPr>
          <p:cNvPr id="4" name="Slide Number Placeholder 3"/>
          <p:cNvSpPr>
            <a:spLocks noGrp="1"/>
          </p:cNvSpPr>
          <p:nvPr>
            <p:ph type="sldNum" sz="quarter" idx="5"/>
          </p:nvPr>
        </p:nvSpPr>
        <p:spPr/>
        <p:txBody>
          <a:bodyPr/>
          <a:lstStyle/>
          <a:p>
            <a:fld id="{950F2B26-D534-4458-AC44-ABC512A9E800}" type="slidenum">
              <a:rPr lang="en-US" smtClean="0"/>
              <a:t>8</a:t>
            </a:fld>
            <a:endParaRPr lang="en-US"/>
          </a:p>
        </p:txBody>
      </p:sp>
    </p:spTree>
    <p:extLst>
      <p:ext uri="{BB962C8B-B14F-4D97-AF65-F5344CB8AC3E}">
        <p14:creationId xmlns:p14="http://schemas.microsoft.com/office/powerpoint/2010/main" val="1704946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The PSC-17 is a reliable and valid measure of broad mental and behavioral health concerns.</a:t>
            </a:r>
          </a:p>
          <a:p>
            <a:endParaRPr lang="en-US"/>
          </a:p>
          <a:p>
            <a:r>
              <a:rPr lang="en-US"/>
              <a:t>It has three subscales: attention, externalizing, and internalizing.</a:t>
            </a:r>
          </a:p>
        </p:txBody>
      </p:sp>
      <p:sp>
        <p:nvSpPr>
          <p:cNvPr id="4" name="Slide Number Placeholder 3"/>
          <p:cNvSpPr>
            <a:spLocks noGrp="1"/>
          </p:cNvSpPr>
          <p:nvPr>
            <p:ph type="sldNum" sz="quarter" idx="5"/>
          </p:nvPr>
        </p:nvSpPr>
        <p:spPr/>
        <p:txBody>
          <a:bodyPr/>
          <a:lstStyle/>
          <a:p>
            <a:fld id="{950F2B26-D534-4458-AC44-ABC512A9E800}" type="slidenum">
              <a:rPr lang="en-US" smtClean="0"/>
              <a:t>10</a:t>
            </a:fld>
            <a:endParaRPr lang="en-US"/>
          </a:p>
        </p:txBody>
      </p:sp>
    </p:spTree>
    <p:extLst>
      <p:ext uri="{BB962C8B-B14F-4D97-AF65-F5344CB8AC3E}">
        <p14:creationId xmlns:p14="http://schemas.microsoft.com/office/powerpoint/2010/main" val="2657372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AAAD-8D21-85FE-F592-FB9D329AD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C1F6D-B559-D146-E73A-11EAF53DC0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FD3F09-8DD0-98EF-95DF-7A89177EC3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6F0AA7-34E4-B063-9DF4-0599A271871F}"/>
              </a:ext>
            </a:extLst>
          </p:cNvPr>
          <p:cNvSpPr>
            <a:spLocks noGrp="1"/>
          </p:cNvSpPr>
          <p:nvPr>
            <p:ph type="sldNum" sz="quarter" idx="5"/>
          </p:nvPr>
        </p:nvSpPr>
        <p:spPr/>
        <p:txBody>
          <a:bodyPr/>
          <a:lstStyle/>
          <a:p>
            <a:fld id="{950F2B26-D534-4458-AC44-ABC512A9E800}" type="slidenum">
              <a:rPr lang="en-US" smtClean="0"/>
              <a:t>11</a:t>
            </a:fld>
            <a:endParaRPr lang="en-US"/>
          </a:p>
        </p:txBody>
      </p:sp>
    </p:spTree>
    <p:extLst>
      <p:ext uri="{BB962C8B-B14F-4D97-AF65-F5344CB8AC3E}">
        <p14:creationId xmlns:p14="http://schemas.microsoft.com/office/powerpoint/2010/main" val="3383304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14</a:t>
            </a:fld>
            <a:endParaRPr lang="en-US"/>
          </a:p>
        </p:txBody>
      </p:sp>
    </p:spTree>
    <p:extLst>
      <p:ext uri="{BB962C8B-B14F-4D97-AF65-F5344CB8AC3E}">
        <p14:creationId xmlns:p14="http://schemas.microsoft.com/office/powerpoint/2010/main" val="1452600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15</a:t>
            </a:fld>
            <a:endParaRPr lang="en-US"/>
          </a:p>
        </p:txBody>
      </p:sp>
    </p:spTree>
    <p:extLst>
      <p:ext uri="{BB962C8B-B14F-4D97-AF65-F5344CB8AC3E}">
        <p14:creationId xmlns:p14="http://schemas.microsoft.com/office/powerpoint/2010/main" val="827669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18</a:t>
            </a:fld>
            <a:endParaRPr lang="en-US"/>
          </a:p>
        </p:txBody>
      </p:sp>
    </p:spTree>
    <p:extLst>
      <p:ext uri="{BB962C8B-B14F-4D97-AF65-F5344CB8AC3E}">
        <p14:creationId xmlns:p14="http://schemas.microsoft.com/office/powerpoint/2010/main" val="442716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D6638-074E-BA5B-E4B9-D4070C34C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98FB0-F097-24AC-CB52-E3C0A8D1E0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29361C-2A88-43C0-66DE-40CB8A0D880F}"/>
              </a:ext>
            </a:extLst>
          </p:cNvPr>
          <p:cNvSpPr>
            <a:spLocks noGrp="1"/>
          </p:cNvSpPr>
          <p:nvPr>
            <p:ph type="body" idx="1"/>
          </p:nvPr>
        </p:nvSpPr>
        <p:spPr/>
        <p:txBody>
          <a:bodyPr/>
          <a:lstStyle/>
          <a:p>
            <a:r>
              <a:rPr lang="en-US" sz="1200" b="0" i="0" kern="1200">
                <a:solidFill>
                  <a:schemeClr val="tx1"/>
                </a:solidFill>
                <a:effectLst/>
                <a:latin typeface="+mn-lt"/>
                <a:ea typeface="+mn-ea"/>
                <a:cs typeface="+mn-cs"/>
              </a:rPr>
              <a:t>Jordan is a 12-year-old female with declining grades, incomplete assignments, forgetfulness, and increasing homework frustration.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Her parents brought her in to be seen in an outpatient BH clinic after these concerns got worse going back to school this year.</a:t>
            </a:r>
            <a:endParaRPr lang="en-US"/>
          </a:p>
        </p:txBody>
      </p:sp>
      <p:sp>
        <p:nvSpPr>
          <p:cNvPr id="4" name="Slide Number Placeholder 3">
            <a:extLst>
              <a:ext uri="{FF2B5EF4-FFF2-40B4-BE49-F238E27FC236}">
                <a16:creationId xmlns:a16="http://schemas.microsoft.com/office/drawing/2014/main" id="{6FA7C6D9-D966-C4FB-CEC5-5886F3FB8687}"/>
              </a:ext>
            </a:extLst>
          </p:cNvPr>
          <p:cNvSpPr>
            <a:spLocks noGrp="1"/>
          </p:cNvSpPr>
          <p:nvPr>
            <p:ph type="sldNum" sz="quarter" idx="5"/>
          </p:nvPr>
        </p:nvSpPr>
        <p:spPr/>
        <p:txBody>
          <a:bodyPr/>
          <a:lstStyle/>
          <a:p>
            <a:fld id="{950F2B26-D534-4458-AC44-ABC512A9E800}" type="slidenum">
              <a:rPr lang="en-US" smtClean="0"/>
              <a:t>19</a:t>
            </a:fld>
            <a:endParaRPr lang="en-US"/>
          </a:p>
        </p:txBody>
      </p:sp>
    </p:spTree>
    <p:extLst>
      <p:ext uri="{BB962C8B-B14F-4D97-AF65-F5344CB8AC3E}">
        <p14:creationId xmlns:p14="http://schemas.microsoft.com/office/powerpoint/2010/main" val="2864683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4DA1F-5C4E-07BE-29C9-4A8F8C9D1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D5080-29FF-50EA-FAA9-681D958ACB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C98A2E-DB31-3602-41F4-5108DA6722F8}"/>
              </a:ext>
            </a:extLst>
          </p:cNvPr>
          <p:cNvSpPr>
            <a:spLocks noGrp="1"/>
          </p:cNvSpPr>
          <p:nvPr>
            <p:ph type="body" idx="1"/>
          </p:nvPr>
        </p:nvSpPr>
        <p:spPr/>
        <p:txBody>
          <a:bodyPr/>
          <a:lstStyle/>
          <a:p>
            <a:r>
              <a:rPr lang="en-US" sz="1200" b="0" i="0" kern="1200">
                <a:solidFill>
                  <a:schemeClr val="tx1"/>
                </a:solidFill>
                <a:effectLst/>
                <a:latin typeface="+mn-lt"/>
                <a:ea typeface="+mn-ea"/>
                <a:cs typeface="+mn-cs"/>
              </a:rPr>
              <a:t>Jordan is a 10-year-old female with declining grades, incomplete assignments, forgetfulness, and increasing homework frustration.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Her parents brought her in to be seen in an outpatient BH clinic after these concerns got worse going back to school this year.</a:t>
            </a:r>
            <a:endParaRPr lang="en-US"/>
          </a:p>
        </p:txBody>
      </p:sp>
      <p:sp>
        <p:nvSpPr>
          <p:cNvPr id="4" name="Slide Number Placeholder 3">
            <a:extLst>
              <a:ext uri="{FF2B5EF4-FFF2-40B4-BE49-F238E27FC236}">
                <a16:creationId xmlns:a16="http://schemas.microsoft.com/office/drawing/2014/main" id="{841CAF41-CF8B-167C-E6AF-54E5E1E2A47E}"/>
              </a:ext>
            </a:extLst>
          </p:cNvPr>
          <p:cNvSpPr>
            <a:spLocks noGrp="1"/>
          </p:cNvSpPr>
          <p:nvPr>
            <p:ph type="sldNum" sz="quarter" idx="5"/>
          </p:nvPr>
        </p:nvSpPr>
        <p:spPr/>
        <p:txBody>
          <a:bodyPr/>
          <a:lstStyle/>
          <a:p>
            <a:fld id="{950F2B26-D534-4458-AC44-ABC512A9E800}" type="slidenum">
              <a:rPr lang="en-US" smtClean="0"/>
              <a:t>20</a:t>
            </a:fld>
            <a:endParaRPr lang="en-US"/>
          </a:p>
        </p:txBody>
      </p:sp>
    </p:spTree>
    <p:extLst>
      <p:ext uri="{BB962C8B-B14F-4D97-AF65-F5344CB8AC3E}">
        <p14:creationId xmlns:p14="http://schemas.microsoft.com/office/powerpoint/2010/main" val="1594886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21</a:t>
            </a:fld>
            <a:endParaRPr lang="en-US"/>
          </a:p>
        </p:txBody>
      </p:sp>
    </p:spTree>
    <p:extLst>
      <p:ext uri="{BB962C8B-B14F-4D97-AF65-F5344CB8AC3E}">
        <p14:creationId xmlns:p14="http://schemas.microsoft.com/office/powerpoint/2010/main" val="811260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MAP vs Normative, MAP youth scored an average of 5 points lower than the normative sample.</a:t>
            </a:r>
          </a:p>
          <a:p>
            <a:endParaRPr lang="en-US" dirty="0"/>
          </a:p>
          <a:p>
            <a:r>
              <a:rPr lang="en-US" dirty="0"/>
              <a:t>More than 2x the MID, this change is representative of an underlying latent trait difference.</a:t>
            </a:r>
          </a:p>
        </p:txBody>
      </p:sp>
      <p:sp>
        <p:nvSpPr>
          <p:cNvPr id="4" name="Slide Number Placeholder 3"/>
          <p:cNvSpPr>
            <a:spLocks noGrp="1"/>
          </p:cNvSpPr>
          <p:nvPr>
            <p:ph type="sldNum" sz="quarter" idx="5"/>
          </p:nvPr>
        </p:nvSpPr>
        <p:spPr/>
        <p:txBody>
          <a:bodyPr/>
          <a:lstStyle/>
          <a:p>
            <a:fld id="{950F2B26-D534-4458-AC44-ABC512A9E800}" type="slidenum">
              <a:rPr lang="en-US" smtClean="0"/>
              <a:t>22</a:t>
            </a:fld>
            <a:endParaRPr lang="en-US"/>
          </a:p>
        </p:txBody>
      </p:sp>
    </p:spTree>
    <p:extLst>
      <p:ext uri="{BB962C8B-B14F-4D97-AF65-F5344CB8AC3E}">
        <p14:creationId xmlns:p14="http://schemas.microsoft.com/office/powerpoint/2010/main" val="987977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0F2B26-D534-4458-AC44-ABC512A9E800}" type="slidenum">
              <a:rPr lang="en-US" smtClean="0"/>
              <a:t>26</a:t>
            </a:fld>
            <a:endParaRPr lang="en-US"/>
          </a:p>
        </p:txBody>
      </p:sp>
    </p:spTree>
    <p:extLst>
      <p:ext uri="{BB962C8B-B14F-4D97-AF65-F5344CB8AC3E}">
        <p14:creationId xmlns:p14="http://schemas.microsoft.com/office/powerpoint/2010/main" val="21193326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8.emf"/></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122363"/>
            <a:ext cx="9144000" cy="2387600"/>
          </a:xfrm>
        </p:spPr>
        <p:txBody>
          <a:bodyPr anchor="b"/>
          <a:lstStyle>
            <a:lvl1pPr algn="ctr">
              <a:defRPr sz="6000" b="1">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3602038"/>
            <a:ext cx="9144000" cy="1655762"/>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36389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122363"/>
            <a:ext cx="9144000" cy="2387600"/>
          </a:xfrm>
        </p:spPr>
        <p:txBody>
          <a:bodyPr anchor="b"/>
          <a:lstStyle>
            <a:lvl1pPr algn="ctr">
              <a:defRPr sz="6000" b="1">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3602038"/>
            <a:ext cx="9144000" cy="1655762"/>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5306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122363"/>
            <a:ext cx="9144000" cy="2387600"/>
          </a:xfrm>
        </p:spPr>
        <p:txBody>
          <a:bodyPr anchor="b"/>
          <a:lstStyle>
            <a:lvl1pPr algn="ctr">
              <a:defRPr sz="6000" b="1">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3602038"/>
            <a:ext cx="9144000" cy="1655762"/>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632494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628831"/>
            <a:ext cx="9144000" cy="2387600"/>
          </a:xfrm>
        </p:spPr>
        <p:txBody>
          <a:bodyPr anchor="b"/>
          <a:lstStyle>
            <a:lvl1pPr algn="ctr">
              <a:defRPr sz="6000" b="1">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4108506"/>
            <a:ext cx="9144000" cy="1120663"/>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descr="A black and white logo&#10;&#10;AI-generated content may be incorrect.">
            <a:extLst>
              <a:ext uri="{FF2B5EF4-FFF2-40B4-BE49-F238E27FC236}">
                <a16:creationId xmlns:a16="http://schemas.microsoft.com/office/drawing/2014/main" id="{CCC3DF15-58EE-F606-23D9-D85F504FF2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99715" y="5498510"/>
            <a:ext cx="4553029" cy="1006460"/>
          </a:xfrm>
          <a:prstGeom prst="rect">
            <a:avLst/>
          </a:prstGeom>
        </p:spPr>
      </p:pic>
      <p:pic>
        <p:nvPicPr>
          <p:cNvPr id="5" name="Picture 4">
            <a:extLst>
              <a:ext uri="{FF2B5EF4-FFF2-40B4-BE49-F238E27FC236}">
                <a16:creationId xmlns:a16="http://schemas.microsoft.com/office/drawing/2014/main" id="{9881B984-8081-EAE7-1278-0C15495E90FB}"/>
              </a:ext>
            </a:extLst>
          </p:cNvPr>
          <p:cNvPicPr>
            <a:picLocks noChangeAspect="1"/>
          </p:cNvPicPr>
          <p:nvPr userDrawn="1"/>
        </p:nvPicPr>
        <p:blipFill>
          <a:blip r:embed="rId3"/>
          <a:stretch>
            <a:fillRect/>
          </a:stretch>
        </p:blipFill>
        <p:spPr>
          <a:xfrm>
            <a:off x="2316866" y="165986"/>
            <a:ext cx="7558268" cy="1728603"/>
          </a:xfrm>
          <a:prstGeom prst="rect">
            <a:avLst/>
          </a:prstGeom>
        </p:spPr>
      </p:pic>
    </p:spTree>
    <p:extLst>
      <p:ext uri="{BB962C8B-B14F-4D97-AF65-F5344CB8AC3E}">
        <p14:creationId xmlns:p14="http://schemas.microsoft.com/office/powerpoint/2010/main" val="340222399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628831"/>
            <a:ext cx="9144000" cy="2387600"/>
          </a:xfrm>
        </p:spPr>
        <p:txBody>
          <a:bodyPr anchor="b"/>
          <a:lstStyle>
            <a:lvl1pPr algn="ctr">
              <a:defRPr sz="6000" b="1">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4108506"/>
            <a:ext cx="9144000" cy="1006460"/>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descr="A black and white logo&#10;&#10;AI-generated content may be incorrect.">
            <a:extLst>
              <a:ext uri="{FF2B5EF4-FFF2-40B4-BE49-F238E27FC236}">
                <a16:creationId xmlns:a16="http://schemas.microsoft.com/office/drawing/2014/main" id="{CCC3DF15-58EE-F606-23D9-D85F504FF2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99715" y="5498510"/>
            <a:ext cx="4553029" cy="1006460"/>
          </a:xfrm>
          <a:prstGeom prst="rect">
            <a:avLst/>
          </a:prstGeom>
        </p:spPr>
      </p:pic>
      <p:pic>
        <p:nvPicPr>
          <p:cNvPr id="6" name="Picture 5">
            <a:extLst>
              <a:ext uri="{FF2B5EF4-FFF2-40B4-BE49-F238E27FC236}">
                <a16:creationId xmlns:a16="http://schemas.microsoft.com/office/drawing/2014/main" id="{296AB693-DCD1-6E88-4C9E-83E15D2A6389}"/>
              </a:ext>
            </a:extLst>
          </p:cNvPr>
          <p:cNvPicPr>
            <a:picLocks noChangeAspect="1"/>
          </p:cNvPicPr>
          <p:nvPr userDrawn="1"/>
        </p:nvPicPr>
        <p:blipFill>
          <a:blip r:embed="rId3"/>
          <a:stretch>
            <a:fillRect/>
          </a:stretch>
        </p:blipFill>
        <p:spPr>
          <a:xfrm>
            <a:off x="2099689" y="179761"/>
            <a:ext cx="7992621" cy="1827941"/>
          </a:xfrm>
          <a:prstGeom prst="rect">
            <a:avLst/>
          </a:prstGeom>
        </p:spPr>
      </p:pic>
    </p:spTree>
    <p:extLst>
      <p:ext uri="{BB962C8B-B14F-4D97-AF65-F5344CB8AC3E}">
        <p14:creationId xmlns:p14="http://schemas.microsoft.com/office/powerpoint/2010/main" val="30696317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378855"/>
            <a:ext cx="9144000" cy="2232706"/>
          </a:xfrm>
        </p:spPr>
        <p:txBody>
          <a:bodyPr anchor="b"/>
          <a:lstStyle>
            <a:lvl1pPr algn="ctr">
              <a:defRPr sz="60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3703636"/>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080526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378855"/>
            <a:ext cx="9144000" cy="2232706"/>
          </a:xfrm>
        </p:spPr>
        <p:txBody>
          <a:bodyPr anchor="b"/>
          <a:lstStyle>
            <a:lvl1pPr algn="ctr">
              <a:defRPr sz="60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3703636"/>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140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FBF2-55D8-81D9-F84B-D7AEDD25E216}"/>
              </a:ext>
            </a:extLst>
          </p:cNvPr>
          <p:cNvSpPr>
            <a:spLocks noGrp="1"/>
          </p:cNvSpPr>
          <p:nvPr>
            <p:ph type="ctrTitle"/>
          </p:nvPr>
        </p:nvSpPr>
        <p:spPr>
          <a:xfrm>
            <a:off x="1524000" y="1378855"/>
            <a:ext cx="9144000" cy="2232706"/>
          </a:xfrm>
        </p:spPr>
        <p:txBody>
          <a:bodyPr anchor="b"/>
          <a:lstStyle>
            <a:lvl1pPr algn="ctr">
              <a:defRPr sz="60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38AA5CF-DFFC-4980-3832-1104DAE77015}"/>
              </a:ext>
            </a:extLst>
          </p:cNvPr>
          <p:cNvSpPr>
            <a:spLocks noGrp="1"/>
          </p:cNvSpPr>
          <p:nvPr>
            <p:ph type="subTitle" idx="1"/>
          </p:nvPr>
        </p:nvSpPr>
        <p:spPr>
          <a:xfrm>
            <a:off x="1524000" y="3703636"/>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1311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08EA18-3540-C623-33AC-A2BDCDEE55D9}"/>
              </a:ext>
            </a:extLst>
          </p:cNvPr>
          <p:cNvSpPr>
            <a:spLocks noGrp="1"/>
          </p:cNvSpPr>
          <p:nvPr>
            <p:ph type="title"/>
          </p:nvPr>
        </p:nvSpPr>
        <p:spPr>
          <a:xfrm>
            <a:off x="838200" y="581891"/>
            <a:ext cx="10515600" cy="1108797"/>
          </a:xfrm>
        </p:spPr>
        <p:txBody>
          <a:bodyPr/>
          <a:lstStyle>
            <a:lvl1pPr>
              <a:defRPr>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9F173B2-4400-F0DB-77C8-937A5B8CE44C}"/>
              </a:ext>
            </a:extLst>
          </p:cNvPr>
          <p:cNvSpPr>
            <a:spLocks noGrp="1"/>
          </p:cNvSpPr>
          <p:nvPr>
            <p:ph idx="1"/>
          </p:nvPr>
        </p:nvSpPr>
        <p:spPr>
          <a:xfrm>
            <a:off x="838200" y="1825625"/>
            <a:ext cx="10515600" cy="39339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591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B1FA7C9B-3590-C825-51FD-515190F87A0B}"/>
              </a:ext>
            </a:extLst>
          </p:cNvPr>
          <p:cNvSpPr>
            <a:spLocks noGrp="1"/>
          </p:cNvSpPr>
          <p:nvPr>
            <p:ph idx="1"/>
          </p:nvPr>
        </p:nvSpPr>
        <p:spPr>
          <a:xfrm>
            <a:off x="838200" y="1825625"/>
            <a:ext cx="10515600" cy="39339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69671327-5740-7CBB-16A1-1CD3B4A60450}"/>
              </a:ext>
            </a:extLst>
          </p:cNvPr>
          <p:cNvSpPr>
            <a:spLocks noGrp="1"/>
          </p:cNvSpPr>
          <p:nvPr>
            <p:ph type="title"/>
          </p:nvPr>
        </p:nvSpPr>
        <p:spPr>
          <a:xfrm>
            <a:off x="838200" y="581891"/>
            <a:ext cx="10515600" cy="110879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124281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EDDCD1D-21A6-9C06-AFB6-44D5B6D5CD6D}"/>
              </a:ext>
            </a:extLst>
          </p:cNvPr>
          <p:cNvSpPr>
            <a:spLocks noGrp="1"/>
          </p:cNvSpPr>
          <p:nvPr>
            <p:ph idx="1"/>
          </p:nvPr>
        </p:nvSpPr>
        <p:spPr>
          <a:xfrm>
            <a:off x="838200" y="1825625"/>
            <a:ext cx="10515600" cy="394578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77EA2FD-AA08-4CD5-1F0A-448EC9D70104}"/>
              </a:ext>
            </a:extLst>
          </p:cNvPr>
          <p:cNvSpPr>
            <a:spLocks noGrp="1"/>
          </p:cNvSpPr>
          <p:nvPr>
            <p:ph type="title"/>
          </p:nvPr>
        </p:nvSpPr>
        <p:spPr>
          <a:xfrm>
            <a:off x="838200" y="581891"/>
            <a:ext cx="10515600" cy="110879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606148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4"/>
            <a:ext cx="10515600" cy="391015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034B4047-C68D-050D-91AD-520CCCB9DB09}"/>
              </a:ext>
            </a:extLst>
          </p:cNvPr>
          <p:cNvSpPr>
            <a:spLocks noGrp="1"/>
          </p:cNvSpPr>
          <p:nvPr>
            <p:ph type="title"/>
          </p:nvPr>
        </p:nvSpPr>
        <p:spPr>
          <a:xfrm>
            <a:off x="838200" y="581891"/>
            <a:ext cx="10515600" cy="110879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273964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9339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0A966D23-3DB9-7831-F3D7-8539C53D9A8F}"/>
              </a:ext>
            </a:extLst>
          </p:cNvPr>
          <p:cNvSpPr>
            <a:spLocks noGrp="1"/>
          </p:cNvSpPr>
          <p:nvPr>
            <p:ph type="title"/>
          </p:nvPr>
        </p:nvSpPr>
        <p:spPr>
          <a:xfrm>
            <a:off x="838200" y="581891"/>
            <a:ext cx="10515600" cy="110879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904708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9339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18F645B9-FED0-56DB-C240-070A79D31445}"/>
              </a:ext>
            </a:extLst>
          </p:cNvPr>
          <p:cNvSpPr>
            <a:spLocks noGrp="1"/>
          </p:cNvSpPr>
          <p:nvPr>
            <p:ph type="title"/>
          </p:nvPr>
        </p:nvSpPr>
        <p:spPr>
          <a:xfrm>
            <a:off x="838200" y="581891"/>
            <a:ext cx="10515600" cy="1108797"/>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26329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a:xfrm>
            <a:off x="838200" y="1524000"/>
            <a:ext cx="10515600" cy="1240745"/>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3018971"/>
            <a:ext cx="10515600" cy="27880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9846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a:xfrm>
            <a:off x="838200" y="1524000"/>
            <a:ext cx="10515600" cy="1240745"/>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3018971"/>
            <a:ext cx="10515600" cy="272868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707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a:xfrm>
            <a:off x="838200" y="1524000"/>
            <a:ext cx="10515600" cy="1240745"/>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3018972"/>
            <a:ext cx="10515600" cy="2764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39680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1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72015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4675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6607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1034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1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68392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20567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1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Text Placeholder 2">
            <a:extLst>
              <a:ext uri="{FF2B5EF4-FFF2-40B4-BE49-F238E27FC236}">
                <a16:creationId xmlns:a16="http://schemas.microsoft.com/office/drawing/2014/main" id="{D74F3F0A-2FFF-941C-F7FE-900B0D1B7DE8}"/>
              </a:ext>
            </a:extLst>
          </p:cNvPr>
          <p:cNvSpPr>
            <a:spLocks noGrp="1"/>
          </p:cNvSpPr>
          <p:nvPr>
            <p:ph type="body" idx="1"/>
          </p:nvPr>
        </p:nvSpPr>
        <p:spPr>
          <a:xfrm>
            <a:off x="839788" y="1534517"/>
            <a:ext cx="5157787" cy="823912"/>
          </a:xfrm>
        </p:spPr>
        <p:txBody>
          <a:bodyPr anchor="b"/>
          <a:lstStyle>
            <a:lvl1pPr marL="0" indent="0">
              <a:buNone/>
              <a:defRPr sz="28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3">
            <a:extLst>
              <a:ext uri="{FF2B5EF4-FFF2-40B4-BE49-F238E27FC236}">
                <a16:creationId xmlns:a16="http://schemas.microsoft.com/office/drawing/2014/main" id="{158F2851-BBCF-0F04-03B9-88043EF0BA64}"/>
              </a:ext>
            </a:extLst>
          </p:cNvPr>
          <p:cNvSpPr>
            <a:spLocks noGrp="1"/>
          </p:cNvSpPr>
          <p:nvPr>
            <p:ph sz="half" idx="2"/>
          </p:nvPr>
        </p:nvSpPr>
        <p:spPr>
          <a:xfrm>
            <a:off x="839788" y="2505075"/>
            <a:ext cx="5157787" cy="3053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7A9256E4-3277-86F9-C5D4-7C944A80DF69}"/>
              </a:ext>
            </a:extLst>
          </p:cNvPr>
          <p:cNvSpPr>
            <a:spLocks noGrp="1"/>
          </p:cNvSpPr>
          <p:nvPr>
            <p:ph type="body" sz="quarter" idx="3"/>
          </p:nvPr>
        </p:nvSpPr>
        <p:spPr>
          <a:xfrm>
            <a:off x="6172200" y="1534517"/>
            <a:ext cx="5183188" cy="823912"/>
          </a:xfrm>
        </p:spPr>
        <p:txBody>
          <a:bodyPr anchor="b"/>
          <a:lstStyle>
            <a:lvl1pPr marL="0" indent="0">
              <a:buNone/>
              <a:defRPr sz="28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Content Placeholder 5">
            <a:extLst>
              <a:ext uri="{FF2B5EF4-FFF2-40B4-BE49-F238E27FC236}">
                <a16:creationId xmlns:a16="http://schemas.microsoft.com/office/drawing/2014/main" id="{228C8223-CB9D-32A1-E4F4-8FC2ABEBA0B9}"/>
              </a:ext>
            </a:extLst>
          </p:cNvPr>
          <p:cNvSpPr>
            <a:spLocks noGrp="1"/>
          </p:cNvSpPr>
          <p:nvPr>
            <p:ph sz="quarter" idx="4"/>
          </p:nvPr>
        </p:nvSpPr>
        <p:spPr>
          <a:xfrm>
            <a:off x="6172200" y="2505075"/>
            <a:ext cx="5183188" cy="3053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0917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1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Content Placeholder 3">
            <a:extLst>
              <a:ext uri="{FF2B5EF4-FFF2-40B4-BE49-F238E27FC236}">
                <a16:creationId xmlns:a16="http://schemas.microsoft.com/office/drawing/2014/main" id="{7582CC45-421C-64E1-1C8E-D41ACC2BC220}"/>
              </a:ext>
            </a:extLst>
          </p:cNvPr>
          <p:cNvSpPr>
            <a:spLocks noGrp="1"/>
          </p:cNvSpPr>
          <p:nvPr>
            <p:ph sz="half" idx="2"/>
          </p:nvPr>
        </p:nvSpPr>
        <p:spPr>
          <a:xfrm>
            <a:off x="839788" y="2505075"/>
            <a:ext cx="5157787" cy="3053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90154B8A-F0DE-7A3E-26B0-37F3585B4339}"/>
              </a:ext>
            </a:extLst>
          </p:cNvPr>
          <p:cNvSpPr>
            <a:spLocks noGrp="1"/>
          </p:cNvSpPr>
          <p:nvPr>
            <p:ph sz="quarter" idx="4"/>
          </p:nvPr>
        </p:nvSpPr>
        <p:spPr>
          <a:xfrm>
            <a:off x="6172200" y="2505075"/>
            <a:ext cx="5183188" cy="3053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C3BCF196-E304-606C-C8A9-700B0ECF6136}"/>
              </a:ext>
            </a:extLst>
          </p:cNvPr>
          <p:cNvSpPr>
            <a:spLocks noGrp="1"/>
          </p:cNvSpPr>
          <p:nvPr>
            <p:ph type="body" idx="1"/>
          </p:nvPr>
        </p:nvSpPr>
        <p:spPr>
          <a:xfrm>
            <a:off x="839788" y="1534517"/>
            <a:ext cx="5157787" cy="823912"/>
          </a:xfrm>
        </p:spPr>
        <p:txBody>
          <a:bodyPr anchor="b"/>
          <a:lstStyle>
            <a:lvl1pPr marL="0" indent="0">
              <a:buNone/>
              <a:defRPr sz="28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4">
            <a:extLst>
              <a:ext uri="{FF2B5EF4-FFF2-40B4-BE49-F238E27FC236}">
                <a16:creationId xmlns:a16="http://schemas.microsoft.com/office/drawing/2014/main" id="{3DE2F57E-14C8-3BC1-7437-80C0C61C6DA8}"/>
              </a:ext>
            </a:extLst>
          </p:cNvPr>
          <p:cNvSpPr>
            <a:spLocks noGrp="1"/>
          </p:cNvSpPr>
          <p:nvPr>
            <p:ph type="body" sz="quarter" idx="3"/>
          </p:nvPr>
        </p:nvSpPr>
        <p:spPr>
          <a:xfrm>
            <a:off x="6172200" y="1534517"/>
            <a:ext cx="5183188" cy="823912"/>
          </a:xfrm>
        </p:spPr>
        <p:txBody>
          <a:bodyPr anchor="b"/>
          <a:lstStyle>
            <a:lvl1pPr marL="0" indent="0">
              <a:buNone/>
              <a:defRPr sz="28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67704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1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Content Placeholder 3">
            <a:extLst>
              <a:ext uri="{FF2B5EF4-FFF2-40B4-BE49-F238E27FC236}">
                <a16:creationId xmlns:a16="http://schemas.microsoft.com/office/drawing/2014/main" id="{17F261F8-6EEF-8031-980B-6CAFE9E539ED}"/>
              </a:ext>
            </a:extLst>
          </p:cNvPr>
          <p:cNvSpPr>
            <a:spLocks noGrp="1"/>
          </p:cNvSpPr>
          <p:nvPr>
            <p:ph sz="half" idx="2"/>
          </p:nvPr>
        </p:nvSpPr>
        <p:spPr>
          <a:xfrm>
            <a:off x="839788" y="2505075"/>
            <a:ext cx="5157787" cy="3053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2BB0A6A7-AADC-A92D-8424-2BF7839CE18B}"/>
              </a:ext>
            </a:extLst>
          </p:cNvPr>
          <p:cNvSpPr>
            <a:spLocks noGrp="1"/>
          </p:cNvSpPr>
          <p:nvPr>
            <p:ph sz="quarter" idx="4"/>
          </p:nvPr>
        </p:nvSpPr>
        <p:spPr>
          <a:xfrm>
            <a:off x="6172200" y="2505075"/>
            <a:ext cx="5183188" cy="3053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C682883F-ADFD-B130-2050-FCD6E125C147}"/>
              </a:ext>
            </a:extLst>
          </p:cNvPr>
          <p:cNvSpPr>
            <a:spLocks noGrp="1"/>
          </p:cNvSpPr>
          <p:nvPr>
            <p:ph type="body" idx="1"/>
          </p:nvPr>
        </p:nvSpPr>
        <p:spPr>
          <a:xfrm>
            <a:off x="839788" y="1534517"/>
            <a:ext cx="5157787" cy="823912"/>
          </a:xfrm>
        </p:spPr>
        <p:txBody>
          <a:bodyPr anchor="b"/>
          <a:lstStyle>
            <a:lvl1pPr marL="0" indent="0">
              <a:buNone/>
              <a:defRPr sz="28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4">
            <a:extLst>
              <a:ext uri="{FF2B5EF4-FFF2-40B4-BE49-F238E27FC236}">
                <a16:creationId xmlns:a16="http://schemas.microsoft.com/office/drawing/2014/main" id="{7BF1D1C2-EE9E-7153-8818-AF4BE15CCEDF}"/>
              </a:ext>
            </a:extLst>
          </p:cNvPr>
          <p:cNvSpPr>
            <a:spLocks noGrp="1"/>
          </p:cNvSpPr>
          <p:nvPr>
            <p:ph type="body" sz="quarter" idx="3"/>
          </p:nvPr>
        </p:nvSpPr>
        <p:spPr>
          <a:xfrm>
            <a:off x="6172200" y="1534517"/>
            <a:ext cx="5183188" cy="823912"/>
          </a:xfrm>
        </p:spPr>
        <p:txBody>
          <a:bodyPr anchor="b"/>
          <a:lstStyle>
            <a:lvl1pPr marL="0" indent="0">
              <a:buNone/>
              <a:defRPr sz="28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92971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1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6172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10123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1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6172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99918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1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6172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13614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2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2">
            <a:extLst>
              <a:ext uri="{FF2B5EF4-FFF2-40B4-BE49-F238E27FC236}">
                <a16:creationId xmlns:a16="http://schemas.microsoft.com/office/drawing/2014/main" id="{93A25109-A702-F723-1FE7-0C1DAA2D88FB}"/>
              </a:ext>
            </a:extLst>
          </p:cNvPr>
          <p:cNvSpPr>
            <a:spLocks noGrp="1"/>
          </p:cNvSpPr>
          <p:nvPr>
            <p:ph sz="half" idx="1"/>
          </p:nvPr>
        </p:nvSpPr>
        <p:spPr>
          <a:xfrm>
            <a:off x="838200" y="1825625"/>
            <a:ext cx="5181600" cy="386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9C5ED7D-27AC-62EC-7756-8ACF2349EC10}"/>
              </a:ext>
            </a:extLst>
          </p:cNvPr>
          <p:cNvSpPr>
            <a:spLocks noGrp="1"/>
          </p:cNvSpPr>
          <p:nvPr>
            <p:ph sz="half" idx="2"/>
          </p:nvPr>
        </p:nvSpPr>
        <p:spPr>
          <a:xfrm>
            <a:off x="6172200" y="1825625"/>
            <a:ext cx="5181600" cy="386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6042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2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2">
            <a:extLst>
              <a:ext uri="{FF2B5EF4-FFF2-40B4-BE49-F238E27FC236}">
                <a16:creationId xmlns:a16="http://schemas.microsoft.com/office/drawing/2014/main" id="{35D255B3-2352-7248-5581-0C03A025632C}"/>
              </a:ext>
            </a:extLst>
          </p:cNvPr>
          <p:cNvSpPr>
            <a:spLocks noGrp="1"/>
          </p:cNvSpPr>
          <p:nvPr>
            <p:ph sz="half" idx="1"/>
          </p:nvPr>
        </p:nvSpPr>
        <p:spPr>
          <a:xfrm>
            <a:off x="838200" y="1825625"/>
            <a:ext cx="5181600" cy="386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27ADA666-A714-E733-46B6-D401120AF620}"/>
              </a:ext>
            </a:extLst>
          </p:cNvPr>
          <p:cNvSpPr>
            <a:spLocks noGrp="1"/>
          </p:cNvSpPr>
          <p:nvPr>
            <p:ph sz="half" idx="2"/>
          </p:nvPr>
        </p:nvSpPr>
        <p:spPr>
          <a:xfrm>
            <a:off x="6172200" y="1825625"/>
            <a:ext cx="5181600" cy="386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2295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2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2">
            <a:extLst>
              <a:ext uri="{FF2B5EF4-FFF2-40B4-BE49-F238E27FC236}">
                <a16:creationId xmlns:a16="http://schemas.microsoft.com/office/drawing/2014/main" id="{F5DC6E98-B770-FDE3-9E5B-A886B508ECAF}"/>
              </a:ext>
            </a:extLst>
          </p:cNvPr>
          <p:cNvSpPr>
            <a:spLocks noGrp="1"/>
          </p:cNvSpPr>
          <p:nvPr>
            <p:ph sz="half" idx="1"/>
          </p:nvPr>
        </p:nvSpPr>
        <p:spPr>
          <a:xfrm>
            <a:off x="838200" y="1825625"/>
            <a:ext cx="5181600" cy="386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6022B591-7ADF-AF3C-1041-5B751B50211E}"/>
              </a:ext>
            </a:extLst>
          </p:cNvPr>
          <p:cNvSpPr>
            <a:spLocks noGrp="1"/>
          </p:cNvSpPr>
          <p:nvPr>
            <p:ph sz="half" idx="2"/>
          </p:nvPr>
        </p:nvSpPr>
        <p:spPr>
          <a:xfrm>
            <a:off x="6172200" y="1825625"/>
            <a:ext cx="5181600" cy="3863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42104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2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4B2EA47-680F-9038-3968-9B4555A68BDC}"/>
              </a:ext>
            </a:extLst>
          </p:cNvPr>
          <p:cNvSpPr>
            <a:spLocks noGrp="1"/>
          </p:cNvSpPr>
          <p:nvPr>
            <p:ph idx="1"/>
          </p:nvPr>
        </p:nvSpPr>
        <p:spPr>
          <a:xfrm>
            <a:off x="838200" y="1825625"/>
            <a:ext cx="10515600" cy="36172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B5CD293-97E5-846C-D235-A2CF3EB8B338}"/>
              </a:ext>
            </a:extLst>
          </p:cNvPr>
          <p:cNvPicPr>
            <a:picLocks noChangeAspect="1"/>
          </p:cNvPicPr>
          <p:nvPr userDrawn="1"/>
        </p:nvPicPr>
        <p:blipFill>
          <a:blip r:embed="rId2"/>
          <a:stretch>
            <a:fillRect/>
          </a:stretch>
        </p:blipFill>
        <p:spPr>
          <a:xfrm rot="21185580">
            <a:off x="-607818" y="4100469"/>
            <a:ext cx="13662278" cy="3124613"/>
          </a:xfrm>
          <a:prstGeom prst="rect">
            <a:avLst/>
          </a:prstGeom>
        </p:spPr>
      </p:pic>
    </p:spTree>
    <p:extLst>
      <p:ext uri="{BB962C8B-B14F-4D97-AF65-F5344CB8AC3E}">
        <p14:creationId xmlns:p14="http://schemas.microsoft.com/office/powerpoint/2010/main" val="24577951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24">
    <p:bg>
      <p:bgPr>
        <a:solidFill>
          <a:schemeClr val="bg1"/>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1E70A3CF-274F-FDFA-7922-D4647EF2FDF7}"/>
              </a:ext>
            </a:extLst>
          </p:cNvPr>
          <p:cNvSpPr/>
          <p:nvPr userDrawn="1"/>
        </p:nvSpPr>
        <p:spPr>
          <a:xfrm>
            <a:off x="6086263" y="-477748"/>
            <a:ext cx="8487705" cy="8669454"/>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84C9B7-E613-F8D8-F431-7258BDA80DFA}"/>
              </a:ext>
            </a:extLst>
          </p:cNvPr>
          <p:cNvSpPr>
            <a:spLocks noGrp="1"/>
          </p:cNvSpPr>
          <p:nvPr>
            <p:ph type="title"/>
          </p:nvPr>
        </p:nvSpPr>
        <p:spPr>
          <a:xfrm>
            <a:off x="839789" y="501222"/>
            <a:ext cx="4845707" cy="1325563"/>
          </a:xfrm>
        </p:spPr>
        <p:txBody>
          <a:bodyPr/>
          <a:lstStyle>
            <a:lvl1pPr>
              <a:defRPr sz="4000">
                <a:solidFill>
                  <a:schemeClr val="tx1"/>
                </a:solidFill>
              </a:defRPr>
            </a:lvl1pPr>
          </a:lstStyle>
          <a:p>
            <a:r>
              <a:rPr lang="en-US"/>
              <a:t>Click to edit Master title style</a:t>
            </a:r>
          </a:p>
        </p:txBody>
      </p:sp>
      <p:sp>
        <p:nvSpPr>
          <p:cNvPr id="5" name="Content Placeholder 3">
            <a:extLst>
              <a:ext uri="{FF2B5EF4-FFF2-40B4-BE49-F238E27FC236}">
                <a16:creationId xmlns:a16="http://schemas.microsoft.com/office/drawing/2014/main" id="{17F261F8-6EEF-8031-980B-6CAFE9E539ED}"/>
              </a:ext>
            </a:extLst>
          </p:cNvPr>
          <p:cNvSpPr>
            <a:spLocks noGrp="1"/>
          </p:cNvSpPr>
          <p:nvPr>
            <p:ph sz="half" idx="2"/>
          </p:nvPr>
        </p:nvSpPr>
        <p:spPr>
          <a:xfrm>
            <a:off x="839789" y="2042525"/>
            <a:ext cx="4845706" cy="351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Oval 2">
            <a:extLst>
              <a:ext uri="{FF2B5EF4-FFF2-40B4-BE49-F238E27FC236}">
                <a16:creationId xmlns:a16="http://schemas.microsoft.com/office/drawing/2014/main" id="{B613BF2A-926F-071E-7CB7-2DA4A59B7ABD}"/>
              </a:ext>
            </a:extLst>
          </p:cNvPr>
          <p:cNvSpPr/>
          <p:nvPr userDrawn="1"/>
        </p:nvSpPr>
        <p:spPr>
          <a:xfrm>
            <a:off x="6487034" y="-496375"/>
            <a:ext cx="7686165" cy="7850750"/>
          </a:xfrm>
          <a:prstGeom prst="ellipse">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86125" y="5961500"/>
            <a:ext cx="3082005" cy="681286"/>
          </a:xfrm>
          <a:prstGeom prst="rect">
            <a:avLst/>
          </a:prstGeom>
        </p:spPr>
      </p:pic>
      <p:pic>
        <p:nvPicPr>
          <p:cNvPr id="11" name="Picture 10">
            <a:extLst>
              <a:ext uri="{FF2B5EF4-FFF2-40B4-BE49-F238E27FC236}">
                <a16:creationId xmlns:a16="http://schemas.microsoft.com/office/drawing/2014/main" id="{5196C175-A871-6176-1812-791C12E95F37}"/>
              </a:ext>
            </a:extLst>
          </p:cNvPr>
          <p:cNvPicPr>
            <a:picLocks noChangeAspect="1"/>
          </p:cNvPicPr>
          <p:nvPr userDrawn="1"/>
        </p:nvPicPr>
        <p:blipFill>
          <a:blip r:embed="rId4"/>
          <a:stretch>
            <a:fillRect/>
          </a:stretch>
        </p:blipFill>
        <p:spPr>
          <a:xfrm>
            <a:off x="3169766" y="4815475"/>
            <a:ext cx="5846713" cy="1772504"/>
          </a:xfrm>
          <a:prstGeom prst="rect">
            <a:avLst/>
          </a:prstGeom>
        </p:spPr>
      </p:pic>
    </p:spTree>
    <p:extLst>
      <p:ext uri="{BB962C8B-B14F-4D97-AF65-F5344CB8AC3E}">
        <p14:creationId xmlns:p14="http://schemas.microsoft.com/office/powerpoint/2010/main" val="34991157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25">
    <p:bg>
      <p:bgPr>
        <a:solidFill>
          <a:schemeClr val="bg1"/>
        </a:solidFill>
        <a:effectLst/>
      </p:bgPr>
    </p:bg>
    <p:spTree>
      <p:nvGrpSpPr>
        <p:cNvPr id="1" name=""/>
        <p:cNvGrpSpPr/>
        <p:nvPr/>
      </p:nvGrpSpPr>
      <p:grpSpPr>
        <a:xfrm>
          <a:off x="0" y="0"/>
          <a:ext cx="0" cy="0"/>
          <a:chOff x="0" y="0"/>
          <a:chExt cx="0" cy="0"/>
        </a:xfrm>
      </p:grpSpPr>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6125" y="5961500"/>
            <a:ext cx="3082005" cy="681286"/>
          </a:xfrm>
          <a:prstGeom prst="rect">
            <a:avLst/>
          </a:prstGeom>
        </p:spPr>
      </p:pic>
      <p:sp>
        <p:nvSpPr>
          <p:cNvPr id="3" name="Title 1">
            <a:extLst>
              <a:ext uri="{FF2B5EF4-FFF2-40B4-BE49-F238E27FC236}">
                <a16:creationId xmlns:a16="http://schemas.microsoft.com/office/drawing/2014/main" id="{B35CDABF-6B0A-7AD4-AFF8-F23C866197C5}"/>
              </a:ext>
            </a:extLst>
          </p:cNvPr>
          <p:cNvSpPr>
            <a:spLocks noGrp="1"/>
          </p:cNvSpPr>
          <p:nvPr>
            <p:ph type="title"/>
          </p:nvPr>
        </p:nvSpPr>
        <p:spPr>
          <a:xfrm>
            <a:off x="839789" y="501222"/>
            <a:ext cx="4845707" cy="1325563"/>
          </a:xfrm>
        </p:spPr>
        <p:txBody>
          <a:bodyPr/>
          <a:lstStyle>
            <a:lvl1pPr>
              <a:defRPr sz="4000">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E52DF1-ABE2-F69E-62D0-F94DF9250B42}"/>
              </a:ext>
            </a:extLst>
          </p:cNvPr>
          <p:cNvSpPr>
            <a:spLocks noGrp="1"/>
          </p:cNvSpPr>
          <p:nvPr>
            <p:ph sz="half" idx="2"/>
          </p:nvPr>
        </p:nvSpPr>
        <p:spPr>
          <a:xfrm>
            <a:off x="839789" y="2042525"/>
            <a:ext cx="4845706" cy="351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2473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26">
    <p:bg>
      <p:bgPr>
        <a:solidFill>
          <a:schemeClr val="bg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17F261F8-6EEF-8031-980B-6CAFE9E539ED}"/>
              </a:ext>
            </a:extLst>
          </p:cNvPr>
          <p:cNvSpPr>
            <a:spLocks noGrp="1"/>
          </p:cNvSpPr>
          <p:nvPr>
            <p:ph sz="half" idx="2"/>
          </p:nvPr>
        </p:nvSpPr>
        <p:spPr>
          <a:xfrm>
            <a:off x="839788" y="1930400"/>
            <a:ext cx="5157787" cy="3628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6125" y="5961500"/>
            <a:ext cx="3082005" cy="681286"/>
          </a:xfrm>
          <a:prstGeom prst="rect">
            <a:avLst/>
          </a:prstGeom>
        </p:spPr>
      </p:pic>
      <p:pic>
        <p:nvPicPr>
          <p:cNvPr id="3" name="Picture 2">
            <a:extLst>
              <a:ext uri="{FF2B5EF4-FFF2-40B4-BE49-F238E27FC236}">
                <a16:creationId xmlns:a16="http://schemas.microsoft.com/office/drawing/2014/main" id="{C7034BA6-DDAA-06B2-D0BF-220E9B8FBA55}"/>
              </a:ext>
            </a:extLst>
          </p:cNvPr>
          <p:cNvPicPr>
            <a:picLocks noChangeAspect="1"/>
          </p:cNvPicPr>
          <p:nvPr userDrawn="1"/>
        </p:nvPicPr>
        <p:blipFill>
          <a:blip r:embed="rId3"/>
          <a:stretch>
            <a:fillRect/>
          </a:stretch>
        </p:blipFill>
        <p:spPr>
          <a:xfrm>
            <a:off x="3813254" y="4884712"/>
            <a:ext cx="7992621" cy="1827941"/>
          </a:xfrm>
          <a:prstGeom prst="rect">
            <a:avLst/>
          </a:prstGeom>
        </p:spPr>
      </p:pic>
      <p:sp>
        <p:nvSpPr>
          <p:cNvPr id="7" name="Content Placeholder 3">
            <a:extLst>
              <a:ext uri="{FF2B5EF4-FFF2-40B4-BE49-F238E27FC236}">
                <a16:creationId xmlns:a16="http://schemas.microsoft.com/office/drawing/2014/main" id="{20F383EB-EB84-436C-EEB4-A9DA36143A7E}"/>
              </a:ext>
            </a:extLst>
          </p:cNvPr>
          <p:cNvSpPr>
            <a:spLocks noGrp="1"/>
          </p:cNvSpPr>
          <p:nvPr>
            <p:ph sz="half" idx="10"/>
          </p:nvPr>
        </p:nvSpPr>
        <p:spPr>
          <a:xfrm>
            <a:off x="6194427" y="1930400"/>
            <a:ext cx="5157787" cy="3628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381F5272-F297-AEC5-43A7-4CF876E150E3}"/>
              </a:ext>
            </a:extLst>
          </p:cNvPr>
          <p:cNvSpPr>
            <a:spLocks noGrp="1"/>
          </p:cNvSpPr>
          <p:nvPr>
            <p:ph type="title"/>
          </p:nvPr>
        </p:nvSpPr>
        <p:spPr>
          <a:xfrm>
            <a:off x="838200" y="581891"/>
            <a:ext cx="10515600" cy="1108797"/>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6055103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27">
    <p:bg>
      <p:bgPr>
        <a:solidFill>
          <a:schemeClr val="bg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17F261F8-6EEF-8031-980B-6CAFE9E539ED}"/>
              </a:ext>
            </a:extLst>
          </p:cNvPr>
          <p:cNvSpPr>
            <a:spLocks noGrp="1"/>
          </p:cNvSpPr>
          <p:nvPr>
            <p:ph sz="half" idx="2"/>
          </p:nvPr>
        </p:nvSpPr>
        <p:spPr>
          <a:xfrm>
            <a:off x="839788" y="1930400"/>
            <a:ext cx="5157787" cy="3628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6125" y="5961500"/>
            <a:ext cx="3082005" cy="681286"/>
          </a:xfrm>
          <a:prstGeom prst="rect">
            <a:avLst/>
          </a:prstGeom>
        </p:spPr>
      </p:pic>
      <p:sp>
        <p:nvSpPr>
          <p:cNvPr id="7" name="Content Placeholder 3">
            <a:extLst>
              <a:ext uri="{FF2B5EF4-FFF2-40B4-BE49-F238E27FC236}">
                <a16:creationId xmlns:a16="http://schemas.microsoft.com/office/drawing/2014/main" id="{20F383EB-EB84-436C-EEB4-A9DA36143A7E}"/>
              </a:ext>
            </a:extLst>
          </p:cNvPr>
          <p:cNvSpPr>
            <a:spLocks noGrp="1"/>
          </p:cNvSpPr>
          <p:nvPr>
            <p:ph sz="half" idx="10"/>
          </p:nvPr>
        </p:nvSpPr>
        <p:spPr>
          <a:xfrm>
            <a:off x="6194427" y="1930400"/>
            <a:ext cx="5157787" cy="3628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9EBD730-A16D-AE6A-E931-353C913F92E3}"/>
              </a:ext>
            </a:extLst>
          </p:cNvPr>
          <p:cNvPicPr>
            <a:picLocks noChangeAspect="1"/>
          </p:cNvPicPr>
          <p:nvPr userDrawn="1"/>
        </p:nvPicPr>
        <p:blipFill>
          <a:blip r:embed="rId3"/>
          <a:stretch>
            <a:fillRect/>
          </a:stretch>
        </p:blipFill>
        <p:spPr>
          <a:xfrm>
            <a:off x="3796497" y="4909894"/>
            <a:ext cx="8020953" cy="1834421"/>
          </a:xfrm>
          <a:prstGeom prst="rect">
            <a:avLst/>
          </a:prstGeom>
        </p:spPr>
      </p:pic>
      <p:sp>
        <p:nvSpPr>
          <p:cNvPr id="3" name="Title 1">
            <a:extLst>
              <a:ext uri="{FF2B5EF4-FFF2-40B4-BE49-F238E27FC236}">
                <a16:creationId xmlns:a16="http://schemas.microsoft.com/office/drawing/2014/main" id="{A06AF469-43F9-ACA4-1778-4FA7977BEB2D}"/>
              </a:ext>
            </a:extLst>
          </p:cNvPr>
          <p:cNvSpPr>
            <a:spLocks noGrp="1"/>
          </p:cNvSpPr>
          <p:nvPr>
            <p:ph type="title"/>
          </p:nvPr>
        </p:nvSpPr>
        <p:spPr>
          <a:xfrm>
            <a:off x="838200" y="581891"/>
            <a:ext cx="10515600" cy="1108797"/>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3291929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28">
    <p:bg>
      <p:bgPr>
        <a:solidFill>
          <a:schemeClr val="bg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17F261F8-6EEF-8031-980B-6CAFE9E539ED}"/>
              </a:ext>
            </a:extLst>
          </p:cNvPr>
          <p:cNvSpPr>
            <a:spLocks noGrp="1"/>
          </p:cNvSpPr>
          <p:nvPr>
            <p:ph sz="half" idx="2"/>
          </p:nvPr>
        </p:nvSpPr>
        <p:spPr>
          <a:xfrm>
            <a:off x="839788" y="1930400"/>
            <a:ext cx="10468678" cy="3628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97109" y="5961500"/>
            <a:ext cx="3082005" cy="681286"/>
          </a:xfrm>
          <a:prstGeom prst="rect">
            <a:avLst/>
          </a:prstGeom>
        </p:spPr>
      </p:pic>
      <p:sp>
        <p:nvSpPr>
          <p:cNvPr id="3" name="Title 1">
            <a:extLst>
              <a:ext uri="{FF2B5EF4-FFF2-40B4-BE49-F238E27FC236}">
                <a16:creationId xmlns:a16="http://schemas.microsoft.com/office/drawing/2014/main" id="{BB06300E-0597-31B5-7F5C-A12E0C3CD098}"/>
              </a:ext>
            </a:extLst>
          </p:cNvPr>
          <p:cNvSpPr>
            <a:spLocks noGrp="1"/>
          </p:cNvSpPr>
          <p:nvPr>
            <p:ph type="title"/>
          </p:nvPr>
        </p:nvSpPr>
        <p:spPr>
          <a:xfrm>
            <a:off x="838200" y="581891"/>
            <a:ext cx="10515600" cy="1108797"/>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6474766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o Layout Design">
    <p:bg>
      <p:bgPr>
        <a:solidFill>
          <a:schemeClr val="bg1"/>
        </a:solidFill>
        <a:effectLst/>
      </p:bgPr>
    </p:bg>
    <p:spTree>
      <p:nvGrpSpPr>
        <p:cNvPr id="1" name=""/>
        <p:cNvGrpSpPr/>
        <p:nvPr/>
      </p:nvGrpSpPr>
      <p:grpSpPr>
        <a:xfrm>
          <a:off x="0" y="0"/>
          <a:ext cx="0" cy="0"/>
          <a:chOff x="0" y="0"/>
          <a:chExt cx="0" cy="0"/>
        </a:xfrm>
      </p:grpSpPr>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6125" y="5961500"/>
            <a:ext cx="3082005" cy="681286"/>
          </a:xfrm>
          <a:prstGeom prst="rect">
            <a:avLst/>
          </a:prstGeom>
        </p:spPr>
      </p:pic>
      <p:pic>
        <p:nvPicPr>
          <p:cNvPr id="4" name="Picture 3">
            <a:extLst>
              <a:ext uri="{FF2B5EF4-FFF2-40B4-BE49-F238E27FC236}">
                <a16:creationId xmlns:a16="http://schemas.microsoft.com/office/drawing/2014/main" id="{B9EBD730-A16D-AE6A-E931-353C913F92E3}"/>
              </a:ext>
            </a:extLst>
          </p:cNvPr>
          <p:cNvPicPr>
            <a:picLocks noChangeAspect="1"/>
          </p:cNvPicPr>
          <p:nvPr userDrawn="1"/>
        </p:nvPicPr>
        <p:blipFill>
          <a:blip r:embed="rId3"/>
          <a:stretch>
            <a:fillRect/>
          </a:stretch>
        </p:blipFill>
        <p:spPr>
          <a:xfrm>
            <a:off x="3796497" y="4909894"/>
            <a:ext cx="8020953" cy="1834421"/>
          </a:xfrm>
          <a:prstGeom prst="rect">
            <a:avLst/>
          </a:prstGeom>
        </p:spPr>
      </p:pic>
    </p:spTree>
    <p:extLst>
      <p:ext uri="{BB962C8B-B14F-4D97-AF65-F5344CB8AC3E}">
        <p14:creationId xmlns:p14="http://schemas.microsoft.com/office/powerpoint/2010/main" val="42948617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o Layout Design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75852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o Layout Design 2">
    <p:bg>
      <p:bgPr>
        <a:solidFill>
          <a:schemeClr val="bg1"/>
        </a:solidFill>
        <a:effectLst/>
      </p:bgPr>
    </p:bg>
    <p:spTree>
      <p:nvGrpSpPr>
        <p:cNvPr id="1" name=""/>
        <p:cNvGrpSpPr/>
        <p:nvPr/>
      </p:nvGrpSpPr>
      <p:grpSpPr>
        <a:xfrm>
          <a:off x="0" y="0"/>
          <a:ext cx="0" cy="0"/>
          <a:chOff x="0" y="0"/>
          <a:chExt cx="0" cy="0"/>
        </a:xfrm>
      </p:grpSpPr>
      <p:pic>
        <p:nvPicPr>
          <p:cNvPr id="9" name="Picture 8" descr="A black and white logo&#10;&#10;AI-generated content may be incorrect.">
            <a:extLst>
              <a:ext uri="{FF2B5EF4-FFF2-40B4-BE49-F238E27FC236}">
                <a16:creationId xmlns:a16="http://schemas.microsoft.com/office/drawing/2014/main" id="{76AD9C6A-C785-76E6-F21F-F4CC747181E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6125" y="5961500"/>
            <a:ext cx="3082005" cy="681286"/>
          </a:xfrm>
          <a:prstGeom prst="rect">
            <a:avLst/>
          </a:prstGeom>
        </p:spPr>
      </p:pic>
      <p:pic>
        <p:nvPicPr>
          <p:cNvPr id="3" name="Picture 2">
            <a:extLst>
              <a:ext uri="{FF2B5EF4-FFF2-40B4-BE49-F238E27FC236}">
                <a16:creationId xmlns:a16="http://schemas.microsoft.com/office/drawing/2014/main" id="{C7034BA6-DDAA-06B2-D0BF-220E9B8FBA55}"/>
              </a:ext>
            </a:extLst>
          </p:cNvPr>
          <p:cNvPicPr>
            <a:picLocks noChangeAspect="1"/>
          </p:cNvPicPr>
          <p:nvPr userDrawn="1"/>
        </p:nvPicPr>
        <p:blipFill>
          <a:blip r:embed="rId3"/>
          <a:stretch>
            <a:fillRect/>
          </a:stretch>
        </p:blipFill>
        <p:spPr>
          <a:xfrm>
            <a:off x="3813254" y="4884712"/>
            <a:ext cx="7992621" cy="1827941"/>
          </a:xfrm>
          <a:prstGeom prst="rect">
            <a:avLst/>
          </a:prstGeom>
        </p:spPr>
      </p:pic>
    </p:spTree>
    <p:extLst>
      <p:ext uri="{BB962C8B-B14F-4D97-AF65-F5344CB8AC3E}">
        <p14:creationId xmlns:p14="http://schemas.microsoft.com/office/powerpoint/2010/main" val="18372653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 Layout Design 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6343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29">
    <p:bg>
      <p:bgPr>
        <a:solidFill>
          <a:schemeClr val="accent1"/>
        </a:solidFill>
        <a:effectLst/>
      </p:bgPr>
    </p:bg>
    <p:spTree>
      <p:nvGrpSpPr>
        <p:cNvPr id="1" name=""/>
        <p:cNvGrpSpPr/>
        <p:nvPr/>
      </p:nvGrpSpPr>
      <p:grpSpPr>
        <a:xfrm>
          <a:off x="0" y="0"/>
          <a:ext cx="0" cy="0"/>
          <a:chOff x="0" y="0"/>
          <a:chExt cx="0" cy="0"/>
        </a:xfrm>
      </p:grpSpPr>
      <p:pic>
        <p:nvPicPr>
          <p:cNvPr id="4" name="Picture 3" descr="A black background with white text&#10;&#10;AI-generated content may be incorrect.">
            <a:extLst>
              <a:ext uri="{FF2B5EF4-FFF2-40B4-BE49-F238E27FC236}">
                <a16:creationId xmlns:a16="http://schemas.microsoft.com/office/drawing/2014/main" id="{3E5E24DF-AC96-1473-B1DF-78A8A04C9B7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5809" y="5974947"/>
            <a:ext cx="3102636" cy="684405"/>
          </a:xfrm>
          <a:prstGeom prst="rect">
            <a:avLst/>
          </a:prstGeom>
        </p:spPr>
      </p:pic>
      <p:sp>
        <p:nvSpPr>
          <p:cNvPr id="3" name="Title 1">
            <a:extLst>
              <a:ext uri="{FF2B5EF4-FFF2-40B4-BE49-F238E27FC236}">
                <a16:creationId xmlns:a16="http://schemas.microsoft.com/office/drawing/2014/main" id="{E2CA6576-3A78-2559-09FB-E0E0F68CD102}"/>
              </a:ext>
            </a:extLst>
          </p:cNvPr>
          <p:cNvSpPr>
            <a:spLocks noGrp="1"/>
          </p:cNvSpPr>
          <p:nvPr>
            <p:ph type="title"/>
          </p:nvPr>
        </p:nvSpPr>
        <p:spPr>
          <a:xfrm>
            <a:off x="839789" y="501222"/>
            <a:ext cx="4845707" cy="1325563"/>
          </a:xfrm>
        </p:spPr>
        <p:txBody>
          <a:bodyPr/>
          <a:lstStyle>
            <a:lvl1pPr>
              <a:defRPr sz="4000">
                <a:solidFill>
                  <a:schemeClr val="bg1"/>
                </a:solidFill>
              </a:defRPr>
            </a:lvl1pPr>
          </a:lstStyle>
          <a:p>
            <a:r>
              <a:rPr lang="en-US"/>
              <a:t>Click to edit Master title style</a:t>
            </a:r>
          </a:p>
        </p:txBody>
      </p:sp>
      <p:sp>
        <p:nvSpPr>
          <p:cNvPr id="6" name="Content Placeholder 3">
            <a:extLst>
              <a:ext uri="{FF2B5EF4-FFF2-40B4-BE49-F238E27FC236}">
                <a16:creationId xmlns:a16="http://schemas.microsoft.com/office/drawing/2014/main" id="{4456F247-8E11-C617-EB9F-1BB658DBAD2F}"/>
              </a:ext>
            </a:extLst>
          </p:cNvPr>
          <p:cNvSpPr>
            <a:spLocks noGrp="1"/>
          </p:cNvSpPr>
          <p:nvPr>
            <p:ph sz="half" idx="2"/>
          </p:nvPr>
        </p:nvSpPr>
        <p:spPr>
          <a:xfrm>
            <a:off x="839789" y="2042525"/>
            <a:ext cx="4845706" cy="351644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92972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mpty White Background">
    <p:bg>
      <p:bgPr>
        <a:solidFill>
          <a:schemeClr val="bg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17F261F8-6EEF-8031-980B-6CAFE9E539ED}"/>
              </a:ext>
            </a:extLst>
          </p:cNvPr>
          <p:cNvSpPr>
            <a:spLocks noGrp="1"/>
          </p:cNvSpPr>
          <p:nvPr>
            <p:ph sz="half" idx="2"/>
          </p:nvPr>
        </p:nvSpPr>
        <p:spPr>
          <a:xfrm>
            <a:off x="839788" y="1930400"/>
            <a:ext cx="10468678" cy="3628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BB06300E-0597-31B5-7F5C-A12E0C3CD098}"/>
              </a:ext>
            </a:extLst>
          </p:cNvPr>
          <p:cNvSpPr>
            <a:spLocks noGrp="1"/>
          </p:cNvSpPr>
          <p:nvPr>
            <p:ph type="title"/>
          </p:nvPr>
        </p:nvSpPr>
        <p:spPr>
          <a:xfrm>
            <a:off x="838200" y="581891"/>
            <a:ext cx="10515600" cy="1108797"/>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0813570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5814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Butterfly Title Slide">
    <p:spTree>
      <p:nvGrpSpPr>
        <p:cNvPr id="1" name=""/>
        <p:cNvGrpSpPr/>
        <p:nvPr/>
      </p:nvGrpSpPr>
      <p:grpSpPr>
        <a:xfrm>
          <a:off x="0" y="0"/>
          <a:ext cx="0" cy="0"/>
          <a:chOff x="0" y="0"/>
          <a:chExt cx="0" cy="0"/>
        </a:xfrm>
      </p:grpSpPr>
      <p:pic>
        <p:nvPicPr>
          <p:cNvPr id="27" name="Picture 26" descr="A group of butterflies flying&#10;&#10;Description automatically generated">
            <a:extLst>
              <a:ext uri="{FF2B5EF4-FFF2-40B4-BE49-F238E27FC236}">
                <a16:creationId xmlns:a16="http://schemas.microsoft.com/office/drawing/2014/main" id="{9455075D-EB9D-3667-D016-B2DBF0C5F75B}"/>
              </a:ext>
            </a:extLst>
          </p:cNvPr>
          <p:cNvPicPr>
            <a:picLocks noChangeAspect="1"/>
          </p:cNvPicPr>
          <p:nvPr userDrawn="1"/>
        </p:nvPicPr>
        <p:blipFill rotWithShape="1">
          <a:blip r:embed="rId2" cstate="email">
            <a:alphaModFix amt="40000"/>
            <a:extLst>
              <a:ext uri="{28A0092B-C50C-407E-A947-70E740481C1C}">
                <a14:useLocalDpi xmlns:a14="http://schemas.microsoft.com/office/drawing/2010/main"/>
              </a:ext>
            </a:extLst>
          </a:blip>
          <a:srcRect/>
          <a:stretch/>
        </p:blipFill>
        <p:spPr>
          <a:xfrm>
            <a:off x="0" y="532124"/>
            <a:ext cx="12192000" cy="4695545"/>
          </a:xfrm>
          <a:prstGeom prst="rect">
            <a:avLst/>
          </a:prstGeom>
        </p:spPr>
      </p:pic>
      <p:sp>
        <p:nvSpPr>
          <p:cNvPr id="3" name="Date Placeholder 2">
            <a:extLst>
              <a:ext uri="{FF2B5EF4-FFF2-40B4-BE49-F238E27FC236}">
                <a16:creationId xmlns:a16="http://schemas.microsoft.com/office/drawing/2014/main" id="{1CE419E1-CC1E-227E-2517-E5E1BE513233}"/>
              </a:ext>
            </a:extLst>
          </p:cNvPr>
          <p:cNvSpPr>
            <a:spLocks noGrp="1"/>
          </p:cNvSpPr>
          <p:nvPr>
            <p:ph type="dt" sz="half" idx="10"/>
          </p:nvPr>
        </p:nvSpPr>
        <p:spPr/>
        <p:txBody>
          <a:bodyPr/>
          <a:lstStyle/>
          <a:p>
            <a:pPr>
              <a:defRPr/>
            </a:pPr>
            <a:fld id="{34E0F1E4-7D22-4ED7-BEC4-462628F68A70}" type="datetime1">
              <a:rPr lang="en-US" altLang="en-US" smtClean="0"/>
              <a:pPr>
                <a:defRPr/>
              </a:pPr>
              <a:t>9/30/2026</a:t>
            </a:fld>
            <a:endParaRPr lang="en-US" altLang="en-US"/>
          </a:p>
        </p:txBody>
      </p:sp>
      <p:sp>
        <p:nvSpPr>
          <p:cNvPr id="4" name="Footer Placeholder 3">
            <a:extLst>
              <a:ext uri="{FF2B5EF4-FFF2-40B4-BE49-F238E27FC236}">
                <a16:creationId xmlns:a16="http://schemas.microsoft.com/office/drawing/2014/main" id="{B01983B2-5512-8531-7CCA-1C9D4BBA3D9B}"/>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5766F54F-C279-0863-6D54-6945DB08DF24}"/>
              </a:ext>
            </a:extLst>
          </p:cNvPr>
          <p:cNvSpPr>
            <a:spLocks noGrp="1"/>
          </p:cNvSpPr>
          <p:nvPr>
            <p:ph type="sldNum" sz="quarter" idx="12"/>
          </p:nvPr>
        </p:nvSpPr>
        <p:spPr/>
        <p:txBody>
          <a:bodyPr/>
          <a:lstStyle/>
          <a:p>
            <a:fld id="{D96FA0E0-0A72-4A9E-961C-2C330F1767CE}" type="slidenum">
              <a:rPr lang="en-US" altLang="en-US" smtClean="0"/>
              <a:pPr/>
              <a:t>‹#›</a:t>
            </a:fld>
            <a:endParaRPr lang="en-US" altLang="en-US"/>
          </a:p>
        </p:txBody>
      </p:sp>
      <p:sp>
        <p:nvSpPr>
          <p:cNvPr id="9" name="Title 1">
            <a:extLst>
              <a:ext uri="{FF2B5EF4-FFF2-40B4-BE49-F238E27FC236}">
                <a16:creationId xmlns:a16="http://schemas.microsoft.com/office/drawing/2014/main" id="{29F3B6DD-D3CA-5701-1409-E7F0FCF64A50}"/>
              </a:ext>
            </a:extLst>
          </p:cNvPr>
          <p:cNvSpPr>
            <a:spLocks noGrp="1"/>
          </p:cNvSpPr>
          <p:nvPr>
            <p:ph type="title"/>
          </p:nvPr>
        </p:nvSpPr>
        <p:spPr>
          <a:xfrm>
            <a:off x="2549964" y="1965795"/>
            <a:ext cx="7092064" cy="1694200"/>
          </a:xfrm>
        </p:spPr>
        <p:txBody>
          <a:bodyPr/>
          <a:lstStyle>
            <a:lvl1pPr>
              <a:defRPr sz="5867">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14234652-B41D-C1DC-569A-BA752C527FB5}"/>
              </a:ext>
            </a:extLst>
          </p:cNvPr>
          <p:cNvSpPr>
            <a:spLocks noGrp="1"/>
          </p:cNvSpPr>
          <p:nvPr>
            <p:ph type="body" sz="quarter" idx="13" hasCustomPrompt="1"/>
          </p:nvPr>
        </p:nvSpPr>
        <p:spPr>
          <a:xfrm>
            <a:off x="2114122" y="4007010"/>
            <a:ext cx="7963751" cy="560917"/>
          </a:xfrm>
        </p:spPr>
        <p:txBody>
          <a:bodyPr/>
          <a:lstStyle>
            <a:lvl1pPr marL="0" indent="0" algn="ctr">
              <a:buNone/>
              <a:defRPr sz="3200" b="0" i="1">
                <a:solidFill>
                  <a:schemeClr val="tx1"/>
                </a:solidFill>
                <a:latin typeface="Garamond" panose="02020404030301010803" pitchFamily="18" charset="0"/>
              </a:defRPr>
            </a:lvl1pPr>
          </a:lstStyle>
          <a:p>
            <a:pPr lvl="0"/>
            <a:r>
              <a:rPr lang="en-US"/>
              <a:t>Add Subtitle Here</a:t>
            </a:r>
          </a:p>
        </p:txBody>
      </p:sp>
      <p:pic>
        <p:nvPicPr>
          <p:cNvPr id="6" name="Picture 5" descr="A black background with a black square&#10;&#10;Description automatically generated with medium confidence">
            <a:extLst>
              <a:ext uri="{FF2B5EF4-FFF2-40B4-BE49-F238E27FC236}">
                <a16:creationId xmlns:a16="http://schemas.microsoft.com/office/drawing/2014/main" id="{D46924BC-0AFF-2633-FDC9-68CCE0AABECA}"/>
              </a:ext>
            </a:extLst>
          </p:cNvPr>
          <p:cNvPicPr>
            <a:picLocks noChangeAspect="1"/>
          </p:cNvPicPr>
          <p:nvPr userDrawn="1"/>
        </p:nvPicPr>
        <p:blipFill>
          <a:blip r:embed="rId3"/>
          <a:stretch>
            <a:fillRect/>
          </a:stretch>
        </p:blipFill>
        <p:spPr>
          <a:xfrm>
            <a:off x="4448557" y="5825553"/>
            <a:ext cx="3294879" cy="713889"/>
          </a:xfrm>
          <a:prstGeom prst="rect">
            <a:avLst/>
          </a:prstGeom>
        </p:spPr>
      </p:pic>
    </p:spTree>
    <p:extLst>
      <p:ext uri="{BB962C8B-B14F-4D97-AF65-F5344CB8AC3E}">
        <p14:creationId xmlns:p14="http://schemas.microsoft.com/office/powerpoint/2010/main" val="16996976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35141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D9F836-951F-1845-3866-5E4E5003F3BD}"/>
              </a:ext>
            </a:extLst>
          </p:cNvPr>
          <p:cNvSpPr>
            <a:spLocks noGrp="1"/>
          </p:cNvSpPr>
          <p:nvPr>
            <p:ph type="title"/>
          </p:nvPr>
        </p:nvSpPr>
        <p:spPr>
          <a:xfrm>
            <a:off x="838200" y="581891"/>
            <a:ext cx="10515600" cy="11087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79E7F6-C588-B77F-3D91-DC3D5E1606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015556"/>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92" r:id="rId4"/>
    <p:sldLayoutId id="2147483693" r:id="rId5"/>
    <p:sldLayoutId id="2147483660" r:id="rId6"/>
    <p:sldLayoutId id="2147483663" r:id="rId7"/>
    <p:sldLayoutId id="2147483665" r:id="rId8"/>
    <p:sldLayoutId id="2147483667" r:id="rId9"/>
    <p:sldLayoutId id="2147483664" r:id="rId10"/>
    <p:sldLayoutId id="2147483666" r:id="rId11"/>
    <p:sldLayoutId id="2147483650"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83" r:id="rId21"/>
    <p:sldLayoutId id="2147483684" r:id="rId22"/>
    <p:sldLayoutId id="2147483685" r:id="rId23"/>
    <p:sldLayoutId id="2147483676" r:id="rId24"/>
    <p:sldLayoutId id="2147483677" r:id="rId25"/>
    <p:sldLayoutId id="2147483678" r:id="rId26"/>
    <p:sldLayoutId id="2147483680" r:id="rId27"/>
    <p:sldLayoutId id="2147483681" r:id="rId28"/>
    <p:sldLayoutId id="2147483682" r:id="rId29"/>
    <p:sldLayoutId id="2147483679" r:id="rId30"/>
    <p:sldLayoutId id="2147483686" r:id="rId31"/>
    <p:sldLayoutId id="2147483687" r:id="rId32"/>
    <p:sldLayoutId id="2147483690" r:id="rId33"/>
    <p:sldLayoutId id="2147483691" r:id="rId34"/>
    <p:sldLayoutId id="2147483689" r:id="rId35"/>
    <p:sldLayoutId id="2147483696" r:id="rId36"/>
    <p:sldLayoutId id="2147483698" r:id="rId37"/>
    <p:sldLayoutId id="2147483697" r:id="rId38"/>
    <p:sldLayoutId id="2147483699" r:id="rId39"/>
    <p:sldLayoutId id="2147483688" r:id="rId40"/>
    <p:sldLayoutId id="2147483694" r:id="rId41"/>
    <p:sldLayoutId id="2147483695" r:id="rId42"/>
    <p:sldLayoutId id="2147483700" r:id="rId43"/>
    <p:sldLayoutId id="2147483701" r:id="rId4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xml"/><Relationship Id="rId1" Type="http://schemas.openxmlformats.org/officeDocument/2006/relationships/slideLayout" Target="../slideLayouts/slideLayout32.xml"/><Relationship Id="rId4" Type="http://schemas.openxmlformats.org/officeDocument/2006/relationships/image" Target="../media/image28.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8.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4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B2D8-0C2C-2768-9388-5F9AA19BF6DE}"/>
              </a:ext>
            </a:extLst>
          </p:cNvPr>
          <p:cNvSpPr>
            <a:spLocks noGrp="1"/>
          </p:cNvSpPr>
          <p:nvPr>
            <p:ph type="ctrTitle"/>
          </p:nvPr>
        </p:nvSpPr>
        <p:spPr>
          <a:xfrm>
            <a:off x="1524000" y="1841842"/>
            <a:ext cx="9144000" cy="2232706"/>
          </a:xfrm>
        </p:spPr>
        <p:txBody>
          <a:bodyPr>
            <a:normAutofit fontScale="90000"/>
          </a:bodyPr>
          <a:lstStyle/>
          <a:p>
            <a:r>
              <a:rPr lang="en-US" sz="4800"/>
              <a:t>Making Sense of the Score:</a:t>
            </a:r>
            <a:br>
              <a:rPr lang="en-US" sz="4800"/>
            </a:br>
            <a:r>
              <a:rPr lang="en-US" sz="4800"/>
              <a:t>Connecting Research and Clinical Practice for Measurement-Based Care</a:t>
            </a:r>
            <a:endParaRPr lang="en-US"/>
          </a:p>
        </p:txBody>
      </p:sp>
      <p:sp>
        <p:nvSpPr>
          <p:cNvPr id="3" name="Subtitle 2">
            <a:extLst>
              <a:ext uri="{FF2B5EF4-FFF2-40B4-BE49-F238E27FC236}">
                <a16:creationId xmlns:a16="http://schemas.microsoft.com/office/drawing/2014/main" id="{1487C22D-A170-B130-24F7-E96CC0B992B2}"/>
              </a:ext>
            </a:extLst>
          </p:cNvPr>
          <p:cNvSpPr>
            <a:spLocks noGrp="1"/>
          </p:cNvSpPr>
          <p:nvPr>
            <p:ph type="subTitle" idx="1"/>
          </p:nvPr>
        </p:nvSpPr>
        <p:spPr>
          <a:xfrm>
            <a:off x="1524000" y="4176269"/>
            <a:ext cx="9144000" cy="961281"/>
          </a:xfrm>
        </p:spPr>
        <p:txBody>
          <a:bodyPr vert="horz" lIns="91440" tIns="45720" rIns="91440" bIns="45720" rtlCol="0" anchor="t">
            <a:normAutofit/>
          </a:bodyPr>
          <a:lstStyle/>
          <a:p>
            <a:r>
              <a:rPr lang="en-US"/>
              <a:t>BH Grand Rounds | October 1</a:t>
            </a:r>
            <a:r>
              <a:rPr lang="en-US" baseline="30000"/>
              <a:t>st</a:t>
            </a:r>
            <a:r>
              <a:rPr lang="en-US"/>
              <a:t>, 2026</a:t>
            </a:r>
          </a:p>
          <a:p>
            <a:r>
              <a:rPr lang="en-US">
                <a:ea typeface="+mn-lt"/>
                <a:cs typeface="+mn-lt"/>
              </a:rPr>
              <a:t>Musa Yilanli, MD; Courtney Cleminshaw-Mahan, PhD; Ellie Nienaber, BA</a:t>
            </a:r>
            <a:endParaRPr lang="en-US"/>
          </a:p>
          <a:p>
            <a:endParaRPr lang="en-US"/>
          </a:p>
        </p:txBody>
      </p:sp>
    </p:spTree>
    <p:extLst>
      <p:ext uri="{BB962C8B-B14F-4D97-AF65-F5344CB8AC3E}">
        <p14:creationId xmlns:p14="http://schemas.microsoft.com/office/powerpoint/2010/main" val="3716967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E8C0F0-3590-EDF7-F025-89550D7B5589}"/>
              </a:ext>
            </a:extLst>
          </p:cNvPr>
          <p:cNvSpPr txBox="1">
            <a:spLocks/>
          </p:cNvSpPr>
          <p:nvPr/>
        </p:nvSpPr>
        <p:spPr>
          <a:xfrm>
            <a:off x="481542" y="2642251"/>
            <a:ext cx="11228917" cy="1573499"/>
          </a:xfrm>
          <a:prstGeom prst="flowChartAlternateProcess">
            <a:avLst/>
          </a:prstGeom>
          <a:solidFill>
            <a:schemeClr val="tx2">
              <a:lumMod val="20000"/>
              <a:lumOff val="80000"/>
            </a:schemeClr>
          </a:solidFill>
          <a:ln w="12700">
            <a:noFill/>
            <a:miter lim="800000"/>
            <a:headEnd/>
            <a:tailEnd/>
          </a:ln>
        </p:spPr>
        <p:txBody>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Geneva" charset="0"/>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Arial" charset="0"/>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Arial" charset="0"/>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Arial"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altLang="en-US" sz="3733">
                <a:latin typeface="+mn-lt"/>
                <a:cs typeface="Arial" panose="020B0604020202020204" pitchFamily="34" charset="0"/>
              </a:rPr>
              <a:t>If this is your </a:t>
            </a:r>
            <a:r>
              <a:rPr lang="en-US" altLang="en-US" sz="3733" b="1" u="sng">
                <a:latin typeface="+mn-lt"/>
                <a:cs typeface="Arial" panose="020B0604020202020204" pitchFamily="34" charset="0"/>
              </a:rPr>
              <a:t>first time</a:t>
            </a:r>
            <a:r>
              <a:rPr lang="en-US" altLang="en-US" sz="3733" b="1">
                <a:latin typeface="+mn-lt"/>
                <a:cs typeface="Arial" panose="020B0604020202020204" pitchFamily="34" charset="0"/>
              </a:rPr>
              <a:t> </a:t>
            </a:r>
            <a:r>
              <a:rPr lang="en-US" altLang="en-US" sz="3733">
                <a:latin typeface="+mn-lt"/>
                <a:cs typeface="Arial" panose="020B0604020202020204" pitchFamily="34" charset="0"/>
              </a:rPr>
              <a:t>using text-in attendance,</a:t>
            </a:r>
          </a:p>
          <a:p>
            <a:pPr marL="0" indent="0" algn="ctr">
              <a:buNone/>
            </a:pPr>
            <a:r>
              <a:rPr lang="en-US" altLang="en-US" sz="3733">
                <a:latin typeface="+mn-lt"/>
                <a:cs typeface="Arial" panose="020B0604020202020204" pitchFamily="34" charset="0"/>
              </a:rPr>
              <a:t>text</a:t>
            </a:r>
            <a:r>
              <a:rPr lang="en-US" altLang="en-US" sz="3733" b="1">
                <a:latin typeface="+mn-lt"/>
                <a:cs typeface="Arial" panose="020B0604020202020204" pitchFamily="34" charset="0"/>
              </a:rPr>
              <a:t> </a:t>
            </a:r>
            <a:r>
              <a:rPr lang="en-US" altLang="en-US" sz="3733">
                <a:latin typeface="+mn-lt"/>
                <a:cs typeface="Arial" panose="020B0604020202020204" pitchFamily="34" charset="0"/>
              </a:rPr>
              <a:t>your</a:t>
            </a:r>
            <a:r>
              <a:rPr lang="en-US" altLang="en-US" sz="3733" b="1">
                <a:latin typeface="+mn-lt"/>
                <a:cs typeface="Arial" panose="020B0604020202020204" pitchFamily="34" charset="0"/>
              </a:rPr>
              <a:t> </a:t>
            </a:r>
            <a:r>
              <a:rPr lang="en-US" altLang="en-US" sz="3733" b="1">
                <a:solidFill>
                  <a:srgbClr val="0070C0"/>
                </a:solidFill>
                <a:latin typeface="+mn-lt"/>
                <a:cs typeface="Arial" panose="020B0604020202020204" pitchFamily="34" charset="0"/>
              </a:rPr>
              <a:t>NCH email </a:t>
            </a:r>
            <a:r>
              <a:rPr lang="en-US" altLang="en-US" sz="3733">
                <a:latin typeface="+mn-lt"/>
                <a:cs typeface="Arial" panose="020B0604020202020204" pitchFamily="34" charset="0"/>
              </a:rPr>
              <a:t>to</a:t>
            </a:r>
            <a:r>
              <a:rPr lang="en-US" altLang="en-US" sz="3733" b="1">
                <a:latin typeface="+mn-lt"/>
                <a:cs typeface="Arial" panose="020B0604020202020204" pitchFamily="34" charset="0"/>
              </a:rPr>
              <a:t> </a:t>
            </a:r>
            <a:r>
              <a:rPr lang="en-US" altLang="en-US" sz="3733" b="1">
                <a:solidFill>
                  <a:srgbClr val="0070C0"/>
                </a:solidFill>
                <a:latin typeface="+mn-lt"/>
                <a:cs typeface="Arial" panose="020B0604020202020204" pitchFamily="34" charset="0"/>
              </a:rPr>
              <a:t>(844) 980-3318</a:t>
            </a:r>
          </a:p>
        </p:txBody>
      </p:sp>
      <p:sp>
        <p:nvSpPr>
          <p:cNvPr id="5" name="TextBox 1">
            <a:extLst>
              <a:ext uri="{FF2B5EF4-FFF2-40B4-BE49-F238E27FC236}">
                <a16:creationId xmlns:a16="http://schemas.microsoft.com/office/drawing/2014/main" id="{2A69F261-82B4-44EC-6E21-8838BEF12C58}"/>
              </a:ext>
            </a:extLst>
          </p:cNvPr>
          <p:cNvSpPr txBox="1">
            <a:spLocks noChangeArrowheads="1"/>
          </p:cNvSpPr>
          <p:nvPr/>
        </p:nvSpPr>
        <p:spPr bwMode="auto">
          <a:xfrm>
            <a:off x="481542" y="668978"/>
            <a:ext cx="11228917" cy="995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Geneva"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5867" b="1">
                <a:latin typeface="+mn-lt"/>
                <a:cs typeface="Arial" panose="020B0604020202020204" pitchFamily="34" charset="0"/>
              </a:rPr>
              <a:t>Start of Training</a:t>
            </a:r>
          </a:p>
        </p:txBody>
      </p:sp>
    </p:spTree>
    <p:extLst>
      <p:ext uri="{BB962C8B-B14F-4D97-AF65-F5344CB8AC3E}">
        <p14:creationId xmlns:p14="http://schemas.microsoft.com/office/powerpoint/2010/main" val="715095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87C7-154B-3E02-AFCE-D02B4EFFDA2F}"/>
              </a:ext>
            </a:extLst>
          </p:cNvPr>
          <p:cNvSpPr>
            <a:spLocks noGrp="1"/>
          </p:cNvSpPr>
          <p:nvPr>
            <p:ph type="title"/>
          </p:nvPr>
        </p:nvSpPr>
        <p:spPr/>
        <p:txBody>
          <a:bodyPr>
            <a:normAutofit/>
          </a:bodyPr>
          <a:lstStyle/>
          <a:p>
            <a:r>
              <a:rPr lang="en-US"/>
              <a:t>Objectives</a:t>
            </a:r>
            <a:br>
              <a:rPr lang="en-US"/>
            </a:br>
            <a:r>
              <a:rPr lang="en-US" sz="2700">
                <a:ea typeface="Roboto Condensed Black"/>
              </a:rPr>
              <a:t>By the end of this session, attendees will be able to...</a:t>
            </a:r>
          </a:p>
        </p:txBody>
      </p:sp>
      <p:sp>
        <p:nvSpPr>
          <p:cNvPr id="3" name="Content Placeholder 2">
            <a:extLst>
              <a:ext uri="{FF2B5EF4-FFF2-40B4-BE49-F238E27FC236}">
                <a16:creationId xmlns:a16="http://schemas.microsoft.com/office/drawing/2014/main" id="{7678D86E-6D79-AA16-99E8-CA5292E1FE28}"/>
              </a:ext>
            </a:extLst>
          </p:cNvPr>
          <p:cNvSpPr>
            <a:spLocks noGrp="1"/>
          </p:cNvSpPr>
          <p:nvPr>
            <p:ph idx="1"/>
          </p:nvPr>
        </p:nvSpPr>
        <p:spPr/>
        <p:txBody>
          <a:bodyPr anchor="ctr"/>
          <a:lstStyle/>
          <a:p>
            <a:r>
              <a:rPr lang="en-US" dirty="0">
                <a:ea typeface="+mn-lt"/>
                <a:cs typeface="+mn-lt"/>
              </a:rPr>
              <a:t>Understand the connection between research and practice relative to measurement-based care (MBC) in behavioral health.</a:t>
            </a:r>
          </a:p>
          <a:p>
            <a:r>
              <a:rPr lang="en-US" dirty="0">
                <a:ea typeface="+mn-lt"/>
                <a:cs typeface="+mn-lt"/>
              </a:rPr>
              <a:t>Formulate questions related to the implementation of MBC for a multidisciplinary panel from across the hospital.</a:t>
            </a:r>
          </a:p>
          <a:p>
            <a:r>
              <a:rPr lang="en-US" dirty="0"/>
              <a:t>Incorporate measurement findings, multiple perspectives, and functional goals into clinical decision making.</a:t>
            </a:r>
          </a:p>
          <a:p>
            <a:r>
              <a:rPr lang="en-US" dirty="0"/>
              <a:t>Explain how specific measures can be used in different stages of MBC.</a:t>
            </a:r>
          </a:p>
        </p:txBody>
      </p:sp>
    </p:spTree>
    <p:extLst>
      <p:ext uri="{BB962C8B-B14F-4D97-AF65-F5344CB8AC3E}">
        <p14:creationId xmlns:p14="http://schemas.microsoft.com/office/powerpoint/2010/main" val="115478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775B975-12BA-E1A1-316D-4CABA3FA7EBA}"/>
              </a:ext>
            </a:extLst>
          </p:cNvPr>
          <p:cNvSpPr/>
          <p:nvPr/>
        </p:nvSpPr>
        <p:spPr>
          <a:xfrm>
            <a:off x="6086263" y="-477748"/>
            <a:ext cx="8487705" cy="8669454"/>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0F1BB01-8337-A918-626C-09EB86F734C3}"/>
              </a:ext>
            </a:extLst>
          </p:cNvPr>
          <p:cNvSpPr/>
          <p:nvPr/>
        </p:nvSpPr>
        <p:spPr>
          <a:xfrm>
            <a:off x="6487034" y="-496375"/>
            <a:ext cx="7686165" cy="7850750"/>
          </a:xfrm>
          <a:prstGeom prst="ellipse">
            <a:avLst/>
          </a:prstGeom>
          <a:blipFill>
            <a:blip r:embed="rId3" cstate="email">
              <a:extLst>
                <a:ext uri="{28A0092B-C50C-407E-A947-70E740481C1C}">
                  <a14:useLocalDpi xmlns:a14="http://schemas.microsoft.com/office/drawing/2010/main"/>
                </a:ext>
              </a:extLst>
            </a:blip>
            <a:srcRect/>
            <a:stretch>
              <a:fillRect t="23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A027098-A705-310E-63AE-CE3E9EB84A82}"/>
              </a:ext>
            </a:extLst>
          </p:cNvPr>
          <p:cNvPicPr>
            <a:picLocks noChangeAspect="1"/>
          </p:cNvPicPr>
          <p:nvPr/>
        </p:nvPicPr>
        <p:blipFill>
          <a:blip r:embed="rId4"/>
          <a:stretch>
            <a:fillRect/>
          </a:stretch>
        </p:blipFill>
        <p:spPr>
          <a:xfrm>
            <a:off x="3169766" y="4815475"/>
            <a:ext cx="5846713" cy="1772504"/>
          </a:xfrm>
          <a:prstGeom prst="rect">
            <a:avLst/>
          </a:prstGeom>
        </p:spPr>
      </p:pic>
      <p:sp>
        <p:nvSpPr>
          <p:cNvPr id="7" name="Title 1">
            <a:extLst>
              <a:ext uri="{FF2B5EF4-FFF2-40B4-BE49-F238E27FC236}">
                <a16:creationId xmlns:a16="http://schemas.microsoft.com/office/drawing/2014/main" id="{9022FFEE-BCB1-2E88-2FB6-197420FD5F72}"/>
              </a:ext>
            </a:extLst>
          </p:cNvPr>
          <p:cNvSpPr>
            <a:spLocks noGrp="1"/>
          </p:cNvSpPr>
          <p:nvPr>
            <p:ph type="title"/>
          </p:nvPr>
        </p:nvSpPr>
        <p:spPr>
          <a:xfrm>
            <a:off x="838199" y="365125"/>
            <a:ext cx="7077075" cy="1325563"/>
          </a:xfrm>
        </p:spPr>
        <p:txBody>
          <a:bodyPr>
            <a:normAutofit/>
          </a:bodyPr>
          <a:lstStyle/>
          <a:p>
            <a:r>
              <a:rPr lang="en-US" sz="3200"/>
              <a:t>Measurement-Based Care (MBC)</a:t>
            </a:r>
          </a:p>
        </p:txBody>
      </p:sp>
      <p:sp>
        <p:nvSpPr>
          <p:cNvPr id="8" name="Content Placeholder 11">
            <a:extLst>
              <a:ext uri="{FF2B5EF4-FFF2-40B4-BE49-F238E27FC236}">
                <a16:creationId xmlns:a16="http://schemas.microsoft.com/office/drawing/2014/main" id="{D92385FA-52FA-CD5F-7DE0-2764DA86CF7E}"/>
              </a:ext>
            </a:extLst>
          </p:cNvPr>
          <p:cNvSpPr>
            <a:spLocks noGrp="1"/>
          </p:cNvSpPr>
          <p:nvPr>
            <p:ph sz="half" idx="4294967295"/>
          </p:nvPr>
        </p:nvSpPr>
        <p:spPr>
          <a:xfrm>
            <a:off x="842699" y="1393965"/>
            <a:ext cx="4654092" cy="3785961"/>
          </a:xfrm>
        </p:spPr>
        <p:txBody>
          <a:bodyPr vert="horz" lIns="91440" tIns="45720" rIns="91440" bIns="45720" rtlCol="0" anchor="t">
            <a:normAutofit/>
          </a:bodyPr>
          <a:lstStyle/>
          <a:p>
            <a:pPr>
              <a:spcAft>
                <a:spcPts val="1200"/>
              </a:spcAft>
            </a:pPr>
            <a:r>
              <a:rPr lang="en-US" altLang="en-US">
                <a:ea typeface="ＭＳ Ｐゴシック"/>
                <a:cs typeface="ＭＳ Ｐゴシック" panose="020B0600070205080204" pitchFamily="34" charset="-128"/>
              </a:rPr>
              <a:t>Systematic collection of patient-reported measures to </a:t>
            </a:r>
            <a:r>
              <a:rPr lang="en-US" altLang="en-US" b="1">
                <a:solidFill>
                  <a:schemeClr val="tx2">
                    <a:lumMod val="40000"/>
                    <a:lumOff val="60000"/>
                  </a:schemeClr>
                </a:solidFill>
                <a:ea typeface="ＭＳ Ｐゴシック"/>
                <a:cs typeface="ＭＳ Ｐゴシック" panose="020B0600070205080204" pitchFamily="34" charset="-128"/>
              </a:rPr>
              <a:t>monitor</a:t>
            </a:r>
            <a:r>
              <a:rPr lang="en-US" altLang="en-US">
                <a:ea typeface="ＭＳ Ｐゴシック"/>
                <a:cs typeface="ＭＳ Ｐゴシック" panose="020B0600070205080204" pitchFamily="34" charset="-128"/>
              </a:rPr>
              <a:t> treatment progress and </a:t>
            </a:r>
            <a:r>
              <a:rPr lang="en-US" altLang="en-US" b="1">
                <a:solidFill>
                  <a:schemeClr val="tx2">
                    <a:lumMod val="40000"/>
                    <a:lumOff val="60000"/>
                  </a:schemeClr>
                </a:solidFill>
                <a:ea typeface="ＭＳ Ｐゴシック"/>
                <a:cs typeface="ＭＳ Ｐゴシック" panose="020B0600070205080204" pitchFamily="34" charset="-128"/>
              </a:rPr>
              <a:t>inform</a:t>
            </a:r>
            <a:r>
              <a:rPr lang="en-US" altLang="en-US">
                <a:ea typeface="ＭＳ Ｐゴシック"/>
                <a:cs typeface="ＭＳ Ｐゴシック" panose="020B0600070205080204" pitchFamily="34" charset="-128"/>
              </a:rPr>
              <a:t> clinical decision-making </a:t>
            </a:r>
            <a:r>
              <a:rPr lang="en-US" altLang="en-US" sz="1600">
                <a:ea typeface="ＭＳ Ｐゴシック"/>
                <a:cs typeface="ＭＳ Ｐゴシック" panose="020B0600070205080204" pitchFamily="34" charset="-128"/>
              </a:rPr>
              <a:t>(Scott &amp; Lewis, 2015)</a:t>
            </a:r>
          </a:p>
          <a:p>
            <a:pPr>
              <a:spcAft>
                <a:spcPts val="1200"/>
              </a:spcAft>
            </a:pPr>
            <a:r>
              <a:rPr lang="en-US" altLang="en-US">
                <a:ea typeface="ＭＳ Ｐゴシック"/>
                <a:cs typeface="ＭＳ Ｐゴシック" panose="020B0600070205080204" pitchFamily="34" charset="-128"/>
              </a:rPr>
              <a:t>What is required for MBC?</a:t>
            </a:r>
          </a:p>
          <a:p>
            <a:pPr>
              <a:spcAft>
                <a:spcPts val="1200"/>
              </a:spcAft>
            </a:pPr>
            <a:r>
              <a:rPr lang="en-US" altLang="en-US">
                <a:ea typeface="ＭＳ Ｐゴシック"/>
                <a:cs typeface="ＭＳ Ｐゴシック" panose="020B0600070205080204" pitchFamily="34" charset="-128"/>
              </a:rPr>
              <a:t>What is helpful for MBC?</a:t>
            </a:r>
          </a:p>
        </p:txBody>
      </p:sp>
    </p:spTree>
    <p:extLst>
      <p:ext uri="{BB962C8B-B14F-4D97-AF65-F5344CB8AC3E}">
        <p14:creationId xmlns:p14="http://schemas.microsoft.com/office/powerpoint/2010/main" val="307298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E2976-CAB8-12DA-C063-2B1531F119C1}"/>
              </a:ext>
            </a:extLst>
          </p:cNvPr>
          <p:cNvSpPr>
            <a:spLocks noGrp="1"/>
          </p:cNvSpPr>
          <p:nvPr>
            <p:ph type="title"/>
          </p:nvPr>
        </p:nvSpPr>
        <p:spPr/>
        <p:txBody>
          <a:bodyPr/>
          <a:lstStyle/>
          <a:p>
            <a:r>
              <a:rPr lang="en-US"/>
              <a:t>BENCHMARK Research Focus</a:t>
            </a:r>
          </a:p>
        </p:txBody>
      </p:sp>
      <p:sp>
        <p:nvSpPr>
          <p:cNvPr id="3" name="Content Placeholder 2">
            <a:extLst>
              <a:ext uri="{FF2B5EF4-FFF2-40B4-BE49-F238E27FC236}">
                <a16:creationId xmlns:a16="http://schemas.microsoft.com/office/drawing/2014/main" id="{5F514C3A-CFE9-94BB-26DB-1FA4B50E1955}"/>
              </a:ext>
            </a:extLst>
          </p:cNvPr>
          <p:cNvSpPr>
            <a:spLocks noGrp="1"/>
          </p:cNvSpPr>
          <p:nvPr>
            <p:ph sz="half" idx="2"/>
          </p:nvPr>
        </p:nvSpPr>
        <p:spPr/>
        <p:txBody>
          <a:bodyPr/>
          <a:lstStyle/>
          <a:p>
            <a:r>
              <a:rPr lang="en-US"/>
              <a:t>Reliability</a:t>
            </a:r>
          </a:p>
          <a:p>
            <a:r>
              <a:rPr lang="en-US"/>
              <a:t>Validity</a:t>
            </a:r>
          </a:p>
          <a:p>
            <a:r>
              <a:rPr lang="en-US"/>
              <a:t>Factor structure</a:t>
            </a:r>
          </a:p>
          <a:p>
            <a:r>
              <a:rPr lang="en-US"/>
              <a:t>Retest dependability</a:t>
            </a:r>
          </a:p>
          <a:p>
            <a:r>
              <a:rPr lang="en-US"/>
              <a:t>Measurement invariance</a:t>
            </a:r>
          </a:p>
        </p:txBody>
      </p:sp>
      <p:sp>
        <p:nvSpPr>
          <p:cNvPr id="4" name="Content Placeholder 3">
            <a:extLst>
              <a:ext uri="{FF2B5EF4-FFF2-40B4-BE49-F238E27FC236}">
                <a16:creationId xmlns:a16="http://schemas.microsoft.com/office/drawing/2014/main" id="{FB53C485-D577-CC16-7036-62B88A70BDBE}"/>
              </a:ext>
            </a:extLst>
          </p:cNvPr>
          <p:cNvSpPr>
            <a:spLocks noGrp="1"/>
          </p:cNvSpPr>
          <p:nvPr>
            <p:ph sz="quarter" idx="4"/>
          </p:nvPr>
        </p:nvSpPr>
        <p:spPr>
          <a:xfrm>
            <a:off x="6172200" y="2505075"/>
            <a:ext cx="5796280" cy="3053896"/>
          </a:xfrm>
        </p:spPr>
        <p:txBody>
          <a:bodyPr/>
          <a:lstStyle/>
          <a:p>
            <a:r>
              <a:rPr lang="en-US" dirty="0"/>
              <a:t>Nationally-representative norms</a:t>
            </a:r>
          </a:p>
          <a:p>
            <a:r>
              <a:rPr lang="en-US" dirty="0"/>
              <a:t>Clinical significance benchmarks</a:t>
            </a:r>
          </a:p>
          <a:p>
            <a:r>
              <a:rPr lang="en-US" dirty="0"/>
              <a:t>Minimally important difference (MID)</a:t>
            </a:r>
          </a:p>
          <a:p>
            <a:r>
              <a:rPr lang="en-US" dirty="0"/>
              <a:t>Reliable change indices (RCI)</a:t>
            </a:r>
          </a:p>
        </p:txBody>
      </p:sp>
      <p:sp>
        <p:nvSpPr>
          <p:cNvPr id="5" name="Text Placeholder 4">
            <a:extLst>
              <a:ext uri="{FF2B5EF4-FFF2-40B4-BE49-F238E27FC236}">
                <a16:creationId xmlns:a16="http://schemas.microsoft.com/office/drawing/2014/main" id="{349936E6-AA97-D878-B28A-F77AC3C35444}"/>
              </a:ext>
            </a:extLst>
          </p:cNvPr>
          <p:cNvSpPr>
            <a:spLocks noGrp="1"/>
          </p:cNvSpPr>
          <p:nvPr>
            <p:ph type="body" idx="1"/>
          </p:nvPr>
        </p:nvSpPr>
        <p:spPr/>
        <p:txBody>
          <a:bodyPr/>
          <a:lstStyle/>
          <a:p>
            <a:r>
              <a:rPr lang="en-US"/>
              <a:t>Psychometric Properties</a:t>
            </a:r>
          </a:p>
        </p:txBody>
      </p:sp>
      <p:sp>
        <p:nvSpPr>
          <p:cNvPr id="6" name="Text Placeholder 5">
            <a:extLst>
              <a:ext uri="{FF2B5EF4-FFF2-40B4-BE49-F238E27FC236}">
                <a16:creationId xmlns:a16="http://schemas.microsoft.com/office/drawing/2014/main" id="{DD63CA66-F504-47E7-B611-78A177DBA914}"/>
              </a:ext>
            </a:extLst>
          </p:cNvPr>
          <p:cNvSpPr>
            <a:spLocks noGrp="1"/>
          </p:cNvSpPr>
          <p:nvPr>
            <p:ph type="body" sz="quarter" idx="3"/>
          </p:nvPr>
        </p:nvSpPr>
        <p:spPr/>
        <p:txBody>
          <a:bodyPr/>
          <a:lstStyle/>
          <a:p>
            <a:r>
              <a:rPr lang="en-US"/>
              <a:t>Clinical Application Tools</a:t>
            </a:r>
          </a:p>
        </p:txBody>
      </p:sp>
      <p:sp>
        <p:nvSpPr>
          <p:cNvPr id="7" name="Oval 6">
            <a:extLst>
              <a:ext uri="{FF2B5EF4-FFF2-40B4-BE49-F238E27FC236}">
                <a16:creationId xmlns:a16="http://schemas.microsoft.com/office/drawing/2014/main" id="{9FCC26FF-754A-0A39-BED3-D0AB30F9054E}"/>
              </a:ext>
            </a:extLst>
          </p:cNvPr>
          <p:cNvSpPr/>
          <p:nvPr/>
        </p:nvSpPr>
        <p:spPr>
          <a:xfrm>
            <a:off x="721360" y="2358429"/>
            <a:ext cx="2164080" cy="720051"/>
          </a:xfrm>
          <a:custGeom>
            <a:avLst/>
            <a:gdLst>
              <a:gd name="csX0" fmla="*/ 0 w 2164080"/>
              <a:gd name="csY0" fmla="*/ 360026 h 720051"/>
              <a:gd name="csX1" fmla="*/ 1082040 w 2164080"/>
              <a:gd name="csY1" fmla="*/ 0 h 720051"/>
              <a:gd name="csX2" fmla="*/ 2164080 w 2164080"/>
              <a:gd name="csY2" fmla="*/ 360026 h 720051"/>
              <a:gd name="csX3" fmla="*/ 1082040 w 2164080"/>
              <a:gd name="csY3" fmla="*/ 720052 h 720051"/>
              <a:gd name="csX4" fmla="*/ 0 w 2164080"/>
              <a:gd name="csY4" fmla="*/ 360026 h 720051"/>
            </a:gdLst>
            <a:ahLst/>
            <a:cxnLst>
              <a:cxn ang="0">
                <a:pos x="csX0" y="csY0"/>
              </a:cxn>
              <a:cxn ang="0">
                <a:pos x="csX1" y="csY1"/>
              </a:cxn>
              <a:cxn ang="0">
                <a:pos x="csX2" y="csY2"/>
              </a:cxn>
              <a:cxn ang="0">
                <a:pos x="csX3" y="csY3"/>
              </a:cxn>
              <a:cxn ang="0">
                <a:pos x="csX4" y="csY4"/>
              </a:cxn>
            </a:cxnLst>
            <a:rect l="l" t="t" r="r" b="b"/>
            <a:pathLst>
              <a:path w="2164080" h="720051" extrusionOk="0">
                <a:moveTo>
                  <a:pt x="0" y="360026"/>
                </a:moveTo>
                <a:cubicBezTo>
                  <a:pt x="-61991" y="163841"/>
                  <a:pt x="540346" y="54959"/>
                  <a:pt x="1082040" y="0"/>
                </a:cubicBezTo>
                <a:cubicBezTo>
                  <a:pt x="1693278" y="28002"/>
                  <a:pt x="2164977" y="188564"/>
                  <a:pt x="2164080" y="360026"/>
                </a:cubicBezTo>
                <a:cubicBezTo>
                  <a:pt x="2138880" y="520843"/>
                  <a:pt x="1738937" y="791753"/>
                  <a:pt x="1082040" y="720052"/>
                </a:cubicBezTo>
                <a:cubicBezTo>
                  <a:pt x="489481" y="701325"/>
                  <a:pt x="11227" y="579795"/>
                  <a:pt x="0" y="360026"/>
                </a:cubicBezTo>
                <a:close/>
              </a:path>
            </a:pathLst>
          </a:custGeom>
          <a:noFill/>
          <a:ln w="38100">
            <a:solidFill>
              <a:schemeClr val="bg1"/>
            </a:solidFill>
            <a:extLst>
              <a:ext uri="{C807C97D-BFC1-408E-A445-0C87EB9F89A2}">
                <ask:lineSketchStyleProps xmlns:ask="http://schemas.microsoft.com/office/drawing/2018/sketchyshapes" sd="2650216993">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9FC59A6-518E-68FA-23C2-541EAE8B5F9E}"/>
              </a:ext>
            </a:extLst>
          </p:cNvPr>
          <p:cNvSpPr/>
          <p:nvPr/>
        </p:nvSpPr>
        <p:spPr>
          <a:xfrm>
            <a:off x="6095999" y="2358429"/>
            <a:ext cx="5183187" cy="720051"/>
          </a:xfrm>
          <a:custGeom>
            <a:avLst/>
            <a:gdLst>
              <a:gd name="csX0" fmla="*/ 0 w 5183187"/>
              <a:gd name="csY0" fmla="*/ 360026 h 720051"/>
              <a:gd name="csX1" fmla="*/ 2591594 w 5183187"/>
              <a:gd name="csY1" fmla="*/ 0 h 720051"/>
              <a:gd name="csX2" fmla="*/ 5183188 w 5183187"/>
              <a:gd name="csY2" fmla="*/ 360026 h 720051"/>
              <a:gd name="csX3" fmla="*/ 2591594 w 5183187"/>
              <a:gd name="csY3" fmla="*/ 720052 h 720051"/>
              <a:gd name="csX4" fmla="*/ 0 w 5183187"/>
              <a:gd name="csY4" fmla="*/ 360026 h 720051"/>
            </a:gdLst>
            <a:ahLst/>
            <a:cxnLst>
              <a:cxn ang="0">
                <a:pos x="csX0" y="csY0"/>
              </a:cxn>
              <a:cxn ang="0">
                <a:pos x="csX1" y="csY1"/>
              </a:cxn>
              <a:cxn ang="0">
                <a:pos x="csX2" y="csY2"/>
              </a:cxn>
              <a:cxn ang="0">
                <a:pos x="csX3" y="csY3"/>
              </a:cxn>
              <a:cxn ang="0">
                <a:pos x="csX4" y="csY4"/>
              </a:cxn>
            </a:cxnLst>
            <a:rect l="l" t="t" r="r" b="b"/>
            <a:pathLst>
              <a:path w="5183187" h="720051" extrusionOk="0">
                <a:moveTo>
                  <a:pt x="0" y="360026"/>
                </a:moveTo>
                <a:cubicBezTo>
                  <a:pt x="-110395" y="165911"/>
                  <a:pt x="1199522" y="38565"/>
                  <a:pt x="2591594" y="0"/>
                </a:cubicBezTo>
                <a:cubicBezTo>
                  <a:pt x="4036536" y="28002"/>
                  <a:pt x="5184085" y="188564"/>
                  <a:pt x="5183188" y="360026"/>
                </a:cubicBezTo>
                <a:cubicBezTo>
                  <a:pt x="5148216" y="506101"/>
                  <a:pt x="4089925" y="801100"/>
                  <a:pt x="2591594" y="720052"/>
                </a:cubicBezTo>
                <a:cubicBezTo>
                  <a:pt x="1165331" y="701325"/>
                  <a:pt x="11227" y="579795"/>
                  <a:pt x="0" y="360026"/>
                </a:cubicBezTo>
                <a:close/>
              </a:path>
            </a:pathLst>
          </a:custGeom>
          <a:noFill/>
          <a:ln w="38100">
            <a:solidFill>
              <a:schemeClr val="bg1"/>
            </a:solidFill>
            <a:extLst>
              <a:ext uri="{C807C97D-BFC1-408E-A445-0C87EB9F89A2}">
                <ask:lineSketchStyleProps xmlns:ask="http://schemas.microsoft.com/office/drawing/2018/sketchyshapes" sd="2650216993">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66919F0-0B82-E7AF-EC7E-9694CEE724F0}"/>
              </a:ext>
            </a:extLst>
          </p:cNvPr>
          <p:cNvSpPr/>
          <p:nvPr/>
        </p:nvSpPr>
        <p:spPr>
          <a:xfrm>
            <a:off x="6134100" y="3968205"/>
            <a:ext cx="5183187" cy="563901"/>
          </a:xfrm>
          <a:custGeom>
            <a:avLst/>
            <a:gdLst>
              <a:gd name="csX0" fmla="*/ 0 w 5183187"/>
              <a:gd name="csY0" fmla="*/ 281951 h 563901"/>
              <a:gd name="csX1" fmla="*/ 2591594 w 5183187"/>
              <a:gd name="csY1" fmla="*/ 0 h 563901"/>
              <a:gd name="csX2" fmla="*/ 5183188 w 5183187"/>
              <a:gd name="csY2" fmla="*/ 281951 h 563901"/>
              <a:gd name="csX3" fmla="*/ 2591594 w 5183187"/>
              <a:gd name="csY3" fmla="*/ 563902 h 563901"/>
              <a:gd name="csX4" fmla="*/ 0 w 5183187"/>
              <a:gd name="csY4" fmla="*/ 281951 h 563901"/>
            </a:gdLst>
            <a:ahLst/>
            <a:cxnLst>
              <a:cxn ang="0">
                <a:pos x="csX0" y="csY0"/>
              </a:cxn>
              <a:cxn ang="0">
                <a:pos x="csX1" y="csY1"/>
              </a:cxn>
              <a:cxn ang="0">
                <a:pos x="csX2" y="csY2"/>
              </a:cxn>
              <a:cxn ang="0">
                <a:pos x="csX3" y="csY3"/>
              </a:cxn>
              <a:cxn ang="0">
                <a:pos x="csX4" y="csY4"/>
              </a:cxn>
            </a:cxnLst>
            <a:rect l="l" t="t" r="r" b="b"/>
            <a:pathLst>
              <a:path w="5183187" h="563901" extrusionOk="0">
                <a:moveTo>
                  <a:pt x="0" y="281951"/>
                </a:moveTo>
                <a:cubicBezTo>
                  <a:pt x="-131537" y="131861"/>
                  <a:pt x="1283252" y="120887"/>
                  <a:pt x="2591594" y="0"/>
                </a:cubicBezTo>
                <a:cubicBezTo>
                  <a:pt x="4031943" y="18576"/>
                  <a:pt x="5183614" y="139226"/>
                  <a:pt x="5183188" y="281951"/>
                </a:cubicBezTo>
                <a:cubicBezTo>
                  <a:pt x="5124149" y="348595"/>
                  <a:pt x="4065960" y="615974"/>
                  <a:pt x="2591594" y="563902"/>
                </a:cubicBezTo>
                <a:cubicBezTo>
                  <a:pt x="1164775" y="547241"/>
                  <a:pt x="6393" y="449587"/>
                  <a:pt x="0" y="281951"/>
                </a:cubicBezTo>
                <a:close/>
              </a:path>
            </a:pathLst>
          </a:custGeom>
          <a:noFill/>
          <a:ln w="38100">
            <a:solidFill>
              <a:schemeClr val="bg1"/>
            </a:solidFill>
            <a:extLst>
              <a:ext uri="{C807C97D-BFC1-408E-A445-0C87EB9F89A2}">
                <ask:lineSketchStyleProps xmlns:ask="http://schemas.microsoft.com/office/drawing/2018/sketchyshapes" sd="2650216993">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4E03536-BD8C-965D-9270-4F5F6891D944}"/>
              </a:ext>
            </a:extLst>
          </p:cNvPr>
          <p:cNvSpPr/>
          <p:nvPr/>
        </p:nvSpPr>
        <p:spPr>
          <a:xfrm>
            <a:off x="6134100" y="2954690"/>
            <a:ext cx="5183187" cy="563900"/>
          </a:xfrm>
          <a:custGeom>
            <a:avLst/>
            <a:gdLst>
              <a:gd name="csX0" fmla="*/ 0 w 5183187"/>
              <a:gd name="csY0" fmla="*/ 281950 h 563900"/>
              <a:gd name="csX1" fmla="*/ 2591594 w 5183187"/>
              <a:gd name="csY1" fmla="*/ 0 h 563900"/>
              <a:gd name="csX2" fmla="*/ 5183188 w 5183187"/>
              <a:gd name="csY2" fmla="*/ 281950 h 563900"/>
              <a:gd name="csX3" fmla="*/ 2591594 w 5183187"/>
              <a:gd name="csY3" fmla="*/ 563900 h 563900"/>
              <a:gd name="csX4" fmla="*/ 0 w 5183187"/>
              <a:gd name="csY4" fmla="*/ 281950 h 563900"/>
            </a:gdLst>
            <a:ahLst/>
            <a:cxnLst>
              <a:cxn ang="0">
                <a:pos x="csX0" y="csY0"/>
              </a:cxn>
              <a:cxn ang="0">
                <a:pos x="csX1" y="csY1"/>
              </a:cxn>
              <a:cxn ang="0">
                <a:pos x="csX2" y="csY2"/>
              </a:cxn>
              <a:cxn ang="0">
                <a:pos x="csX3" y="csY3"/>
              </a:cxn>
              <a:cxn ang="0">
                <a:pos x="csX4" y="csY4"/>
              </a:cxn>
            </a:cxnLst>
            <a:rect l="l" t="t" r="r" b="b"/>
            <a:pathLst>
              <a:path w="5183187" h="563900" extrusionOk="0">
                <a:moveTo>
                  <a:pt x="0" y="281950"/>
                </a:moveTo>
                <a:cubicBezTo>
                  <a:pt x="-131593" y="131862"/>
                  <a:pt x="1283381" y="121013"/>
                  <a:pt x="2591594" y="0"/>
                </a:cubicBezTo>
                <a:cubicBezTo>
                  <a:pt x="4031943" y="18576"/>
                  <a:pt x="5183614" y="139225"/>
                  <a:pt x="5183188" y="281950"/>
                </a:cubicBezTo>
                <a:cubicBezTo>
                  <a:pt x="5124148" y="348593"/>
                  <a:pt x="4066040" y="616070"/>
                  <a:pt x="2591594" y="563900"/>
                </a:cubicBezTo>
                <a:cubicBezTo>
                  <a:pt x="1164775" y="547239"/>
                  <a:pt x="6393" y="449586"/>
                  <a:pt x="0" y="281950"/>
                </a:cubicBezTo>
                <a:close/>
              </a:path>
            </a:pathLst>
          </a:custGeom>
          <a:noFill/>
          <a:ln w="38100">
            <a:solidFill>
              <a:schemeClr val="bg1"/>
            </a:solidFill>
            <a:extLst>
              <a:ext uri="{C807C97D-BFC1-408E-A445-0C87EB9F89A2}">
                <ask:lineSketchStyleProps xmlns:ask="http://schemas.microsoft.com/office/drawing/2018/sketchyshapes" sd="2650216993">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6407FAA-B155-6254-73C0-FDD5E55F262D}"/>
              </a:ext>
            </a:extLst>
          </p:cNvPr>
          <p:cNvSpPr/>
          <p:nvPr/>
        </p:nvSpPr>
        <p:spPr>
          <a:xfrm>
            <a:off x="721360" y="3428999"/>
            <a:ext cx="3108960" cy="682281"/>
          </a:xfrm>
          <a:custGeom>
            <a:avLst/>
            <a:gdLst>
              <a:gd name="csX0" fmla="*/ 0 w 3108960"/>
              <a:gd name="csY0" fmla="*/ 341141 h 682281"/>
              <a:gd name="csX1" fmla="*/ 1554480 w 3108960"/>
              <a:gd name="csY1" fmla="*/ 0 h 682281"/>
              <a:gd name="csX2" fmla="*/ 3108960 w 3108960"/>
              <a:gd name="csY2" fmla="*/ 341141 h 682281"/>
              <a:gd name="csX3" fmla="*/ 1554480 w 3108960"/>
              <a:gd name="csY3" fmla="*/ 682282 h 682281"/>
              <a:gd name="csX4" fmla="*/ 0 w 3108960"/>
              <a:gd name="csY4" fmla="*/ 341141 h 682281"/>
            </a:gdLst>
            <a:ahLst/>
            <a:cxnLst>
              <a:cxn ang="0">
                <a:pos x="csX0" y="csY0"/>
              </a:cxn>
              <a:cxn ang="0">
                <a:pos x="csX1" y="csY1"/>
              </a:cxn>
              <a:cxn ang="0">
                <a:pos x="csX2" y="csY2"/>
              </a:cxn>
              <a:cxn ang="0">
                <a:pos x="csX3" y="csY3"/>
              </a:cxn>
              <a:cxn ang="0">
                <a:pos x="csX4" y="csY4"/>
              </a:cxn>
            </a:cxnLst>
            <a:rect l="l" t="t" r="r" b="b"/>
            <a:pathLst>
              <a:path w="3108960" h="682281" extrusionOk="0">
                <a:moveTo>
                  <a:pt x="0" y="341141"/>
                </a:moveTo>
                <a:cubicBezTo>
                  <a:pt x="-58784" y="155248"/>
                  <a:pt x="716243" y="19938"/>
                  <a:pt x="1554480" y="0"/>
                </a:cubicBezTo>
                <a:cubicBezTo>
                  <a:pt x="2415738" y="5627"/>
                  <a:pt x="3109609" y="172542"/>
                  <a:pt x="3108960" y="341141"/>
                </a:cubicBezTo>
                <a:cubicBezTo>
                  <a:pt x="3093370" y="506028"/>
                  <a:pt x="2430213" y="703099"/>
                  <a:pt x="1554480" y="682282"/>
                </a:cubicBezTo>
                <a:cubicBezTo>
                  <a:pt x="699476" y="669220"/>
                  <a:pt x="15565" y="558568"/>
                  <a:pt x="0" y="341141"/>
                </a:cubicBezTo>
                <a:close/>
              </a:path>
            </a:pathLst>
          </a:custGeom>
          <a:noFill/>
          <a:ln w="38100">
            <a:solidFill>
              <a:schemeClr val="bg1"/>
            </a:solidFill>
            <a:extLst>
              <a:ext uri="{C807C97D-BFC1-408E-A445-0C87EB9F89A2}">
                <ask:lineSketchStyleProps xmlns:ask="http://schemas.microsoft.com/office/drawing/2018/sketchyshapes" sd="2650216993">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049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7"/>
                                        </p:tgtEl>
                                        <p:attrNameLst>
                                          <p:attrName>stroke.color</p:attrName>
                                        </p:attrNameLst>
                                      </p:cBhvr>
                                      <p:to>
                                        <a:srgbClr val="FFC000"/>
                                      </p:to>
                                    </p:animClr>
                                    <p:set>
                                      <p:cBhvr>
                                        <p:cTn id="7" dur="2000" fill="hold"/>
                                        <p:tgtEl>
                                          <p:spTgt spid="7"/>
                                        </p:tgtEl>
                                        <p:attrNameLst>
                                          <p:attrName>stroke.on</p:attrName>
                                        </p:attrNameLst>
                                      </p:cBhvr>
                                      <p:to>
                                        <p:strVal val="true"/>
                                      </p:to>
                                    </p:set>
                                  </p:childTnLst>
                                </p:cTn>
                              </p:par>
                            </p:childTnLst>
                          </p:cTn>
                        </p:par>
                        <p:par>
                          <p:cTn id="8" fill="hold">
                            <p:stCondLst>
                              <p:cond delay="2000"/>
                            </p:stCondLst>
                            <p:childTnLst>
                              <p:par>
                                <p:cTn id="9" presetID="7" presetClass="emph" presetSubtype="2" fill="hold" nodeType="afterEffect">
                                  <p:stCondLst>
                                    <p:cond delay="0"/>
                                  </p:stCondLst>
                                  <p:childTnLst>
                                    <p:animClr clrSpc="rgb" dir="cw">
                                      <p:cBhvr>
                                        <p:cTn id="10" dur="2000" fill="hold"/>
                                        <p:tgtEl>
                                          <p:spTgt spid="9"/>
                                        </p:tgtEl>
                                        <p:attrNameLst>
                                          <p:attrName>stroke.color</p:attrName>
                                        </p:attrNameLst>
                                      </p:cBhvr>
                                      <p:to>
                                        <a:srgbClr val="FFC000"/>
                                      </p:to>
                                    </p:animClr>
                                    <p:set>
                                      <p:cBhvr>
                                        <p:cTn id="11" dur="2000" fill="hold"/>
                                        <p:tgtEl>
                                          <p:spTgt spid="9"/>
                                        </p:tgtEl>
                                        <p:attrNameLst>
                                          <p:attrName>stroke.on</p:attrName>
                                        </p:attrNameLst>
                                      </p:cBhvr>
                                      <p:to>
                                        <p:strVal val="true"/>
                                      </p:to>
                                    </p:set>
                                  </p:childTnLst>
                                </p:cTn>
                              </p:par>
                            </p:childTnLst>
                          </p:cTn>
                        </p:par>
                        <p:par>
                          <p:cTn id="12" fill="hold">
                            <p:stCondLst>
                              <p:cond delay="4000"/>
                            </p:stCondLst>
                            <p:childTnLst>
                              <p:par>
                                <p:cTn id="13" presetID="7" presetClass="emph" presetSubtype="2" fill="hold" nodeType="afterEffect">
                                  <p:stCondLst>
                                    <p:cond delay="0"/>
                                  </p:stCondLst>
                                  <p:childTnLst>
                                    <p:animClr clrSpc="rgb" dir="cw">
                                      <p:cBhvr>
                                        <p:cTn id="14" dur="2000" fill="hold"/>
                                        <p:tgtEl>
                                          <p:spTgt spid="13"/>
                                        </p:tgtEl>
                                        <p:attrNameLst>
                                          <p:attrName>stroke.color</p:attrName>
                                        </p:attrNameLst>
                                      </p:cBhvr>
                                      <p:to>
                                        <a:srgbClr val="FFC000"/>
                                      </p:to>
                                    </p:animClr>
                                    <p:set>
                                      <p:cBhvr>
                                        <p:cTn id="15" dur="2000" fill="hold"/>
                                        <p:tgtEl>
                                          <p:spTgt spid="13"/>
                                        </p:tgtEl>
                                        <p:attrNameLst>
                                          <p:attrName>stroke.on</p:attrName>
                                        </p:attrNameLst>
                                      </p:cBhvr>
                                      <p:to>
                                        <p:strVal val="true"/>
                                      </p:to>
                                    </p:set>
                                  </p:childTnLst>
                                </p:cTn>
                              </p:par>
                            </p:childTnLst>
                          </p:cTn>
                        </p:par>
                        <p:par>
                          <p:cTn id="16" fill="hold">
                            <p:stCondLst>
                              <p:cond delay="6000"/>
                            </p:stCondLst>
                            <p:childTnLst>
                              <p:par>
                                <p:cTn id="17" presetID="7" presetClass="emph" presetSubtype="2" fill="hold" nodeType="afterEffect">
                                  <p:stCondLst>
                                    <p:cond delay="0"/>
                                  </p:stCondLst>
                                  <p:childTnLst>
                                    <p:animClr clrSpc="rgb" dir="cw">
                                      <p:cBhvr>
                                        <p:cTn id="18" dur="2000" fill="hold"/>
                                        <p:tgtEl>
                                          <p:spTgt spid="11"/>
                                        </p:tgtEl>
                                        <p:attrNameLst>
                                          <p:attrName>stroke.color</p:attrName>
                                        </p:attrNameLst>
                                      </p:cBhvr>
                                      <p:to>
                                        <a:srgbClr val="FFC000"/>
                                      </p:to>
                                    </p:animClr>
                                    <p:set>
                                      <p:cBhvr>
                                        <p:cTn id="19" dur="2000" fill="hold"/>
                                        <p:tgtEl>
                                          <p:spTgt spid="11"/>
                                        </p:tgtEl>
                                        <p:attrNameLst>
                                          <p:attrName>stroke.on</p:attrName>
                                        </p:attrNameLst>
                                      </p:cBhvr>
                                      <p:to>
                                        <p:strVal val="true"/>
                                      </p:to>
                                    </p:set>
                                  </p:childTnLst>
                                </p:cTn>
                              </p:par>
                              <p:par>
                                <p:cTn id="20" presetID="7" presetClass="emph" presetSubtype="2" fill="hold" nodeType="withEffect">
                                  <p:stCondLst>
                                    <p:cond delay="0"/>
                                  </p:stCondLst>
                                  <p:childTnLst>
                                    <p:animClr clrSpc="rgb" dir="cw">
                                      <p:cBhvr>
                                        <p:cTn id="21" dur="2000" fill="hold"/>
                                        <p:tgtEl>
                                          <p:spTgt spid="14"/>
                                        </p:tgtEl>
                                        <p:attrNameLst>
                                          <p:attrName>stroke.color</p:attrName>
                                        </p:attrNameLst>
                                      </p:cBhvr>
                                      <p:to>
                                        <a:srgbClr val="FFC000"/>
                                      </p:to>
                                    </p:animClr>
                                    <p:set>
                                      <p:cBhvr>
                                        <p:cTn id="22" dur="2000" fill="hold"/>
                                        <p:tgtEl>
                                          <p:spTgt spid="1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13DE6-341E-3D11-DA99-7D0D18996F91}"/>
              </a:ext>
            </a:extLst>
          </p:cNvPr>
          <p:cNvSpPr>
            <a:spLocks noGrp="1"/>
          </p:cNvSpPr>
          <p:nvPr>
            <p:ph type="title"/>
          </p:nvPr>
        </p:nvSpPr>
        <p:spPr>
          <a:xfrm>
            <a:off x="839789" y="407704"/>
            <a:ext cx="4845707" cy="1325563"/>
          </a:xfrm>
        </p:spPr>
        <p:txBody>
          <a:bodyPr>
            <a:normAutofit/>
          </a:bodyPr>
          <a:lstStyle/>
          <a:p>
            <a:r>
              <a:rPr lang="en-US" sz="3200"/>
              <a:t>The Goal?</a:t>
            </a:r>
          </a:p>
        </p:txBody>
      </p:sp>
      <p:sp>
        <p:nvSpPr>
          <p:cNvPr id="3" name="Content Placeholder 2">
            <a:extLst>
              <a:ext uri="{FF2B5EF4-FFF2-40B4-BE49-F238E27FC236}">
                <a16:creationId xmlns:a16="http://schemas.microsoft.com/office/drawing/2014/main" id="{DCB9C724-9B0D-500F-945F-DD0DB5AC7CD2}"/>
              </a:ext>
            </a:extLst>
          </p:cNvPr>
          <p:cNvSpPr>
            <a:spLocks noGrp="1"/>
          </p:cNvSpPr>
          <p:nvPr>
            <p:ph sz="half" idx="2"/>
          </p:nvPr>
        </p:nvSpPr>
        <p:spPr>
          <a:xfrm>
            <a:off x="839790" y="1514770"/>
            <a:ext cx="4845706" cy="3516446"/>
          </a:xfrm>
        </p:spPr>
        <p:txBody>
          <a:bodyPr/>
          <a:lstStyle/>
          <a:p>
            <a:r>
              <a:rPr lang="en-US"/>
              <a:t>Provide psychometric support for commonly used measures</a:t>
            </a:r>
          </a:p>
          <a:p>
            <a:r>
              <a:rPr lang="en-US"/>
              <a:t>Create clinically-relevant tools to help close the research to practice gap</a:t>
            </a:r>
          </a:p>
          <a:p>
            <a:r>
              <a:rPr lang="en-US"/>
              <a:t>Identify measures that may provide differential information throughout MBC</a:t>
            </a:r>
          </a:p>
        </p:txBody>
      </p:sp>
    </p:spTree>
    <p:extLst>
      <p:ext uri="{BB962C8B-B14F-4D97-AF65-F5344CB8AC3E}">
        <p14:creationId xmlns:p14="http://schemas.microsoft.com/office/powerpoint/2010/main" val="366053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A7CD-9675-FD50-BC7C-90D303039F6A}"/>
              </a:ext>
            </a:extLst>
          </p:cNvPr>
          <p:cNvSpPr>
            <a:spLocks noGrp="1"/>
          </p:cNvSpPr>
          <p:nvPr>
            <p:ph type="title" idx="4294967295"/>
          </p:nvPr>
        </p:nvSpPr>
        <p:spPr>
          <a:xfrm>
            <a:off x="838200" y="506639"/>
            <a:ext cx="10515600" cy="1108075"/>
          </a:xfrm>
        </p:spPr>
        <p:txBody>
          <a:bodyPr/>
          <a:lstStyle/>
          <a:p>
            <a:r>
              <a:rPr lang="en-US"/>
              <a:t>Implementation of MBC</a:t>
            </a:r>
          </a:p>
        </p:txBody>
      </p:sp>
      <p:graphicFrame>
        <p:nvGraphicFramePr>
          <p:cNvPr id="5" name="Content Placeholder 4" descr="Basic Timeline">
            <a:extLst>
              <a:ext uri="{FF2B5EF4-FFF2-40B4-BE49-F238E27FC236}">
                <a16:creationId xmlns:a16="http://schemas.microsoft.com/office/drawing/2014/main" id="{050FA52C-A318-AB3E-08DD-A449175FEF8F}"/>
              </a:ext>
            </a:extLst>
          </p:cNvPr>
          <p:cNvGraphicFramePr>
            <a:graphicFrameLocks/>
          </p:cNvGraphicFramePr>
          <p:nvPr>
            <p:extLst>
              <p:ext uri="{D42A27DB-BD31-4B8C-83A1-F6EECF244321}">
                <p14:modId xmlns:p14="http://schemas.microsoft.com/office/powerpoint/2010/main" val="1492071425"/>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838200" y="1614714"/>
          <a:ext cx="10468678" cy="3628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366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56F4B-6E7E-2EAA-4CE7-A139A7CFD398}"/>
              </a:ext>
            </a:extLst>
          </p:cNvPr>
          <p:cNvSpPr>
            <a:spLocks noGrp="1"/>
          </p:cNvSpPr>
          <p:nvPr>
            <p:ph type="title"/>
          </p:nvPr>
        </p:nvSpPr>
        <p:spPr/>
        <p:txBody>
          <a:bodyPr/>
          <a:lstStyle/>
          <a:p>
            <a:r>
              <a:rPr lang="en-US"/>
              <a:t>Case Example</a:t>
            </a:r>
          </a:p>
        </p:txBody>
      </p:sp>
      <p:sp>
        <p:nvSpPr>
          <p:cNvPr id="7" name="Rectangle 6">
            <a:extLst>
              <a:ext uri="{FF2B5EF4-FFF2-40B4-BE49-F238E27FC236}">
                <a16:creationId xmlns:a16="http://schemas.microsoft.com/office/drawing/2014/main" id="{161BADB2-7EA6-29B4-BEA3-967AEC60EC02}"/>
              </a:ext>
            </a:extLst>
          </p:cNvPr>
          <p:cNvSpPr/>
          <p:nvPr/>
        </p:nvSpPr>
        <p:spPr>
          <a:xfrm>
            <a:off x="6172200" y="2044750"/>
            <a:ext cx="5357191" cy="342572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9CAAF7E1-1D44-0FD0-1668-DACC025949DA}"/>
              </a:ext>
            </a:extLst>
          </p:cNvPr>
          <p:cNvSpPr>
            <a:spLocks noGrp="1"/>
          </p:cNvSpPr>
          <p:nvPr>
            <p:ph sz="half" idx="2"/>
          </p:nvPr>
        </p:nvSpPr>
        <p:spPr>
          <a:xfrm>
            <a:off x="6594612" y="2305376"/>
            <a:ext cx="4512365" cy="2904472"/>
          </a:xfrm>
        </p:spPr>
        <p:txBody>
          <a:bodyPr anchor="ctr">
            <a:normAutofit fontScale="92500" lnSpcReduction="10000"/>
          </a:bodyPr>
          <a:lstStyle/>
          <a:p>
            <a:r>
              <a:rPr lang="en-US" sz="3300" b="1">
                <a:solidFill>
                  <a:schemeClr val="bg1"/>
                </a:solidFill>
              </a:rPr>
              <a:t>Jordan (12F)</a:t>
            </a:r>
          </a:p>
          <a:p>
            <a:r>
              <a:rPr lang="en-US" sz="3300" b="1">
                <a:solidFill>
                  <a:schemeClr val="bg1"/>
                </a:solidFill>
              </a:rPr>
              <a:t>Seen in outpatient BH clinic with parents</a:t>
            </a:r>
          </a:p>
          <a:p>
            <a:r>
              <a:rPr lang="en-US" sz="3300" b="1">
                <a:solidFill>
                  <a:schemeClr val="bg1"/>
                </a:solidFill>
              </a:rPr>
              <a:t>School impairment, forgetfulness, and increased frustration</a:t>
            </a:r>
          </a:p>
        </p:txBody>
      </p:sp>
      <p:pic>
        <p:nvPicPr>
          <p:cNvPr id="3" name="Picture 2" descr="A child sitting at a table with pumpkins&#10;&#10;AI-generated content may be incorrect.">
            <a:extLst>
              <a:ext uri="{FF2B5EF4-FFF2-40B4-BE49-F238E27FC236}">
                <a16:creationId xmlns:a16="http://schemas.microsoft.com/office/drawing/2014/main" id="{E0AF3FB2-A907-BDAB-7D95-FB81C5062700}"/>
              </a:ext>
            </a:extLst>
          </p:cNvPr>
          <p:cNvPicPr>
            <a:picLocks noChangeAspect="1"/>
          </p:cNvPicPr>
          <p:nvPr/>
        </p:nvPicPr>
        <p:blipFill>
          <a:blip r:embed="rId3" cstate="email">
            <a:extLst>
              <a:ext uri="{28A0092B-C50C-407E-A947-70E740481C1C}">
                <a14:useLocalDpi xmlns:a14="http://schemas.microsoft.com/office/drawing/2010/main"/>
              </a:ext>
            </a:extLst>
          </a:blip>
          <a:srcRect t="11918" b="19274"/>
          <a:stretch>
            <a:fillRect/>
          </a:stretch>
        </p:blipFill>
        <p:spPr>
          <a:xfrm>
            <a:off x="1478281" y="2044750"/>
            <a:ext cx="4337304" cy="3357494"/>
          </a:xfrm>
          <a:prstGeom prst="rect">
            <a:avLst/>
          </a:prstGeom>
        </p:spPr>
      </p:pic>
    </p:spTree>
    <p:extLst>
      <p:ext uri="{BB962C8B-B14F-4D97-AF65-F5344CB8AC3E}">
        <p14:creationId xmlns:p14="http://schemas.microsoft.com/office/powerpoint/2010/main" val="1596386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F4D80-4670-463E-DBFC-5BC66B8A1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5989C-FC4E-B575-8117-1237C83DA899}"/>
              </a:ext>
            </a:extLst>
          </p:cNvPr>
          <p:cNvSpPr>
            <a:spLocks noGrp="1"/>
          </p:cNvSpPr>
          <p:nvPr>
            <p:ph type="title"/>
          </p:nvPr>
        </p:nvSpPr>
        <p:spPr>
          <a:xfrm>
            <a:off x="838200" y="307571"/>
            <a:ext cx="10515600" cy="1108797"/>
          </a:xfrm>
        </p:spPr>
        <p:txBody>
          <a:bodyPr/>
          <a:lstStyle/>
          <a:p>
            <a:r>
              <a:rPr lang="en-US"/>
              <a:t>Case Conceptualization</a:t>
            </a:r>
          </a:p>
        </p:txBody>
      </p:sp>
      <p:sp>
        <p:nvSpPr>
          <p:cNvPr id="3" name="TextBox 2">
            <a:extLst>
              <a:ext uri="{FF2B5EF4-FFF2-40B4-BE49-F238E27FC236}">
                <a16:creationId xmlns:a16="http://schemas.microsoft.com/office/drawing/2014/main" id="{C9BD6337-2A02-A9A9-188B-282CCDB3C5FE}"/>
              </a:ext>
            </a:extLst>
          </p:cNvPr>
          <p:cNvSpPr txBox="1"/>
          <p:nvPr/>
        </p:nvSpPr>
        <p:spPr>
          <a:xfrm>
            <a:off x="838200" y="1416368"/>
            <a:ext cx="958114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ptos"/>
              </a:rPr>
              <a:t>PSC-17:</a:t>
            </a:r>
            <a:r>
              <a:rPr lang="en-US" sz="2800">
                <a:latin typeface="Aptos"/>
              </a:rPr>
              <a:t> </a:t>
            </a:r>
            <a:r>
              <a:rPr lang="en-US" sz="2800">
                <a:ea typeface="+mn-lt"/>
                <a:cs typeface="+mn-lt"/>
              </a:rPr>
              <a:t>The PSC-17 provides a broad screening of potential behavioral health diagnoses. Information is meant to help guide assessment, identifying categories to explore further.</a:t>
            </a:r>
          </a:p>
          <a:p>
            <a:endParaRPr lang="en-US" sz="2800"/>
          </a:p>
          <a:p>
            <a:r>
              <a:rPr lang="en-US" sz="2800" b="1">
                <a:latin typeface="Aptos"/>
              </a:rPr>
              <a:t>Total:</a:t>
            </a:r>
            <a:r>
              <a:rPr lang="en-US" sz="2800">
                <a:latin typeface="Aptos"/>
              </a:rPr>
              <a:t> </a:t>
            </a:r>
            <a:r>
              <a:rPr lang="en-US" sz="2800">
                <a:solidFill>
                  <a:srgbClr val="FF0000"/>
                </a:solidFill>
                <a:latin typeface="Aptos"/>
              </a:rPr>
              <a:t>17 </a:t>
            </a:r>
            <a:r>
              <a:rPr lang="en-US" sz="2800">
                <a:latin typeface="Aptos"/>
              </a:rPr>
              <a:t>(</a:t>
            </a:r>
            <a:r>
              <a:rPr lang="en-US" sz="2800">
                <a:ea typeface="+mn-lt"/>
                <a:cs typeface="+mn-lt"/>
              </a:rPr>
              <a:t>score is positive if </a:t>
            </a:r>
            <a:r>
              <a:rPr lang="en-US" sz="2800">
                <a:highlight>
                  <a:srgbClr val="FFFFFF"/>
                </a:highlight>
                <a:latin typeface="Roboto"/>
                <a:ea typeface="Roboto"/>
                <a:cs typeface="Roboto"/>
              </a:rPr>
              <a:t>≥</a:t>
            </a:r>
            <a:r>
              <a:rPr lang="en-US" sz="2800">
                <a:ea typeface="+mn-lt"/>
                <a:cs typeface="+mn-lt"/>
              </a:rPr>
              <a:t> 15)</a:t>
            </a:r>
          </a:p>
          <a:p>
            <a:r>
              <a:rPr lang="en-US" sz="2800" b="1">
                <a:latin typeface="Aptos"/>
              </a:rPr>
              <a:t>Attention</a:t>
            </a:r>
            <a:r>
              <a:rPr lang="en-US" sz="2800">
                <a:latin typeface="Aptos"/>
              </a:rPr>
              <a:t>: </a:t>
            </a:r>
            <a:r>
              <a:rPr lang="en-US" sz="2800">
                <a:solidFill>
                  <a:srgbClr val="FF0000"/>
                </a:solidFill>
                <a:latin typeface="Aptos"/>
              </a:rPr>
              <a:t>8 </a:t>
            </a:r>
            <a:r>
              <a:rPr lang="en-US" sz="2800">
                <a:solidFill>
                  <a:srgbClr val="000000"/>
                </a:solidFill>
                <a:latin typeface="Aptos"/>
              </a:rPr>
              <a:t>(</a:t>
            </a:r>
            <a:r>
              <a:rPr lang="en-US" sz="2800">
                <a:solidFill>
                  <a:srgbClr val="000000"/>
                </a:solidFill>
                <a:latin typeface="Crimson Text"/>
              </a:rPr>
              <a:t>score is positive if </a:t>
            </a:r>
            <a:r>
              <a:rPr lang="en-US" sz="2800">
                <a:solidFill>
                  <a:srgbClr val="000000"/>
                </a:solidFill>
                <a:highlight>
                  <a:srgbClr val="FFFFFF"/>
                </a:highlight>
                <a:latin typeface="Roboto"/>
                <a:ea typeface="Roboto"/>
                <a:cs typeface="Roboto"/>
              </a:rPr>
              <a:t>≥</a:t>
            </a:r>
            <a:r>
              <a:rPr lang="en-US" sz="2800">
                <a:solidFill>
                  <a:srgbClr val="000000"/>
                </a:solidFill>
                <a:latin typeface="Crimson Text"/>
              </a:rPr>
              <a:t> 7)</a:t>
            </a:r>
            <a:endParaRPr lang="en-US" sz="2800">
              <a:solidFill>
                <a:srgbClr val="FF0000"/>
              </a:solidFill>
              <a:latin typeface="Crimson Text"/>
            </a:endParaRPr>
          </a:p>
          <a:p>
            <a:r>
              <a:rPr lang="en-US" sz="2800" b="1">
                <a:latin typeface="Aptos"/>
              </a:rPr>
              <a:t>Internalizing:</a:t>
            </a:r>
            <a:r>
              <a:rPr lang="en-US" sz="2800">
                <a:latin typeface="Aptos"/>
              </a:rPr>
              <a:t> </a:t>
            </a:r>
            <a:r>
              <a:rPr lang="en-US" sz="2800">
                <a:solidFill>
                  <a:srgbClr val="FF0000"/>
                </a:solidFill>
                <a:latin typeface="Aptos"/>
              </a:rPr>
              <a:t>5 </a:t>
            </a:r>
            <a:r>
              <a:rPr lang="en-US" sz="2800">
                <a:solidFill>
                  <a:srgbClr val="000000"/>
                </a:solidFill>
                <a:latin typeface="Aptos"/>
              </a:rPr>
              <a:t>(</a:t>
            </a:r>
            <a:r>
              <a:rPr lang="en-US" sz="2800">
                <a:solidFill>
                  <a:srgbClr val="000000"/>
                </a:solidFill>
                <a:latin typeface="Crimson Text"/>
              </a:rPr>
              <a:t>score is positive if </a:t>
            </a:r>
            <a:r>
              <a:rPr lang="en-US" sz="2800">
                <a:solidFill>
                  <a:srgbClr val="000000"/>
                </a:solidFill>
                <a:highlight>
                  <a:srgbClr val="FFFFFF"/>
                </a:highlight>
                <a:latin typeface="Roboto"/>
                <a:ea typeface="Roboto"/>
                <a:cs typeface="Roboto"/>
              </a:rPr>
              <a:t>≥</a:t>
            </a:r>
            <a:r>
              <a:rPr lang="en-US" sz="2800">
                <a:solidFill>
                  <a:srgbClr val="000000"/>
                </a:solidFill>
                <a:latin typeface="Crimson Text"/>
              </a:rPr>
              <a:t> 5)</a:t>
            </a:r>
            <a:endParaRPr lang="en-US" sz="2800">
              <a:solidFill>
                <a:srgbClr val="FF0000"/>
              </a:solidFill>
              <a:latin typeface="Crimson Text"/>
            </a:endParaRPr>
          </a:p>
          <a:p>
            <a:r>
              <a:rPr lang="en-US" sz="2800" b="1">
                <a:latin typeface="Aptos"/>
              </a:rPr>
              <a:t>Externalizing:</a:t>
            </a:r>
            <a:r>
              <a:rPr lang="en-US" sz="2800">
                <a:latin typeface="Aptos"/>
              </a:rPr>
              <a:t> 4 (</a:t>
            </a:r>
            <a:r>
              <a:rPr lang="en-US" sz="2800">
                <a:latin typeface="Crimson Text"/>
              </a:rPr>
              <a:t>score is positive if </a:t>
            </a:r>
            <a:r>
              <a:rPr lang="en-US" sz="2800">
                <a:highlight>
                  <a:srgbClr val="FFFFFF"/>
                </a:highlight>
                <a:latin typeface="Roboto"/>
                <a:ea typeface="Roboto"/>
                <a:cs typeface="Roboto"/>
              </a:rPr>
              <a:t>≥</a:t>
            </a:r>
            <a:r>
              <a:rPr lang="en-US" sz="2800">
                <a:latin typeface="Crimson Text"/>
              </a:rPr>
              <a:t> 7)</a:t>
            </a:r>
            <a:endParaRPr lang="en-US" sz="2800"/>
          </a:p>
        </p:txBody>
      </p:sp>
    </p:spTree>
    <p:extLst>
      <p:ext uri="{BB962C8B-B14F-4D97-AF65-F5344CB8AC3E}">
        <p14:creationId xmlns:p14="http://schemas.microsoft.com/office/powerpoint/2010/main" val="43678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B2D8D-7F88-8B57-978C-7ABD8EB4A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3A67F-ACFF-D50E-D8C1-A5AED9E79BCD}"/>
              </a:ext>
            </a:extLst>
          </p:cNvPr>
          <p:cNvSpPr>
            <a:spLocks noGrp="1"/>
          </p:cNvSpPr>
          <p:nvPr>
            <p:ph type="title"/>
          </p:nvPr>
        </p:nvSpPr>
        <p:spPr>
          <a:xfrm>
            <a:off x="838200" y="581891"/>
            <a:ext cx="6741160" cy="1108797"/>
          </a:xfrm>
        </p:spPr>
        <p:txBody>
          <a:bodyPr>
            <a:normAutofit fontScale="90000"/>
          </a:bodyPr>
          <a:lstStyle/>
          <a:p>
            <a:r>
              <a:rPr lang="en-US"/>
              <a:t>Factor Structure and Reliability </a:t>
            </a:r>
            <a:br>
              <a:rPr lang="en-US"/>
            </a:br>
            <a:r>
              <a:rPr lang="en-US" sz="1800"/>
              <a:t>(Youngstrom et al., in preparation)</a:t>
            </a:r>
            <a:endParaRPr lang="en-US"/>
          </a:p>
        </p:txBody>
      </p:sp>
      <p:sp>
        <p:nvSpPr>
          <p:cNvPr id="6" name="Content Placeholder 5">
            <a:extLst>
              <a:ext uri="{FF2B5EF4-FFF2-40B4-BE49-F238E27FC236}">
                <a16:creationId xmlns:a16="http://schemas.microsoft.com/office/drawing/2014/main" id="{19320503-84D9-FF63-C7D7-37E0FBBA11D0}"/>
              </a:ext>
            </a:extLst>
          </p:cNvPr>
          <p:cNvSpPr>
            <a:spLocks noGrp="1"/>
          </p:cNvSpPr>
          <p:nvPr>
            <p:ph idx="1"/>
          </p:nvPr>
        </p:nvSpPr>
        <p:spPr>
          <a:xfrm>
            <a:off x="838200" y="1825625"/>
            <a:ext cx="10515600" cy="1334135"/>
          </a:xfrm>
        </p:spPr>
        <p:txBody>
          <a:bodyPr/>
          <a:lstStyle/>
          <a:p>
            <a:r>
              <a:rPr lang="en-US"/>
              <a:t>Three-factor scale: attention, externalizing, and internalizing</a:t>
            </a:r>
          </a:p>
          <a:p>
            <a:pPr lvl="1"/>
            <a:r>
              <a:rPr lang="en-US"/>
              <a:t>Items do not collapse onto a general factor, but are “subsets” of the total score</a:t>
            </a:r>
          </a:p>
          <a:p>
            <a:pPr lvl="1"/>
            <a:r>
              <a:rPr lang="en-US"/>
              <a:t>Validated as subset scores with meaningful variance on their own</a:t>
            </a:r>
          </a:p>
        </p:txBody>
      </p:sp>
      <p:graphicFrame>
        <p:nvGraphicFramePr>
          <p:cNvPr id="3" name="Table 2">
            <a:extLst>
              <a:ext uri="{FF2B5EF4-FFF2-40B4-BE49-F238E27FC236}">
                <a16:creationId xmlns:a16="http://schemas.microsoft.com/office/drawing/2014/main" id="{F488DD8E-E869-B33D-B15F-40AF86B0798D}"/>
              </a:ext>
            </a:extLst>
          </p:cNvPr>
          <p:cNvGraphicFramePr>
            <a:graphicFrameLocks noGrp="1"/>
          </p:cNvGraphicFramePr>
          <p:nvPr>
            <p:extLst>
              <p:ext uri="{D42A27DB-BD31-4B8C-83A1-F6EECF244321}">
                <p14:modId xmlns:p14="http://schemas.microsoft.com/office/powerpoint/2010/main" val="2748617796"/>
              </p:ext>
            </p:extLst>
          </p:nvPr>
        </p:nvGraphicFramePr>
        <p:xfrm>
          <a:off x="1076960" y="3429000"/>
          <a:ext cx="10038079" cy="1483360"/>
        </p:xfrm>
        <a:graphic>
          <a:graphicData uri="http://schemas.openxmlformats.org/drawingml/2006/table">
            <a:tbl>
              <a:tblPr firstRow="1" bandRow="1">
                <a:tableStyleId>{5C22544A-7EE6-4342-B048-85BDC9FD1C3A}</a:tableStyleId>
              </a:tblPr>
              <a:tblGrid>
                <a:gridCol w="1574800">
                  <a:extLst>
                    <a:ext uri="{9D8B030D-6E8A-4147-A177-3AD203B41FA5}">
                      <a16:colId xmlns:a16="http://schemas.microsoft.com/office/drawing/2014/main" val="2611781862"/>
                    </a:ext>
                  </a:extLst>
                </a:gridCol>
                <a:gridCol w="1188720">
                  <a:extLst>
                    <a:ext uri="{9D8B030D-6E8A-4147-A177-3AD203B41FA5}">
                      <a16:colId xmlns:a16="http://schemas.microsoft.com/office/drawing/2014/main" val="1850045373"/>
                    </a:ext>
                  </a:extLst>
                </a:gridCol>
                <a:gridCol w="2814320">
                  <a:extLst>
                    <a:ext uri="{9D8B030D-6E8A-4147-A177-3AD203B41FA5}">
                      <a16:colId xmlns:a16="http://schemas.microsoft.com/office/drawing/2014/main" val="3011318311"/>
                    </a:ext>
                  </a:extLst>
                </a:gridCol>
                <a:gridCol w="1432560">
                  <a:extLst>
                    <a:ext uri="{9D8B030D-6E8A-4147-A177-3AD203B41FA5}">
                      <a16:colId xmlns:a16="http://schemas.microsoft.com/office/drawing/2014/main" val="3134530397"/>
                    </a:ext>
                  </a:extLst>
                </a:gridCol>
                <a:gridCol w="3027679">
                  <a:extLst>
                    <a:ext uri="{9D8B030D-6E8A-4147-A177-3AD203B41FA5}">
                      <a16:colId xmlns:a16="http://schemas.microsoft.com/office/drawing/2014/main" val="3467958843"/>
                    </a:ext>
                  </a:extLst>
                </a:gridCol>
              </a:tblGrid>
              <a:tr h="370840">
                <a:tc>
                  <a:txBody>
                    <a:bodyPr/>
                    <a:lstStyle/>
                    <a:p>
                      <a:pPr algn="ctr"/>
                      <a:r>
                        <a:rPr lang="en-US"/>
                        <a:t>Subset</a:t>
                      </a:r>
                    </a:p>
                  </a:txBody>
                  <a:tcPr/>
                </a:tc>
                <a:tc>
                  <a:txBody>
                    <a:bodyPr/>
                    <a:lstStyle/>
                    <a:p>
                      <a:pPr algn="ctr"/>
                      <a:r>
                        <a:rPr lang="en-US"/>
                        <a:t>Alpha (</a:t>
                      </a:r>
                      <a:r>
                        <a:rPr lang="el-GR"/>
                        <a:t>α</a:t>
                      </a:r>
                      <a:r>
                        <a:rPr lang="en-US"/>
                        <a:t>)</a:t>
                      </a:r>
                    </a:p>
                  </a:txBody>
                  <a:tcPr/>
                </a:tc>
                <a:tc>
                  <a:txBody>
                    <a:bodyPr/>
                    <a:lstStyle/>
                    <a:p>
                      <a:pPr algn="ctr"/>
                      <a:r>
                        <a:rPr lang="en-US"/>
                        <a:t>Construct Measurement</a:t>
                      </a:r>
                    </a:p>
                  </a:txBody>
                  <a:tcPr/>
                </a:tc>
                <a:tc>
                  <a:txBody>
                    <a:bodyPr/>
                    <a:lstStyle/>
                    <a:p>
                      <a:pPr algn="ctr"/>
                      <a:r>
                        <a:rPr lang="en-US"/>
                        <a:t>Omega (</a:t>
                      </a:r>
                      <a:r>
                        <a:rPr lang="el-GR"/>
                        <a:t>ω</a:t>
                      </a:r>
                      <a:r>
                        <a:rPr lang="en-US"/>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Construct Measurement</a:t>
                      </a:r>
                    </a:p>
                  </a:txBody>
                  <a:tcPr/>
                </a:tc>
                <a:extLst>
                  <a:ext uri="{0D108BD9-81ED-4DB2-BD59-A6C34878D82A}">
                    <a16:rowId xmlns:a16="http://schemas.microsoft.com/office/drawing/2014/main" val="972174051"/>
                  </a:ext>
                </a:extLst>
              </a:tr>
              <a:tr h="370840">
                <a:tc>
                  <a:txBody>
                    <a:bodyPr/>
                    <a:lstStyle/>
                    <a:p>
                      <a:pPr algn="ctr"/>
                      <a:r>
                        <a:rPr lang="en-US"/>
                        <a:t>Attention</a:t>
                      </a:r>
                    </a:p>
                  </a:txBody>
                  <a:tcPr/>
                </a:tc>
                <a:tc>
                  <a:txBody>
                    <a:bodyPr/>
                    <a:lstStyle/>
                    <a:p>
                      <a:pPr algn="ctr"/>
                      <a:r>
                        <a:rPr lang="en-US"/>
                        <a:t>0.82</a:t>
                      </a:r>
                    </a:p>
                  </a:txBody>
                  <a:tcPr/>
                </a:tc>
                <a:tc>
                  <a:txBody>
                    <a:bodyPr/>
                    <a:lstStyle/>
                    <a:p>
                      <a:pPr algn="ctr"/>
                      <a:r>
                        <a:rPr lang="en-US"/>
                        <a:t>Good</a:t>
                      </a:r>
                    </a:p>
                  </a:txBody>
                  <a:tcPr/>
                </a:tc>
                <a:tc>
                  <a:txBody>
                    <a:bodyPr/>
                    <a:lstStyle/>
                    <a:p>
                      <a:pPr algn="ctr"/>
                      <a:r>
                        <a:rPr lang="en-US" b="1"/>
                        <a:t>0.88</a:t>
                      </a:r>
                    </a:p>
                  </a:txBody>
                  <a:tcPr/>
                </a:tc>
                <a:tc>
                  <a:txBody>
                    <a:bodyPr/>
                    <a:lstStyle/>
                    <a:p>
                      <a:pPr algn="ctr"/>
                      <a:r>
                        <a:rPr lang="en-US" b="1"/>
                        <a:t>Good</a:t>
                      </a:r>
                    </a:p>
                  </a:txBody>
                  <a:tcPr/>
                </a:tc>
                <a:extLst>
                  <a:ext uri="{0D108BD9-81ED-4DB2-BD59-A6C34878D82A}">
                    <a16:rowId xmlns:a16="http://schemas.microsoft.com/office/drawing/2014/main" val="921112639"/>
                  </a:ext>
                </a:extLst>
              </a:tr>
              <a:tr h="370840">
                <a:tc>
                  <a:txBody>
                    <a:bodyPr/>
                    <a:lstStyle/>
                    <a:p>
                      <a:pPr algn="ctr"/>
                      <a:r>
                        <a:rPr lang="en-US"/>
                        <a:t>Externalizing</a:t>
                      </a:r>
                    </a:p>
                  </a:txBody>
                  <a:tcPr/>
                </a:tc>
                <a:tc>
                  <a:txBody>
                    <a:bodyPr/>
                    <a:lstStyle/>
                    <a:p>
                      <a:pPr algn="ctr"/>
                      <a:r>
                        <a:rPr lang="en-US"/>
                        <a:t>0.80</a:t>
                      </a:r>
                    </a:p>
                  </a:txBody>
                  <a:tcPr/>
                </a:tc>
                <a:tc>
                  <a:txBody>
                    <a:bodyPr/>
                    <a:lstStyle/>
                    <a:p>
                      <a:pPr algn="ctr"/>
                      <a:r>
                        <a:rPr lang="en-US"/>
                        <a:t>Good</a:t>
                      </a:r>
                    </a:p>
                  </a:txBody>
                  <a:tcPr/>
                </a:tc>
                <a:tc>
                  <a:txBody>
                    <a:bodyPr/>
                    <a:lstStyle/>
                    <a:p>
                      <a:pPr algn="ctr"/>
                      <a:r>
                        <a:rPr lang="en-US" b="1"/>
                        <a:t>0.90</a:t>
                      </a:r>
                    </a:p>
                  </a:txBody>
                  <a:tcPr/>
                </a:tc>
                <a:tc>
                  <a:txBody>
                    <a:bodyPr/>
                    <a:lstStyle/>
                    <a:p>
                      <a:pPr algn="ctr"/>
                      <a:r>
                        <a:rPr lang="en-US" b="1"/>
                        <a:t>Excellent</a:t>
                      </a:r>
                    </a:p>
                  </a:txBody>
                  <a:tcPr/>
                </a:tc>
                <a:extLst>
                  <a:ext uri="{0D108BD9-81ED-4DB2-BD59-A6C34878D82A}">
                    <a16:rowId xmlns:a16="http://schemas.microsoft.com/office/drawing/2014/main" val="2891811514"/>
                  </a:ext>
                </a:extLst>
              </a:tr>
              <a:tr h="370840">
                <a:tc>
                  <a:txBody>
                    <a:bodyPr/>
                    <a:lstStyle/>
                    <a:p>
                      <a:pPr algn="ctr"/>
                      <a:r>
                        <a:rPr lang="en-US"/>
                        <a:t>Internalizing</a:t>
                      </a:r>
                    </a:p>
                  </a:txBody>
                  <a:tcPr/>
                </a:tc>
                <a:tc>
                  <a:txBody>
                    <a:bodyPr/>
                    <a:lstStyle/>
                    <a:p>
                      <a:pPr algn="ctr"/>
                      <a:r>
                        <a:rPr lang="en-US"/>
                        <a:t>0.78</a:t>
                      </a:r>
                    </a:p>
                  </a:txBody>
                  <a:tcPr/>
                </a:tc>
                <a:tc>
                  <a:txBody>
                    <a:bodyPr/>
                    <a:lstStyle/>
                    <a:p>
                      <a:pPr algn="ctr"/>
                      <a:r>
                        <a:rPr lang="en-US"/>
                        <a:t>Acceptable</a:t>
                      </a:r>
                    </a:p>
                  </a:txBody>
                  <a:tcPr/>
                </a:tc>
                <a:tc>
                  <a:txBody>
                    <a:bodyPr/>
                    <a:lstStyle/>
                    <a:p>
                      <a:pPr algn="ctr"/>
                      <a:r>
                        <a:rPr lang="en-US" b="1"/>
                        <a:t>0.91</a:t>
                      </a:r>
                    </a:p>
                  </a:txBody>
                  <a:tcPr/>
                </a:tc>
                <a:tc>
                  <a:txBody>
                    <a:bodyPr/>
                    <a:lstStyle/>
                    <a:p>
                      <a:pPr algn="ctr"/>
                      <a:r>
                        <a:rPr lang="en-US" b="1"/>
                        <a:t>Excellent</a:t>
                      </a:r>
                    </a:p>
                  </a:txBody>
                  <a:tcPr/>
                </a:tc>
                <a:extLst>
                  <a:ext uri="{0D108BD9-81ED-4DB2-BD59-A6C34878D82A}">
                    <a16:rowId xmlns:a16="http://schemas.microsoft.com/office/drawing/2014/main" val="2587763986"/>
                  </a:ext>
                </a:extLst>
              </a:tr>
            </a:tbl>
          </a:graphicData>
        </a:graphic>
      </p:graphicFrame>
    </p:spTree>
    <p:extLst>
      <p:ext uri="{BB962C8B-B14F-4D97-AF65-F5344CB8AC3E}">
        <p14:creationId xmlns:p14="http://schemas.microsoft.com/office/powerpoint/2010/main" val="1869279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813D3-E090-09A6-0E97-836EDAE67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C7950-1721-8ABA-7E20-B09FB691EB13}"/>
              </a:ext>
            </a:extLst>
          </p:cNvPr>
          <p:cNvSpPr>
            <a:spLocks noGrp="1"/>
          </p:cNvSpPr>
          <p:nvPr>
            <p:ph type="title"/>
          </p:nvPr>
        </p:nvSpPr>
        <p:spPr>
          <a:xfrm>
            <a:off x="838200" y="581891"/>
            <a:ext cx="6090920" cy="1108797"/>
          </a:xfrm>
        </p:spPr>
        <p:txBody>
          <a:bodyPr>
            <a:normAutofit/>
          </a:bodyPr>
          <a:lstStyle/>
          <a:p>
            <a:r>
              <a:rPr lang="en-US"/>
              <a:t>Validity</a:t>
            </a:r>
            <a:br>
              <a:rPr lang="en-US"/>
            </a:br>
            <a:r>
              <a:rPr lang="en-US" sz="1800"/>
              <a:t>(Youngstrom et al., in preparation)</a:t>
            </a:r>
            <a:endParaRPr lang="en-US"/>
          </a:p>
        </p:txBody>
      </p:sp>
      <p:sp>
        <p:nvSpPr>
          <p:cNvPr id="6" name="Content Placeholder 5">
            <a:extLst>
              <a:ext uri="{FF2B5EF4-FFF2-40B4-BE49-F238E27FC236}">
                <a16:creationId xmlns:a16="http://schemas.microsoft.com/office/drawing/2014/main" id="{2EC45B8B-E787-C09E-7962-677B20EB0795}"/>
              </a:ext>
            </a:extLst>
          </p:cNvPr>
          <p:cNvSpPr>
            <a:spLocks noGrp="1"/>
          </p:cNvSpPr>
          <p:nvPr>
            <p:ph idx="1"/>
          </p:nvPr>
        </p:nvSpPr>
        <p:spPr/>
        <p:txBody>
          <a:bodyPr/>
          <a:lstStyle/>
          <a:p>
            <a:r>
              <a:rPr lang="en-US"/>
              <a:t>Why the PSC-17?</a:t>
            </a:r>
          </a:p>
        </p:txBody>
      </p:sp>
      <p:sp>
        <p:nvSpPr>
          <p:cNvPr id="5" name="TextBox 4">
            <a:extLst>
              <a:ext uri="{FF2B5EF4-FFF2-40B4-BE49-F238E27FC236}">
                <a16:creationId xmlns:a16="http://schemas.microsoft.com/office/drawing/2014/main" id="{25EE6BBA-F107-CA38-9254-92A172642BCE}"/>
              </a:ext>
            </a:extLst>
          </p:cNvPr>
          <p:cNvSpPr txBox="1"/>
          <p:nvPr/>
        </p:nvSpPr>
        <p:spPr>
          <a:xfrm>
            <a:off x="1202089" y="2424545"/>
            <a:ext cx="306003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ptos"/>
              </a:rPr>
              <a:t>Total:</a:t>
            </a:r>
            <a:r>
              <a:rPr lang="en-US" sz="2800">
                <a:latin typeface="Aptos"/>
              </a:rPr>
              <a:t> </a:t>
            </a:r>
            <a:r>
              <a:rPr lang="en-US" sz="2800">
                <a:solidFill>
                  <a:srgbClr val="FF0000"/>
                </a:solidFill>
                <a:latin typeface="Aptos"/>
              </a:rPr>
              <a:t>17</a:t>
            </a:r>
          </a:p>
          <a:p>
            <a:r>
              <a:rPr lang="en-US" sz="2800" b="1">
                <a:latin typeface="Aptos"/>
              </a:rPr>
              <a:t>Attention</a:t>
            </a:r>
            <a:r>
              <a:rPr lang="en-US" sz="2800">
                <a:latin typeface="Aptos"/>
              </a:rPr>
              <a:t>: </a:t>
            </a:r>
            <a:r>
              <a:rPr lang="en-US" sz="2800">
                <a:solidFill>
                  <a:srgbClr val="FF0000"/>
                </a:solidFill>
                <a:latin typeface="Aptos"/>
              </a:rPr>
              <a:t>8 </a:t>
            </a:r>
          </a:p>
          <a:p>
            <a:r>
              <a:rPr lang="en-US" sz="2800" b="1">
                <a:latin typeface="Aptos"/>
              </a:rPr>
              <a:t>Internalizing:</a:t>
            </a:r>
            <a:r>
              <a:rPr lang="en-US" sz="2800">
                <a:latin typeface="Aptos"/>
              </a:rPr>
              <a:t> </a:t>
            </a:r>
            <a:r>
              <a:rPr lang="en-US" sz="2800">
                <a:solidFill>
                  <a:srgbClr val="FF0000"/>
                </a:solidFill>
                <a:latin typeface="Aptos"/>
              </a:rPr>
              <a:t>5</a:t>
            </a:r>
          </a:p>
          <a:p>
            <a:r>
              <a:rPr lang="en-US" sz="2800" b="1">
                <a:latin typeface="Aptos"/>
              </a:rPr>
              <a:t>Externalizing:</a:t>
            </a:r>
            <a:r>
              <a:rPr lang="en-US" sz="2800">
                <a:latin typeface="Aptos"/>
              </a:rPr>
              <a:t> 4</a:t>
            </a:r>
            <a:endParaRPr lang="en-US" sz="2800"/>
          </a:p>
        </p:txBody>
      </p:sp>
      <p:graphicFrame>
        <p:nvGraphicFramePr>
          <p:cNvPr id="4" name="Table 3">
            <a:extLst>
              <a:ext uri="{FF2B5EF4-FFF2-40B4-BE49-F238E27FC236}">
                <a16:creationId xmlns:a16="http://schemas.microsoft.com/office/drawing/2014/main" id="{B46B0014-CB77-2905-CA62-15644D21E763}"/>
              </a:ext>
            </a:extLst>
          </p:cNvPr>
          <p:cNvGraphicFramePr>
            <a:graphicFrameLocks noGrp="1"/>
          </p:cNvGraphicFramePr>
          <p:nvPr>
            <p:extLst>
              <p:ext uri="{D42A27DB-BD31-4B8C-83A1-F6EECF244321}">
                <p14:modId xmlns:p14="http://schemas.microsoft.com/office/powerpoint/2010/main" val="2156430308"/>
              </p:ext>
            </p:extLst>
          </p:nvPr>
        </p:nvGraphicFramePr>
        <p:xfrm>
          <a:off x="5313680" y="713971"/>
          <a:ext cx="3621212" cy="1483360"/>
        </p:xfrm>
        <a:graphic>
          <a:graphicData uri="http://schemas.openxmlformats.org/drawingml/2006/table">
            <a:tbl>
              <a:tblPr firstRow="1" bandRow="1">
                <a:tableStyleId>{5C22544A-7EE6-4342-B048-85BDC9FD1C3A}</a:tableStyleId>
              </a:tblPr>
              <a:tblGrid>
                <a:gridCol w="2977902">
                  <a:extLst>
                    <a:ext uri="{9D8B030D-6E8A-4147-A177-3AD203B41FA5}">
                      <a16:colId xmlns:a16="http://schemas.microsoft.com/office/drawing/2014/main" val="1149984440"/>
                    </a:ext>
                  </a:extLst>
                </a:gridCol>
                <a:gridCol w="643310">
                  <a:extLst>
                    <a:ext uri="{9D8B030D-6E8A-4147-A177-3AD203B41FA5}">
                      <a16:colId xmlns:a16="http://schemas.microsoft.com/office/drawing/2014/main" val="4270655759"/>
                    </a:ext>
                  </a:extLst>
                </a:gridCol>
              </a:tblGrid>
              <a:tr h="370840">
                <a:tc>
                  <a:txBody>
                    <a:bodyPr/>
                    <a:lstStyle/>
                    <a:p>
                      <a:pPr algn="ctr"/>
                      <a:r>
                        <a:rPr lang="en-US"/>
                        <a:t>Attention Subset</a:t>
                      </a:r>
                    </a:p>
                  </a:txBody>
                  <a:tcPr/>
                </a:tc>
                <a:tc>
                  <a:txBody>
                    <a:bodyPr/>
                    <a:lstStyle/>
                    <a:p>
                      <a:pPr algn="ctr"/>
                      <a:r>
                        <a:rPr lang="en-US" i="1"/>
                        <a:t>r</a:t>
                      </a:r>
                    </a:p>
                  </a:txBody>
                  <a:tcPr/>
                </a:tc>
                <a:extLst>
                  <a:ext uri="{0D108BD9-81ED-4DB2-BD59-A6C34878D82A}">
                    <a16:rowId xmlns:a16="http://schemas.microsoft.com/office/drawing/2014/main" val="3461531776"/>
                  </a:ext>
                </a:extLst>
              </a:tr>
              <a:tr h="370840">
                <a:tc>
                  <a:txBody>
                    <a:bodyPr/>
                    <a:lstStyle/>
                    <a:p>
                      <a:pPr algn="ctr"/>
                      <a:r>
                        <a:rPr lang="en-US"/>
                        <a:t>Vanderbilt Symptom Total</a:t>
                      </a:r>
                    </a:p>
                  </a:txBody>
                  <a:tcPr/>
                </a:tc>
                <a:tc>
                  <a:txBody>
                    <a:bodyPr/>
                    <a:lstStyle/>
                    <a:p>
                      <a:pPr algn="ctr"/>
                      <a:r>
                        <a:rPr lang="en-US"/>
                        <a:t>0.82</a:t>
                      </a:r>
                    </a:p>
                  </a:txBody>
                  <a:tcPr/>
                </a:tc>
                <a:extLst>
                  <a:ext uri="{0D108BD9-81ED-4DB2-BD59-A6C34878D82A}">
                    <a16:rowId xmlns:a16="http://schemas.microsoft.com/office/drawing/2014/main" val="2910294474"/>
                  </a:ext>
                </a:extLst>
              </a:tr>
              <a:tr h="370840">
                <a:tc>
                  <a:txBody>
                    <a:bodyPr/>
                    <a:lstStyle/>
                    <a:p>
                      <a:pPr algn="ctr"/>
                      <a:r>
                        <a:rPr lang="en-US"/>
                        <a:t>Vanderbilt Inattention Total</a:t>
                      </a:r>
                    </a:p>
                  </a:txBody>
                  <a:tcPr/>
                </a:tc>
                <a:tc>
                  <a:txBody>
                    <a:bodyPr/>
                    <a:lstStyle/>
                    <a:p>
                      <a:pPr algn="ctr"/>
                      <a:r>
                        <a:rPr lang="en-US"/>
                        <a:t>0.74</a:t>
                      </a:r>
                    </a:p>
                  </a:txBody>
                  <a:tcPr/>
                </a:tc>
                <a:extLst>
                  <a:ext uri="{0D108BD9-81ED-4DB2-BD59-A6C34878D82A}">
                    <a16:rowId xmlns:a16="http://schemas.microsoft.com/office/drawing/2014/main" val="2390624824"/>
                  </a:ext>
                </a:extLst>
              </a:tr>
              <a:tr h="370840">
                <a:tc>
                  <a:txBody>
                    <a:bodyPr/>
                    <a:lstStyle/>
                    <a:p>
                      <a:pPr algn="ctr"/>
                      <a:r>
                        <a:rPr lang="en-US"/>
                        <a:t>Vanderbilt Hyperactivity Total</a:t>
                      </a:r>
                    </a:p>
                  </a:txBody>
                  <a:tcPr/>
                </a:tc>
                <a:tc>
                  <a:txBody>
                    <a:bodyPr/>
                    <a:lstStyle/>
                    <a:p>
                      <a:pPr algn="ctr"/>
                      <a:r>
                        <a:rPr lang="en-US"/>
                        <a:t>0.78</a:t>
                      </a:r>
                    </a:p>
                  </a:txBody>
                  <a:tcPr/>
                </a:tc>
                <a:extLst>
                  <a:ext uri="{0D108BD9-81ED-4DB2-BD59-A6C34878D82A}">
                    <a16:rowId xmlns:a16="http://schemas.microsoft.com/office/drawing/2014/main" val="1904631711"/>
                  </a:ext>
                </a:extLst>
              </a:tr>
            </a:tbl>
          </a:graphicData>
        </a:graphic>
      </p:graphicFrame>
      <p:graphicFrame>
        <p:nvGraphicFramePr>
          <p:cNvPr id="7" name="Table 6">
            <a:extLst>
              <a:ext uri="{FF2B5EF4-FFF2-40B4-BE49-F238E27FC236}">
                <a16:creationId xmlns:a16="http://schemas.microsoft.com/office/drawing/2014/main" id="{D62F5885-A59A-8BCD-0A82-3FCA6F3BDAAC}"/>
              </a:ext>
            </a:extLst>
          </p:cNvPr>
          <p:cNvGraphicFramePr>
            <a:graphicFrameLocks noGrp="1"/>
          </p:cNvGraphicFramePr>
          <p:nvPr>
            <p:extLst>
              <p:ext uri="{D42A27DB-BD31-4B8C-83A1-F6EECF244321}">
                <p14:modId xmlns:p14="http://schemas.microsoft.com/office/powerpoint/2010/main" val="2932562694"/>
              </p:ext>
            </p:extLst>
          </p:nvPr>
        </p:nvGraphicFramePr>
        <p:xfrm>
          <a:off x="5308492" y="4066769"/>
          <a:ext cx="3626400" cy="1483360"/>
        </p:xfrm>
        <a:graphic>
          <a:graphicData uri="http://schemas.openxmlformats.org/drawingml/2006/table">
            <a:tbl>
              <a:tblPr firstRow="1" bandRow="1">
                <a:tableStyleId>{5C22544A-7EE6-4342-B048-85BDC9FD1C3A}</a:tableStyleId>
              </a:tblPr>
              <a:tblGrid>
                <a:gridCol w="2948967">
                  <a:extLst>
                    <a:ext uri="{9D8B030D-6E8A-4147-A177-3AD203B41FA5}">
                      <a16:colId xmlns:a16="http://schemas.microsoft.com/office/drawing/2014/main" val="1218424245"/>
                    </a:ext>
                  </a:extLst>
                </a:gridCol>
                <a:gridCol w="677433">
                  <a:extLst>
                    <a:ext uri="{9D8B030D-6E8A-4147-A177-3AD203B41FA5}">
                      <a16:colId xmlns:a16="http://schemas.microsoft.com/office/drawing/2014/main" val="1257603513"/>
                    </a:ext>
                  </a:extLst>
                </a:gridCol>
              </a:tblGrid>
              <a:tr h="370840">
                <a:tc>
                  <a:txBody>
                    <a:bodyPr/>
                    <a:lstStyle/>
                    <a:p>
                      <a:pPr algn="ctr"/>
                      <a:r>
                        <a:rPr lang="en-US"/>
                        <a:t>Externalizing Subset</a:t>
                      </a:r>
                    </a:p>
                  </a:txBody>
                  <a:tcPr/>
                </a:tc>
                <a:tc>
                  <a:txBody>
                    <a:bodyPr/>
                    <a:lstStyle/>
                    <a:p>
                      <a:pPr algn="ctr"/>
                      <a:r>
                        <a:rPr lang="en-US" i="1"/>
                        <a:t>r</a:t>
                      </a:r>
                    </a:p>
                  </a:txBody>
                  <a:tcPr/>
                </a:tc>
                <a:extLst>
                  <a:ext uri="{0D108BD9-81ED-4DB2-BD59-A6C34878D82A}">
                    <a16:rowId xmlns:a16="http://schemas.microsoft.com/office/drawing/2014/main" val="883648419"/>
                  </a:ext>
                </a:extLst>
              </a:tr>
              <a:tr h="370840">
                <a:tc>
                  <a:txBody>
                    <a:bodyPr/>
                    <a:lstStyle/>
                    <a:p>
                      <a:pPr algn="ctr"/>
                      <a:r>
                        <a:rPr lang="en-US"/>
                        <a:t>CHRT Propensity Total</a:t>
                      </a:r>
                    </a:p>
                  </a:txBody>
                  <a:tcPr/>
                </a:tc>
                <a:tc>
                  <a:txBody>
                    <a:bodyPr/>
                    <a:lstStyle/>
                    <a:p>
                      <a:pPr algn="ctr"/>
                      <a:r>
                        <a:rPr lang="en-US"/>
                        <a:t>0.82</a:t>
                      </a:r>
                    </a:p>
                  </a:txBody>
                  <a:tcPr/>
                </a:tc>
                <a:extLst>
                  <a:ext uri="{0D108BD9-81ED-4DB2-BD59-A6C34878D82A}">
                    <a16:rowId xmlns:a16="http://schemas.microsoft.com/office/drawing/2014/main" val="928105326"/>
                  </a:ext>
                </a:extLst>
              </a:tr>
              <a:tr h="370840">
                <a:tc>
                  <a:txBody>
                    <a:bodyPr/>
                    <a:lstStyle/>
                    <a:p>
                      <a:pPr algn="ctr"/>
                      <a:r>
                        <a:rPr lang="en-US"/>
                        <a:t>Vanderbilt Hyperactivity Total</a:t>
                      </a:r>
                    </a:p>
                  </a:txBody>
                  <a:tcPr/>
                </a:tc>
                <a:tc>
                  <a:txBody>
                    <a:bodyPr/>
                    <a:lstStyle/>
                    <a:p>
                      <a:pPr algn="ctr"/>
                      <a:r>
                        <a:rPr lang="en-US"/>
                        <a:t>0.66</a:t>
                      </a:r>
                    </a:p>
                  </a:txBody>
                  <a:tcPr/>
                </a:tc>
                <a:extLst>
                  <a:ext uri="{0D108BD9-81ED-4DB2-BD59-A6C34878D82A}">
                    <a16:rowId xmlns:a16="http://schemas.microsoft.com/office/drawing/2014/main" val="3191631710"/>
                  </a:ext>
                </a:extLst>
              </a:tr>
              <a:tr h="370840">
                <a:tc>
                  <a:txBody>
                    <a:bodyPr/>
                    <a:lstStyle/>
                    <a:p>
                      <a:pPr algn="ctr"/>
                      <a:r>
                        <a:rPr lang="en-US"/>
                        <a:t>NQLS Total (Quality of Life)</a:t>
                      </a:r>
                    </a:p>
                  </a:txBody>
                  <a:tcPr/>
                </a:tc>
                <a:tc>
                  <a:txBody>
                    <a:bodyPr/>
                    <a:lstStyle/>
                    <a:p>
                      <a:pPr algn="ctr"/>
                      <a:r>
                        <a:rPr lang="en-US"/>
                        <a:t>-0.41</a:t>
                      </a:r>
                    </a:p>
                  </a:txBody>
                  <a:tcPr/>
                </a:tc>
                <a:extLst>
                  <a:ext uri="{0D108BD9-81ED-4DB2-BD59-A6C34878D82A}">
                    <a16:rowId xmlns:a16="http://schemas.microsoft.com/office/drawing/2014/main" val="1326325295"/>
                  </a:ext>
                </a:extLst>
              </a:tr>
            </a:tbl>
          </a:graphicData>
        </a:graphic>
      </p:graphicFrame>
      <p:graphicFrame>
        <p:nvGraphicFramePr>
          <p:cNvPr id="8" name="Table 7">
            <a:extLst>
              <a:ext uri="{FF2B5EF4-FFF2-40B4-BE49-F238E27FC236}">
                <a16:creationId xmlns:a16="http://schemas.microsoft.com/office/drawing/2014/main" id="{3032F90E-0584-AB23-DC3B-9BF343556325}"/>
              </a:ext>
            </a:extLst>
          </p:cNvPr>
          <p:cNvGraphicFramePr>
            <a:graphicFrameLocks noGrp="1"/>
          </p:cNvGraphicFramePr>
          <p:nvPr>
            <p:extLst>
              <p:ext uri="{D42A27DB-BD31-4B8C-83A1-F6EECF244321}">
                <p14:modId xmlns:p14="http://schemas.microsoft.com/office/powerpoint/2010/main" val="3623864912"/>
              </p:ext>
            </p:extLst>
          </p:nvPr>
        </p:nvGraphicFramePr>
        <p:xfrm>
          <a:off x="5308492" y="2387600"/>
          <a:ext cx="3626400" cy="1483360"/>
        </p:xfrm>
        <a:graphic>
          <a:graphicData uri="http://schemas.openxmlformats.org/drawingml/2006/table">
            <a:tbl>
              <a:tblPr firstRow="1" bandRow="1">
                <a:tableStyleId>{5C22544A-7EE6-4342-B048-85BDC9FD1C3A}</a:tableStyleId>
              </a:tblPr>
              <a:tblGrid>
                <a:gridCol w="2956560">
                  <a:extLst>
                    <a:ext uri="{9D8B030D-6E8A-4147-A177-3AD203B41FA5}">
                      <a16:colId xmlns:a16="http://schemas.microsoft.com/office/drawing/2014/main" val="2863397665"/>
                    </a:ext>
                  </a:extLst>
                </a:gridCol>
                <a:gridCol w="669840">
                  <a:extLst>
                    <a:ext uri="{9D8B030D-6E8A-4147-A177-3AD203B41FA5}">
                      <a16:colId xmlns:a16="http://schemas.microsoft.com/office/drawing/2014/main" val="1898051951"/>
                    </a:ext>
                  </a:extLst>
                </a:gridCol>
              </a:tblGrid>
              <a:tr h="370840">
                <a:tc>
                  <a:txBody>
                    <a:bodyPr/>
                    <a:lstStyle/>
                    <a:p>
                      <a:pPr algn="ctr"/>
                      <a:r>
                        <a:rPr lang="en-US"/>
                        <a:t>Internalizing Subset</a:t>
                      </a:r>
                    </a:p>
                  </a:txBody>
                  <a:tcPr/>
                </a:tc>
                <a:tc>
                  <a:txBody>
                    <a:bodyPr/>
                    <a:lstStyle/>
                    <a:p>
                      <a:pPr algn="ctr"/>
                      <a:r>
                        <a:rPr lang="en-US" i="1"/>
                        <a:t>r</a:t>
                      </a:r>
                    </a:p>
                  </a:txBody>
                  <a:tcPr/>
                </a:tc>
                <a:extLst>
                  <a:ext uri="{0D108BD9-81ED-4DB2-BD59-A6C34878D82A}">
                    <a16:rowId xmlns:a16="http://schemas.microsoft.com/office/drawing/2014/main" val="3902818407"/>
                  </a:ext>
                </a:extLst>
              </a:tr>
              <a:tr h="370840">
                <a:tc>
                  <a:txBody>
                    <a:bodyPr/>
                    <a:lstStyle/>
                    <a:p>
                      <a:pPr algn="ctr"/>
                      <a:r>
                        <a:rPr lang="en-US"/>
                        <a:t>CHRT Suicidal Thoughts Total</a:t>
                      </a:r>
                    </a:p>
                  </a:txBody>
                  <a:tcPr/>
                </a:tc>
                <a:tc>
                  <a:txBody>
                    <a:bodyPr/>
                    <a:lstStyle/>
                    <a:p>
                      <a:pPr algn="ctr"/>
                      <a:r>
                        <a:rPr lang="en-US"/>
                        <a:t>0.63</a:t>
                      </a:r>
                    </a:p>
                  </a:txBody>
                  <a:tcPr/>
                </a:tc>
                <a:extLst>
                  <a:ext uri="{0D108BD9-81ED-4DB2-BD59-A6C34878D82A}">
                    <a16:rowId xmlns:a16="http://schemas.microsoft.com/office/drawing/2014/main" val="1635510638"/>
                  </a:ext>
                </a:extLst>
              </a:tr>
              <a:tr h="370840">
                <a:tc>
                  <a:txBody>
                    <a:bodyPr/>
                    <a:lstStyle/>
                    <a:p>
                      <a:pPr algn="ctr"/>
                      <a:r>
                        <a:rPr lang="en-US" dirty="0"/>
                        <a:t>VQIDS Total (Depression)</a:t>
                      </a:r>
                    </a:p>
                  </a:txBody>
                  <a:tcPr/>
                </a:tc>
                <a:tc>
                  <a:txBody>
                    <a:bodyPr/>
                    <a:lstStyle/>
                    <a:p>
                      <a:pPr algn="ctr"/>
                      <a:r>
                        <a:rPr lang="en-US"/>
                        <a:t>0.63</a:t>
                      </a:r>
                    </a:p>
                  </a:txBody>
                  <a:tcPr/>
                </a:tc>
                <a:extLst>
                  <a:ext uri="{0D108BD9-81ED-4DB2-BD59-A6C34878D82A}">
                    <a16:rowId xmlns:a16="http://schemas.microsoft.com/office/drawing/2014/main" val="3200288548"/>
                  </a:ext>
                </a:extLst>
              </a:tr>
              <a:tr h="370840">
                <a:tc>
                  <a:txBody>
                    <a:bodyPr/>
                    <a:lstStyle/>
                    <a:p>
                      <a:pPr algn="ctr"/>
                      <a:r>
                        <a:rPr lang="en-US"/>
                        <a:t>NQLS Total (Quality of Life)</a:t>
                      </a:r>
                    </a:p>
                  </a:txBody>
                  <a:tcPr/>
                </a:tc>
                <a:tc>
                  <a:txBody>
                    <a:bodyPr/>
                    <a:lstStyle/>
                    <a:p>
                      <a:pPr algn="ctr"/>
                      <a:r>
                        <a:rPr lang="en-US" dirty="0"/>
                        <a:t>-0.43</a:t>
                      </a:r>
                    </a:p>
                  </a:txBody>
                  <a:tcPr/>
                </a:tc>
                <a:extLst>
                  <a:ext uri="{0D108BD9-81ED-4DB2-BD59-A6C34878D82A}">
                    <a16:rowId xmlns:a16="http://schemas.microsoft.com/office/drawing/2014/main" val="3521293883"/>
                  </a:ext>
                </a:extLst>
              </a:tr>
            </a:tbl>
          </a:graphicData>
        </a:graphic>
      </p:graphicFrame>
      <p:pic>
        <p:nvPicPr>
          <p:cNvPr id="13" name="Picture 12" descr="Smiley Clipart, Laughing Face, Smiley Download PNG, SVG, PDF, Jpeg">
            <a:extLst>
              <a:ext uri="{FF2B5EF4-FFF2-40B4-BE49-F238E27FC236}">
                <a16:creationId xmlns:a16="http://schemas.microsoft.com/office/drawing/2014/main" id="{EEACEE25-6F76-DC2C-6F88-9286D3736A23}"/>
              </a:ext>
            </a:extLst>
          </p:cNvPr>
          <p:cNvPicPr>
            <a:picLocks noChangeAspect="1"/>
          </p:cNvPicPr>
          <p:nvPr/>
        </p:nvPicPr>
        <p:blipFill>
          <a:blip r:embed="rId3"/>
          <a:stretch>
            <a:fillRect/>
          </a:stretch>
        </p:blipFill>
        <p:spPr>
          <a:xfrm>
            <a:off x="9253220" y="581891"/>
            <a:ext cx="1752600" cy="1752600"/>
          </a:xfrm>
          <a:prstGeom prst="rect">
            <a:avLst/>
          </a:prstGeom>
        </p:spPr>
      </p:pic>
      <p:pic>
        <p:nvPicPr>
          <p:cNvPr id="14" name="Picture 13" descr="Smiley Clipart, Laughing Face, Smiley Download PNG, SVG, PDF, Jpeg">
            <a:extLst>
              <a:ext uri="{FF2B5EF4-FFF2-40B4-BE49-F238E27FC236}">
                <a16:creationId xmlns:a16="http://schemas.microsoft.com/office/drawing/2014/main" id="{BF5C0976-DB47-8730-100F-A77CB176EDB0}"/>
              </a:ext>
            </a:extLst>
          </p:cNvPr>
          <p:cNvPicPr>
            <a:picLocks noChangeAspect="1"/>
          </p:cNvPicPr>
          <p:nvPr/>
        </p:nvPicPr>
        <p:blipFill>
          <a:blip r:embed="rId3"/>
          <a:stretch>
            <a:fillRect/>
          </a:stretch>
        </p:blipFill>
        <p:spPr>
          <a:xfrm>
            <a:off x="9253220" y="2255750"/>
            <a:ext cx="1752600" cy="1752600"/>
          </a:xfrm>
          <a:prstGeom prst="rect">
            <a:avLst/>
          </a:prstGeom>
        </p:spPr>
      </p:pic>
      <p:pic>
        <p:nvPicPr>
          <p:cNvPr id="15" name="Picture 14" descr="Smiley Clipart, Laughing Face, Smiley Download PNG, SVG, PDF, Jpeg">
            <a:extLst>
              <a:ext uri="{FF2B5EF4-FFF2-40B4-BE49-F238E27FC236}">
                <a16:creationId xmlns:a16="http://schemas.microsoft.com/office/drawing/2014/main" id="{64CE715F-D533-AFC2-013A-E74143F0849C}"/>
              </a:ext>
            </a:extLst>
          </p:cNvPr>
          <p:cNvPicPr>
            <a:picLocks noChangeAspect="1"/>
          </p:cNvPicPr>
          <p:nvPr/>
        </p:nvPicPr>
        <p:blipFill>
          <a:blip r:embed="rId3"/>
          <a:stretch>
            <a:fillRect/>
          </a:stretch>
        </p:blipFill>
        <p:spPr>
          <a:xfrm>
            <a:off x="9253220" y="3929609"/>
            <a:ext cx="1752600" cy="1752600"/>
          </a:xfrm>
          <a:prstGeom prst="rect">
            <a:avLst/>
          </a:prstGeom>
        </p:spPr>
      </p:pic>
    </p:spTree>
    <p:extLst>
      <p:ext uri="{BB962C8B-B14F-4D97-AF65-F5344CB8AC3E}">
        <p14:creationId xmlns:p14="http://schemas.microsoft.com/office/powerpoint/2010/main" val="1894624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840A-55CB-96C2-474E-7BED784B4403}"/>
              </a:ext>
            </a:extLst>
          </p:cNvPr>
          <p:cNvSpPr>
            <a:spLocks noGrp="1"/>
          </p:cNvSpPr>
          <p:nvPr>
            <p:ph type="title"/>
          </p:nvPr>
        </p:nvSpPr>
        <p:spPr/>
        <p:txBody>
          <a:bodyPr/>
          <a:lstStyle/>
          <a:p>
            <a:r>
              <a:rPr lang="en-US">
                <a:ea typeface="Roboto Condensed Black"/>
              </a:rPr>
              <a:t>Case Conceptualization</a:t>
            </a:r>
            <a:endParaRPr lang="en-US" b="0">
              <a:ea typeface="Roboto Condensed Black"/>
            </a:endParaRPr>
          </a:p>
        </p:txBody>
      </p:sp>
      <p:sp>
        <p:nvSpPr>
          <p:cNvPr id="3" name="Content Placeholder 2">
            <a:extLst>
              <a:ext uri="{FF2B5EF4-FFF2-40B4-BE49-F238E27FC236}">
                <a16:creationId xmlns:a16="http://schemas.microsoft.com/office/drawing/2014/main" id="{1C1A5980-415F-0B7F-2FC1-FC29F6012DAE}"/>
              </a:ext>
            </a:extLst>
          </p:cNvPr>
          <p:cNvSpPr>
            <a:spLocks noGrp="1"/>
          </p:cNvSpPr>
          <p:nvPr>
            <p:ph idx="1"/>
          </p:nvPr>
        </p:nvSpPr>
        <p:spPr/>
        <p:txBody>
          <a:bodyPr vert="horz" lIns="91440" tIns="45720" rIns="91440" bIns="45720" rtlCol="0" anchor="t">
            <a:normAutofit fontScale="92500" lnSpcReduction="20000"/>
          </a:bodyPr>
          <a:lstStyle/>
          <a:p>
            <a:r>
              <a:rPr lang="en-US" sz="2400">
                <a:cs typeface="Arial"/>
              </a:rPr>
              <a:t>Youth-report </a:t>
            </a:r>
            <a:r>
              <a:rPr lang="en-US" sz="2400" b="1">
                <a:solidFill>
                  <a:srgbClr val="1F497D"/>
                </a:solidFill>
                <a:cs typeface="Arial"/>
              </a:rPr>
              <a:t>Vanderbilt </a:t>
            </a:r>
            <a:r>
              <a:rPr lang="en-US" sz="2400">
                <a:cs typeface="Arial"/>
              </a:rPr>
              <a:t>yields 6 symptoms of inattention and 2 symptoms of hyperactivity/ impulsivity that occur "often" or "very often"</a:t>
            </a:r>
            <a:endParaRPr lang="en-US"/>
          </a:p>
          <a:p>
            <a:pPr lvl="1">
              <a:buFont typeface="Courier New" panose="020B0604020202020204" pitchFamily="34" charset="0"/>
              <a:buChar char="o"/>
            </a:pPr>
            <a:r>
              <a:rPr lang="en-US" sz="2000">
                <a:cs typeface="Arial"/>
              </a:rPr>
              <a:t>Plus 3 total problem areas.</a:t>
            </a:r>
          </a:p>
          <a:p>
            <a:pPr marL="457200" lvl="1" indent="0">
              <a:buNone/>
            </a:pPr>
            <a:endParaRPr lang="en-US"/>
          </a:p>
          <a:p>
            <a:r>
              <a:rPr lang="en-US" sz="2400">
                <a:cs typeface="Arial"/>
              </a:rPr>
              <a:t>Parent-report </a:t>
            </a:r>
            <a:r>
              <a:rPr lang="en-US" sz="2400" b="1">
                <a:solidFill>
                  <a:srgbClr val="1F497D"/>
                </a:solidFill>
                <a:cs typeface="Arial"/>
              </a:rPr>
              <a:t>Vanderbilt </a:t>
            </a:r>
            <a:r>
              <a:rPr lang="en-US" sz="2400">
                <a:cs typeface="Arial"/>
              </a:rPr>
              <a:t>yields 7 symptoms of inattention and 3 symptoms of hyperactivity/ impulsivity that occur "often" or "very often"</a:t>
            </a:r>
            <a:endParaRPr lang="en-US"/>
          </a:p>
          <a:p>
            <a:pPr lvl="1">
              <a:buFont typeface="Courier New" panose="020B0604020202020204" pitchFamily="34" charset="0"/>
              <a:buChar char="o"/>
            </a:pPr>
            <a:r>
              <a:rPr lang="en-US" sz="2000">
                <a:cs typeface="Arial"/>
              </a:rPr>
              <a:t>Plus 4 total problem areas.</a:t>
            </a:r>
            <a:endParaRPr lang="en-US"/>
          </a:p>
          <a:p>
            <a:pPr marL="0" indent="0">
              <a:buNone/>
            </a:pPr>
            <a:endParaRPr lang="en-US" sz="1600">
              <a:cs typeface="Arial"/>
            </a:endParaRPr>
          </a:p>
          <a:p>
            <a:r>
              <a:rPr lang="en-US" sz="2400">
                <a:cs typeface="Arial"/>
              </a:rPr>
              <a:t>Teacher-report </a:t>
            </a:r>
            <a:r>
              <a:rPr lang="en-US" sz="2400" b="1">
                <a:solidFill>
                  <a:srgbClr val="1F497D"/>
                </a:solidFill>
                <a:cs typeface="Arial"/>
              </a:rPr>
              <a:t>Vanderbilt </a:t>
            </a:r>
            <a:r>
              <a:rPr lang="en-US" sz="2400">
                <a:cs typeface="Arial"/>
              </a:rPr>
              <a:t>yields 8 symptoms of inattention and 2 symptoms of hyperactivity/ impulsivity that occur "often" or "very often"</a:t>
            </a:r>
          </a:p>
          <a:p>
            <a:pPr lvl="1">
              <a:buFont typeface="Courier New" panose="020B0604020202020204" pitchFamily="34" charset="0"/>
              <a:buChar char="o"/>
            </a:pPr>
            <a:r>
              <a:rPr lang="en-US" sz="2000">
                <a:cs typeface="Arial"/>
              </a:rPr>
              <a:t>Plus 3 total problem areas. </a:t>
            </a:r>
            <a:endParaRPr lang="en-US" sz="2000"/>
          </a:p>
          <a:p>
            <a:pPr marL="457200" lvl="1" indent="0">
              <a:buNone/>
            </a:pPr>
            <a:endParaRPr lang="en-US" sz="1050">
              <a:cs typeface="Arial"/>
            </a:endParaRPr>
          </a:p>
          <a:p>
            <a:r>
              <a:rPr lang="en-US" sz="2000" i="1">
                <a:cs typeface="Arial"/>
              </a:rPr>
              <a:t>Subscale scores are positive if </a:t>
            </a:r>
            <a:r>
              <a:rPr lang="en-US" sz="2000" i="1">
                <a:highlight>
                  <a:srgbClr val="FFFFFF"/>
                </a:highlight>
                <a:ea typeface="Roboto"/>
                <a:cs typeface="Arial"/>
              </a:rPr>
              <a:t>≥</a:t>
            </a:r>
            <a:r>
              <a:rPr lang="en-US" sz="2000" i="1">
                <a:cs typeface="Arial"/>
              </a:rPr>
              <a:t> 12 (i.e., at least 6 symptoms)</a:t>
            </a:r>
          </a:p>
        </p:txBody>
      </p:sp>
    </p:spTree>
    <p:extLst>
      <p:ext uri="{BB962C8B-B14F-4D97-AF65-F5344CB8AC3E}">
        <p14:creationId xmlns:p14="http://schemas.microsoft.com/office/powerpoint/2010/main" val="2517511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85BD-0887-F408-6813-F4208B6B593D}"/>
              </a:ext>
            </a:extLst>
          </p:cNvPr>
          <p:cNvSpPr>
            <a:spLocks noGrp="1"/>
          </p:cNvSpPr>
          <p:nvPr>
            <p:ph type="title"/>
          </p:nvPr>
        </p:nvSpPr>
        <p:spPr>
          <a:xfrm>
            <a:off x="838200" y="581891"/>
            <a:ext cx="2545080" cy="1108797"/>
          </a:xfrm>
        </p:spPr>
        <p:txBody>
          <a:bodyPr/>
          <a:lstStyle/>
          <a:p>
            <a:r>
              <a:rPr lang="en-US"/>
              <a:t>Norms </a:t>
            </a:r>
            <a:br>
              <a:rPr lang="en-US"/>
            </a:br>
            <a:r>
              <a:rPr lang="en-US" sz="1600"/>
              <a:t>(Evans et al., under review)</a:t>
            </a:r>
            <a:endParaRPr lang="en-US"/>
          </a:p>
        </p:txBody>
      </p:sp>
      <p:pic>
        <p:nvPicPr>
          <p:cNvPr id="11" name="Picture 10">
            <a:extLst>
              <a:ext uri="{FF2B5EF4-FFF2-40B4-BE49-F238E27FC236}">
                <a16:creationId xmlns:a16="http://schemas.microsoft.com/office/drawing/2014/main" id="{CF2C83C6-30CC-92B7-75AC-E6EF6C371D14}"/>
              </a:ext>
            </a:extLst>
          </p:cNvPr>
          <p:cNvPicPr>
            <a:picLocks noChangeAspect="1"/>
          </p:cNvPicPr>
          <p:nvPr/>
        </p:nvPicPr>
        <p:blipFill>
          <a:blip r:embed="rId2"/>
          <a:stretch>
            <a:fillRect/>
          </a:stretch>
        </p:blipFill>
        <p:spPr>
          <a:xfrm>
            <a:off x="3853819" y="375006"/>
            <a:ext cx="7734411" cy="5147353"/>
          </a:xfrm>
          <a:prstGeom prst="rect">
            <a:avLst/>
          </a:prstGeom>
        </p:spPr>
      </p:pic>
      <p:sp>
        <p:nvSpPr>
          <p:cNvPr id="12" name="Star: 5 Points 11">
            <a:extLst>
              <a:ext uri="{FF2B5EF4-FFF2-40B4-BE49-F238E27FC236}">
                <a16:creationId xmlns:a16="http://schemas.microsoft.com/office/drawing/2014/main" id="{1E10AE38-7711-5524-27B2-79E0A79ED498}"/>
              </a:ext>
            </a:extLst>
          </p:cNvPr>
          <p:cNvSpPr/>
          <p:nvPr/>
        </p:nvSpPr>
        <p:spPr>
          <a:xfrm>
            <a:off x="9421398" y="2866490"/>
            <a:ext cx="133564" cy="11301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B4725DA-12D5-A9B6-1FD3-77B0B87DE7E2}"/>
              </a:ext>
            </a:extLst>
          </p:cNvPr>
          <p:cNvSpPr txBox="1"/>
          <p:nvPr/>
        </p:nvSpPr>
        <p:spPr>
          <a:xfrm>
            <a:off x="838200" y="1813387"/>
            <a:ext cx="2866490" cy="646331"/>
          </a:xfrm>
          <a:prstGeom prst="rect">
            <a:avLst/>
          </a:prstGeom>
          <a:noFill/>
        </p:spPr>
        <p:txBody>
          <a:bodyPr wrap="square" rtlCol="0">
            <a:spAutoFit/>
          </a:bodyPr>
          <a:lstStyle/>
          <a:p>
            <a:r>
              <a:rPr lang="en-US"/>
              <a:t>Parent-Reported Inattention: 80</a:t>
            </a:r>
            <a:r>
              <a:rPr lang="en-US" baseline="30000"/>
              <a:t>th</a:t>
            </a:r>
            <a:r>
              <a:rPr lang="en-US"/>
              <a:t> percentile</a:t>
            </a:r>
          </a:p>
        </p:txBody>
      </p:sp>
      <p:pic>
        <p:nvPicPr>
          <p:cNvPr id="14" name="Picture 13">
            <a:extLst>
              <a:ext uri="{FF2B5EF4-FFF2-40B4-BE49-F238E27FC236}">
                <a16:creationId xmlns:a16="http://schemas.microsoft.com/office/drawing/2014/main" id="{98323937-77FE-8D48-AB0E-95A13A86F4FE}"/>
              </a:ext>
            </a:extLst>
          </p:cNvPr>
          <p:cNvPicPr>
            <a:picLocks noChangeAspect="1"/>
          </p:cNvPicPr>
          <p:nvPr/>
        </p:nvPicPr>
        <p:blipFill>
          <a:blip r:embed="rId3"/>
          <a:stretch>
            <a:fillRect/>
          </a:stretch>
        </p:blipFill>
        <p:spPr>
          <a:xfrm>
            <a:off x="3890868" y="30088"/>
            <a:ext cx="7734411" cy="5785819"/>
          </a:xfrm>
          <a:prstGeom prst="rect">
            <a:avLst/>
          </a:prstGeom>
        </p:spPr>
      </p:pic>
      <p:sp>
        <p:nvSpPr>
          <p:cNvPr id="15" name="Star: 5 Points 14">
            <a:extLst>
              <a:ext uri="{FF2B5EF4-FFF2-40B4-BE49-F238E27FC236}">
                <a16:creationId xmlns:a16="http://schemas.microsoft.com/office/drawing/2014/main" id="{993E9ECF-966E-750A-12A9-B4A4FF616005}"/>
              </a:ext>
            </a:extLst>
          </p:cNvPr>
          <p:cNvSpPr/>
          <p:nvPr/>
        </p:nvSpPr>
        <p:spPr>
          <a:xfrm>
            <a:off x="9409766" y="4651965"/>
            <a:ext cx="145196" cy="15423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586BC73-3051-56CE-6FFD-DD7A430CC854}"/>
              </a:ext>
            </a:extLst>
          </p:cNvPr>
          <p:cNvSpPr txBox="1"/>
          <p:nvPr/>
        </p:nvSpPr>
        <p:spPr>
          <a:xfrm>
            <a:off x="838200" y="2512149"/>
            <a:ext cx="2866490" cy="646331"/>
          </a:xfrm>
          <a:prstGeom prst="rect">
            <a:avLst/>
          </a:prstGeom>
          <a:noFill/>
        </p:spPr>
        <p:txBody>
          <a:bodyPr wrap="square" rtlCol="0">
            <a:spAutoFit/>
          </a:bodyPr>
          <a:lstStyle/>
          <a:p>
            <a:r>
              <a:rPr lang="en-US"/>
              <a:t>Parent-Reported Impulsivity/ Hyperactivity: 50</a:t>
            </a:r>
            <a:r>
              <a:rPr lang="en-US" baseline="30000"/>
              <a:t>th</a:t>
            </a:r>
            <a:r>
              <a:rPr lang="en-US"/>
              <a:t> percentile</a:t>
            </a:r>
          </a:p>
        </p:txBody>
      </p:sp>
      <p:pic>
        <p:nvPicPr>
          <p:cNvPr id="17" name="Picture 16">
            <a:extLst>
              <a:ext uri="{FF2B5EF4-FFF2-40B4-BE49-F238E27FC236}">
                <a16:creationId xmlns:a16="http://schemas.microsoft.com/office/drawing/2014/main" id="{D12DF5AE-500E-6C64-672A-9B9460492490}"/>
              </a:ext>
            </a:extLst>
          </p:cNvPr>
          <p:cNvPicPr>
            <a:picLocks noChangeAspect="1"/>
          </p:cNvPicPr>
          <p:nvPr/>
        </p:nvPicPr>
        <p:blipFill>
          <a:blip r:embed="rId4"/>
          <a:stretch>
            <a:fillRect/>
          </a:stretch>
        </p:blipFill>
        <p:spPr>
          <a:xfrm>
            <a:off x="3704690" y="30088"/>
            <a:ext cx="8106769" cy="5398264"/>
          </a:xfrm>
          <a:prstGeom prst="rect">
            <a:avLst/>
          </a:prstGeom>
        </p:spPr>
      </p:pic>
      <p:sp>
        <p:nvSpPr>
          <p:cNvPr id="18" name="TextBox 17">
            <a:extLst>
              <a:ext uri="{FF2B5EF4-FFF2-40B4-BE49-F238E27FC236}">
                <a16:creationId xmlns:a16="http://schemas.microsoft.com/office/drawing/2014/main" id="{E0DF3028-9F1A-542B-047B-3198BE06B78B}"/>
              </a:ext>
            </a:extLst>
          </p:cNvPr>
          <p:cNvSpPr txBox="1"/>
          <p:nvPr/>
        </p:nvSpPr>
        <p:spPr>
          <a:xfrm>
            <a:off x="838200" y="3210911"/>
            <a:ext cx="2866490" cy="646331"/>
          </a:xfrm>
          <a:prstGeom prst="rect">
            <a:avLst/>
          </a:prstGeom>
          <a:noFill/>
        </p:spPr>
        <p:txBody>
          <a:bodyPr wrap="square" rtlCol="0">
            <a:spAutoFit/>
          </a:bodyPr>
          <a:lstStyle/>
          <a:p>
            <a:r>
              <a:rPr lang="en-US"/>
              <a:t>Self-Reported Inattention: 80</a:t>
            </a:r>
            <a:r>
              <a:rPr lang="en-US" baseline="30000"/>
              <a:t>th</a:t>
            </a:r>
            <a:r>
              <a:rPr lang="en-US"/>
              <a:t> percentile</a:t>
            </a:r>
          </a:p>
        </p:txBody>
      </p:sp>
      <p:sp>
        <p:nvSpPr>
          <p:cNvPr id="19" name="TextBox 18">
            <a:extLst>
              <a:ext uri="{FF2B5EF4-FFF2-40B4-BE49-F238E27FC236}">
                <a16:creationId xmlns:a16="http://schemas.microsoft.com/office/drawing/2014/main" id="{0C793A2E-DF31-FC28-1071-C96200387C83}"/>
              </a:ext>
            </a:extLst>
          </p:cNvPr>
          <p:cNvSpPr txBox="1"/>
          <p:nvPr/>
        </p:nvSpPr>
        <p:spPr>
          <a:xfrm>
            <a:off x="838200" y="3909673"/>
            <a:ext cx="2866490" cy="646331"/>
          </a:xfrm>
          <a:prstGeom prst="rect">
            <a:avLst/>
          </a:prstGeom>
          <a:noFill/>
        </p:spPr>
        <p:txBody>
          <a:bodyPr wrap="square" rtlCol="0">
            <a:spAutoFit/>
          </a:bodyPr>
          <a:lstStyle/>
          <a:p>
            <a:r>
              <a:rPr lang="en-US"/>
              <a:t>Self-Reported Impulsivity/ Hyperactivity: 55</a:t>
            </a:r>
            <a:r>
              <a:rPr lang="en-US" baseline="30000"/>
              <a:t>th</a:t>
            </a:r>
            <a:r>
              <a:rPr lang="en-US"/>
              <a:t> percentile</a:t>
            </a:r>
          </a:p>
        </p:txBody>
      </p:sp>
      <p:sp>
        <p:nvSpPr>
          <p:cNvPr id="20" name="Star: 5 Points 19">
            <a:extLst>
              <a:ext uri="{FF2B5EF4-FFF2-40B4-BE49-F238E27FC236}">
                <a16:creationId xmlns:a16="http://schemas.microsoft.com/office/drawing/2014/main" id="{31681C86-CF83-001C-9D71-AE585311F0C5}"/>
              </a:ext>
            </a:extLst>
          </p:cNvPr>
          <p:cNvSpPr/>
          <p:nvPr/>
        </p:nvSpPr>
        <p:spPr>
          <a:xfrm>
            <a:off x="7758074" y="2729220"/>
            <a:ext cx="133564" cy="13727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3E60B7C8-B801-BBA3-30E3-ED7D81270351}"/>
              </a:ext>
            </a:extLst>
          </p:cNvPr>
          <p:cNvPicPr>
            <a:picLocks noChangeAspect="1"/>
          </p:cNvPicPr>
          <p:nvPr/>
        </p:nvPicPr>
        <p:blipFill>
          <a:blip r:embed="rId5"/>
          <a:stretch>
            <a:fillRect/>
          </a:stretch>
        </p:blipFill>
        <p:spPr>
          <a:xfrm>
            <a:off x="3866781" y="155404"/>
            <a:ext cx="7870575" cy="5247050"/>
          </a:xfrm>
          <a:prstGeom prst="rect">
            <a:avLst/>
          </a:prstGeom>
        </p:spPr>
      </p:pic>
      <p:sp>
        <p:nvSpPr>
          <p:cNvPr id="23" name="Star: 5 Points 22">
            <a:extLst>
              <a:ext uri="{FF2B5EF4-FFF2-40B4-BE49-F238E27FC236}">
                <a16:creationId xmlns:a16="http://schemas.microsoft.com/office/drawing/2014/main" id="{787EA953-10A9-A55F-8F51-D2F373A508A7}"/>
              </a:ext>
            </a:extLst>
          </p:cNvPr>
          <p:cNvSpPr/>
          <p:nvPr/>
        </p:nvSpPr>
        <p:spPr>
          <a:xfrm>
            <a:off x="7788045" y="4014759"/>
            <a:ext cx="133564" cy="13727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114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1"/>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7"/>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5" grpId="0" animBg="1"/>
      <p:bldP spid="16" grpId="0"/>
      <p:bldP spid="18" grpId="0"/>
      <p:bldP spid="19" grpId="0"/>
      <p:bldP spid="20"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28D8CEB-72B0-FF7A-00FE-477E9FA6775F}"/>
              </a:ext>
            </a:extLst>
          </p:cNvPr>
          <p:cNvSpPr>
            <a:spLocks noGrp="1"/>
          </p:cNvSpPr>
          <p:nvPr>
            <p:ph type="title"/>
          </p:nvPr>
        </p:nvSpPr>
        <p:spPr>
          <a:xfrm>
            <a:off x="838200" y="581891"/>
            <a:ext cx="5643880" cy="1108797"/>
          </a:xfrm>
        </p:spPr>
        <p:txBody>
          <a:bodyPr>
            <a:normAutofit fontScale="90000"/>
          </a:bodyPr>
          <a:lstStyle/>
          <a:p>
            <a:r>
              <a:rPr lang="en-US"/>
              <a:t>Integrating Perspectives </a:t>
            </a:r>
            <a:r>
              <a:rPr lang="en-US" sz="1600"/>
              <a:t>(Evans et al., under review)</a:t>
            </a:r>
            <a:endParaRPr lang="en-US"/>
          </a:p>
        </p:txBody>
      </p:sp>
      <p:sp>
        <p:nvSpPr>
          <p:cNvPr id="8" name="Content Placeholder 7">
            <a:extLst>
              <a:ext uri="{FF2B5EF4-FFF2-40B4-BE49-F238E27FC236}">
                <a16:creationId xmlns:a16="http://schemas.microsoft.com/office/drawing/2014/main" id="{E63818A6-B5AA-9A4B-DEA2-391E1ECF8B18}"/>
              </a:ext>
            </a:extLst>
          </p:cNvPr>
          <p:cNvSpPr>
            <a:spLocks noGrp="1"/>
          </p:cNvSpPr>
          <p:nvPr>
            <p:ph idx="1"/>
          </p:nvPr>
        </p:nvSpPr>
        <p:spPr>
          <a:xfrm>
            <a:off x="838200" y="1598613"/>
            <a:ext cx="6501063" cy="1926640"/>
          </a:xfrm>
        </p:spPr>
        <p:txBody>
          <a:bodyPr>
            <a:normAutofit/>
          </a:bodyPr>
          <a:lstStyle/>
          <a:p>
            <a:r>
              <a:rPr lang="en-US"/>
              <a:t>Assess, then inquire…</a:t>
            </a:r>
          </a:p>
          <a:p>
            <a:pPr lvl="1"/>
            <a:r>
              <a:rPr lang="en-US"/>
              <a:t>As ADHD symptoms increase, parent-child agreement on ADHD symptoms decrease</a:t>
            </a:r>
          </a:p>
          <a:p>
            <a:pPr lvl="1"/>
            <a:r>
              <a:rPr lang="en-US"/>
              <a:t>As depression symptoms increase, parent-child agreement on ADHD symptoms decrease</a:t>
            </a:r>
          </a:p>
        </p:txBody>
      </p:sp>
      <p:pic>
        <p:nvPicPr>
          <p:cNvPr id="9" name="Picture 8" descr="Mapping Your Path to Success: Stakeholder Analysis in University  Improvement Projects | Continuous Improvement and Data Analytics">
            <a:extLst>
              <a:ext uri="{FF2B5EF4-FFF2-40B4-BE49-F238E27FC236}">
                <a16:creationId xmlns:a16="http://schemas.microsoft.com/office/drawing/2014/main" id="{C76FD5BA-7802-A49E-258B-78BC96B6B70E}"/>
              </a:ext>
            </a:extLst>
          </p:cNvPr>
          <p:cNvPicPr>
            <a:picLocks noChangeAspect="1"/>
          </p:cNvPicPr>
          <p:nvPr/>
        </p:nvPicPr>
        <p:blipFill>
          <a:blip r:embed="rId3"/>
          <a:srcRect t="18827"/>
          <a:stretch>
            <a:fillRect/>
          </a:stretch>
        </p:blipFill>
        <p:spPr>
          <a:xfrm>
            <a:off x="7542087" y="499562"/>
            <a:ext cx="3608889" cy="2929438"/>
          </a:xfrm>
          <a:prstGeom prst="rect">
            <a:avLst/>
          </a:prstGeom>
        </p:spPr>
      </p:pic>
      <p:sp>
        <p:nvSpPr>
          <p:cNvPr id="11" name="TextBox 10">
            <a:extLst>
              <a:ext uri="{FF2B5EF4-FFF2-40B4-BE49-F238E27FC236}">
                <a16:creationId xmlns:a16="http://schemas.microsoft.com/office/drawing/2014/main" id="{54F0A457-58F6-1EC5-3D32-90901B43F57A}"/>
              </a:ext>
            </a:extLst>
          </p:cNvPr>
          <p:cNvSpPr txBox="1"/>
          <p:nvPr/>
        </p:nvSpPr>
        <p:spPr>
          <a:xfrm>
            <a:off x="838200" y="3525252"/>
            <a:ext cx="10230853" cy="2062103"/>
          </a:xfrm>
          <a:prstGeom prst="rect">
            <a:avLst/>
          </a:prstGeom>
          <a:noFill/>
        </p:spPr>
        <p:txBody>
          <a:bodyPr wrap="square">
            <a:spAutoFit/>
          </a:bodyPr>
          <a:lstStyle/>
          <a:p>
            <a:pPr marL="457200" indent="-457200">
              <a:buFont typeface="Arial" panose="020B0604020202020204" pitchFamily="34" charset="0"/>
              <a:buChar char="•"/>
            </a:pPr>
            <a:r>
              <a:rPr lang="en-US" sz="2800"/>
              <a:t>Vanderbilt performance scale shows limited sensitivity and evidence of label misattribution </a:t>
            </a:r>
          </a:p>
          <a:p>
            <a:pPr marL="914400" lvl="1" indent="-457200">
              <a:buFont typeface="Arial" panose="020B0604020202020204" pitchFamily="34" charset="0"/>
              <a:buChar char="•"/>
            </a:pPr>
            <a:r>
              <a:rPr lang="en-US" sz="2400"/>
              <a:t>Columbia Impairment Scale, Impairment Rating Scale or Weiss Functional Impairment Rating Scale (WFIRS) for ADHD-related impairment</a:t>
            </a:r>
          </a:p>
          <a:p>
            <a:pPr marL="914400" lvl="1" indent="-457200">
              <a:buFont typeface="Arial" panose="020B0604020202020204" pitchFamily="34" charset="0"/>
              <a:buChar char="•"/>
            </a:pPr>
            <a:r>
              <a:rPr lang="en-US" sz="2400"/>
              <a:t>Nationwide Quality of Life Scale (NQLS) for overall quality of life</a:t>
            </a:r>
          </a:p>
        </p:txBody>
      </p:sp>
    </p:spTree>
    <p:extLst>
      <p:ext uri="{BB962C8B-B14F-4D97-AF65-F5344CB8AC3E}">
        <p14:creationId xmlns:p14="http://schemas.microsoft.com/office/powerpoint/2010/main" val="415453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40468-DC9A-F5BB-5209-AC06FD7E4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8957B-1FE5-A50F-1E27-2869D902AC29}"/>
              </a:ext>
            </a:extLst>
          </p:cNvPr>
          <p:cNvSpPr>
            <a:spLocks noGrp="1"/>
          </p:cNvSpPr>
          <p:nvPr>
            <p:ph type="title"/>
          </p:nvPr>
        </p:nvSpPr>
        <p:spPr/>
        <p:txBody>
          <a:bodyPr/>
          <a:lstStyle/>
          <a:p>
            <a:r>
              <a:rPr lang="en-US"/>
              <a:t>Implementation of MBC</a:t>
            </a:r>
          </a:p>
        </p:txBody>
      </p:sp>
      <p:graphicFrame>
        <p:nvGraphicFramePr>
          <p:cNvPr id="5" name="Content Placeholder 4" descr="Basic Timeline">
            <a:extLst>
              <a:ext uri="{FF2B5EF4-FFF2-40B4-BE49-F238E27FC236}">
                <a16:creationId xmlns:a16="http://schemas.microsoft.com/office/drawing/2014/main" id="{E2EE0D47-7C0E-C67F-8EE3-0E7D438BF0EC}"/>
              </a:ext>
            </a:extLst>
          </p:cNvPr>
          <p:cNvGraphicFramePr>
            <a:graphicFrameLocks/>
          </p:cNvGraphicFramePr>
          <p:nvPr>
            <p:extLst>
              <p:ext uri="{D42A27DB-BD31-4B8C-83A1-F6EECF244321}">
                <p14:modId xmlns:p14="http://schemas.microsoft.com/office/powerpoint/2010/main" val="112990458"/>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838200" y="1614714"/>
          <a:ext cx="10468678" cy="3628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5578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DAC21-18CB-149D-18B8-7DA72631D23D}"/>
              </a:ext>
            </a:extLst>
          </p:cNvPr>
          <p:cNvSpPr>
            <a:spLocks noGrp="1"/>
          </p:cNvSpPr>
          <p:nvPr>
            <p:ph type="title"/>
          </p:nvPr>
        </p:nvSpPr>
        <p:spPr>
          <a:xfrm>
            <a:off x="838200" y="444731"/>
            <a:ext cx="10515600" cy="1108797"/>
          </a:xfrm>
        </p:spPr>
        <p:txBody>
          <a:bodyPr>
            <a:normAutofit/>
          </a:bodyPr>
          <a:lstStyle/>
          <a:p>
            <a:r>
              <a:rPr lang="en-US"/>
              <a:t>Treatment Planning </a:t>
            </a:r>
          </a:p>
        </p:txBody>
      </p:sp>
      <p:sp>
        <p:nvSpPr>
          <p:cNvPr id="4" name="Content Placeholder 2">
            <a:extLst>
              <a:ext uri="{FF2B5EF4-FFF2-40B4-BE49-F238E27FC236}">
                <a16:creationId xmlns:a16="http://schemas.microsoft.com/office/drawing/2014/main" id="{500912F3-2248-C144-C0B6-F765224B2BBA}"/>
              </a:ext>
            </a:extLst>
          </p:cNvPr>
          <p:cNvSpPr>
            <a:spLocks noGrp="1"/>
          </p:cNvSpPr>
          <p:nvPr>
            <p:ph idx="1"/>
          </p:nvPr>
        </p:nvSpPr>
        <p:spPr>
          <a:xfrm>
            <a:off x="838200" y="1825625"/>
            <a:ext cx="10515600" cy="3683924"/>
          </a:xfrm>
        </p:spPr>
        <p:txBody>
          <a:bodyPr vert="horz" lIns="91440" tIns="45720" rIns="91440" bIns="45720" rtlCol="0" anchor="t">
            <a:normAutofit/>
          </a:bodyPr>
          <a:lstStyle/>
          <a:p>
            <a:r>
              <a:rPr lang="en-US">
                <a:cs typeface="Arial"/>
              </a:rPr>
              <a:t>Data can be used to inform:</a:t>
            </a:r>
          </a:p>
          <a:p>
            <a:pPr lvl="1">
              <a:buFont typeface="Courier New" panose="020B0604020202020204" pitchFamily="34" charset="0"/>
              <a:buChar char="o"/>
            </a:pPr>
            <a:r>
              <a:rPr lang="en-US">
                <a:cs typeface="Arial"/>
              </a:rPr>
              <a:t>Treatment modality</a:t>
            </a:r>
          </a:p>
          <a:p>
            <a:pPr lvl="2">
              <a:buFont typeface="Wingdings" panose="020B0604020202020204" pitchFamily="34" charset="0"/>
              <a:buChar char="§"/>
            </a:pPr>
            <a:r>
              <a:rPr lang="en-US" sz="1800" i="1">
                <a:cs typeface="Arial"/>
              </a:rPr>
              <a:t>Parent-behavior management training (PBMT)</a:t>
            </a:r>
          </a:p>
          <a:p>
            <a:pPr lvl="1">
              <a:buFont typeface="Courier New" panose="020B0604020202020204" pitchFamily="34" charset="0"/>
              <a:buChar char="o"/>
            </a:pPr>
            <a:r>
              <a:rPr lang="en-US">
                <a:cs typeface="Arial"/>
              </a:rPr>
              <a:t>Goals of treatment</a:t>
            </a:r>
          </a:p>
          <a:p>
            <a:pPr lvl="2">
              <a:buFont typeface="Wingdings" panose="020B0604020202020204" pitchFamily="34" charset="0"/>
              <a:buChar char="§"/>
            </a:pPr>
            <a:r>
              <a:rPr lang="en-US" sz="1800" i="1">
                <a:cs typeface="Arial"/>
              </a:rPr>
              <a:t>Patient will </a:t>
            </a:r>
            <a:r>
              <a:rPr lang="en-US" sz="1800" i="1">
                <a:ea typeface="+mn-lt"/>
                <a:cs typeface="Arial"/>
              </a:rPr>
              <a:t>improve compliance with behavioral</a:t>
            </a:r>
          </a:p>
          <a:p>
            <a:pPr marL="914400" lvl="2" indent="0">
              <a:buNone/>
            </a:pPr>
            <a:r>
              <a:rPr lang="en-US" sz="1800" i="1">
                <a:ea typeface="+mn-lt"/>
                <a:cs typeface="Arial"/>
              </a:rPr>
              <a:t>      expectations at home and school </a:t>
            </a:r>
            <a:endParaRPr lang="en-US" sz="1800" i="1">
              <a:cs typeface="Arial"/>
            </a:endParaRPr>
          </a:p>
          <a:p>
            <a:pPr lvl="1">
              <a:buFont typeface="Courier New" panose="020B0604020202020204" pitchFamily="34" charset="0"/>
              <a:buChar char="o"/>
            </a:pPr>
            <a:r>
              <a:rPr lang="en-US">
                <a:cs typeface="Arial"/>
              </a:rPr>
              <a:t>Treatment modifications</a:t>
            </a:r>
          </a:p>
          <a:p>
            <a:pPr lvl="2">
              <a:buFont typeface="Wingdings" panose="020B0604020202020204" pitchFamily="34" charset="0"/>
              <a:buChar char="§"/>
            </a:pPr>
            <a:r>
              <a:rPr lang="en-US" sz="1800" i="1">
                <a:cs typeface="Arial"/>
              </a:rPr>
              <a:t>Medication adjustments</a:t>
            </a:r>
          </a:p>
        </p:txBody>
      </p:sp>
      <p:pic>
        <p:nvPicPr>
          <p:cNvPr id="6" name="Picture 5" descr="A child sitting at a table with pumpkins&#10;&#10;AI-generated content may be incorrect.">
            <a:extLst>
              <a:ext uri="{FF2B5EF4-FFF2-40B4-BE49-F238E27FC236}">
                <a16:creationId xmlns:a16="http://schemas.microsoft.com/office/drawing/2014/main" id="{6B955C07-987D-9E3D-31FC-BF85A2878A4C}"/>
              </a:ext>
            </a:extLst>
          </p:cNvPr>
          <p:cNvPicPr>
            <a:picLocks noChangeAspect="1"/>
          </p:cNvPicPr>
          <p:nvPr/>
        </p:nvPicPr>
        <p:blipFill>
          <a:blip r:embed="rId2" cstate="email">
            <a:extLst>
              <a:ext uri="{28A0092B-C50C-407E-A947-70E740481C1C}">
                <a14:useLocalDpi xmlns:a14="http://schemas.microsoft.com/office/drawing/2010/main"/>
              </a:ext>
            </a:extLst>
          </a:blip>
          <a:srcRect t="11918" b="19274"/>
          <a:stretch>
            <a:fillRect/>
          </a:stretch>
        </p:blipFill>
        <p:spPr>
          <a:xfrm>
            <a:off x="6514270" y="1749871"/>
            <a:ext cx="4337304" cy="3357494"/>
          </a:xfrm>
          <a:prstGeom prst="rect">
            <a:avLst/>
          </a:prstGeom>
        </p:spPr>
      </p:pic>
    </p:spTree>
    <p:extLst>
      <p:ext uri="{BB962C8B-B14F-4D97-AF65-F5344CB8AC3E}">
        <p14:creationId xmlns:p14="http://schemas.microsoft.com/office/powerpoint/2010/main" val="271672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99" cy="6858000"/>
          </a:xfrm>
          <a:prstGeom prst="rect">
            <a:avLst/>
          </a:prstGeom>
        </p:spPr>
      </p:pic>
      <p:sp>
        <p:nvSpPr>
          <p:cNvPr id="3" name="Text 0"/>
          <p:cNvSpPr/>
          <p:nvPr/>
        </p:nvSpPr>
        <p:spPr>
          <a:xfrm>
            <a:off x="812782" y="40634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a:solidFill>
                  <a:srgbClr val="1A1A1A"/>
                </a:solidFill>
                <a:latin typeface="Roboto" pitchFamily="34" charset="0"/>
                <a:ea typeface="Roboto" pitchFamily="34" charset="-122"/>
                <a:cs typeface="Roboto" pitchFamily="34" charset="-120"/>
              </a:rPr>
              <a:t>Does MBC Change Medication Outcomes?</a:t>
            </a:r>
            <a:endParaRPr lang="en-US" sz="3200"/>
          </a:p>
        </p:txBody>
      </p:sp>
      <p:sp>
        <p:nvSpPr>
          <p:cNvPr id="4" name="Text 1"/>
          <p:cNvSpPr/>
          <p:nvPr/>
        </p:nvSpPr>
        <p:spPr>
          <a:xfrm>
            <a:off x="812782" y="891435"/>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A1A1A"/>
                </a:solidFill>
                <a:latin typeface="Roboto" pitchFamily="34" charset="0"/>
                <a:ea typeface="Roboto" pitchFamily="34" charset="-122"/>
                <a:cs typeface="Roboto" pitchFamily="34" charset="-120"/>
              </a:rPr>
              <a:t>(Guo et al., 2015; </a:t>
            </a:r>
            <a:r>
              <a:rPr lang="en-US" sz="1200" b="1" dirty="0">
                <a:solidFill>
                  <a:srgbClr val="1A1A1A"/>
                </a:solidFill>
                <a:latin typeface="Roboto" pitchFamily="34" charset="0"/>
                <a:ea typeface="Roboto" pitchFamily="34" charset="-122"/>
                <a:cs typeface="Roboto" pitchFamily="34" charset="-120"/>
              </a:rPr>
              <a:t>Epstein </a:t>
            </a:r>
            <a:r>
              <a:rPr lang="en-US" sz="1200" b="1">
                <a:solidFill>
                  <a:srgbClr val="1A1A1A"/>
                </a:solidFill>
                <a:latin typeface="Roboto" pitchFamily="34" charset="0"/>
                <a:ea typeface="Roboto" pitchFamily="34" charset="-122"/>
                <a:cs typeface="Roboto" pitchFamily="34" charset="-120"/>
              </a:rPr>
              <a:t>et al., </a:t>
            </a:r>
            <a:r>
              <a:rPr lang="en-US" sz="1200" b="1" dirty="0">
                <a:solidFill>
                  <a:srgbClr val="1A1A1A"/>
                </a:solidFill>
                <a:latin typeface="Roboto" pitchFamily="34" charset="0"/>
                <a:ea typeface="Roboto" pitchFamily="34" charset="-122"/>
                <a:cs typeface="Roboto" pitchFamily="34" charset="-120"/>
              </a:rPr>
              <a:t>2016</a:t>
            </a:r>
            <a:r>
              <a:rPr lang="en-US" sz="1200" b="1">
                <a:solidFill>
                  <a:srgbClr val="1A1A1A"/>
                </a:solidFill>
                <a:latin typeface="Roboto" pitchFamily="34" charset="0"/>
                <a:ea typeface="Roboto" pitchFamily="34" charset="-122"/>
                <a:cs typeface="Roboto" pitchFamily="34" charset="-120"/>
              </a:rPr>
              <a:t>; </a:t>
            </a:r>
            <a:r>
              <a:rPr lang="en-US" sz="1200" b="1" dirty="0">
                <a:solidFill>
                  <a:srgbClr val="1A1A1A"/>
                </a:solidFill>
                <a:latin typeface="Roboto" pitchFamily="34" charset="0"/>
                <a:ea typeface="Roboto" pitchFamily="34" charset="-122"/>
                <a:cs typeface="Roboto" pitchFamily="34" charset="-120"/>
              </a:rPr>
              <a:t>Zhu </a:t>
            </a:r>
            <a:r>
              <a:rPr lang="en-US" sz="1200" b="1">
                <a:solidFill>
                  <a:srgbClr val="1A1A1A"/>
                </a:solidFill>
                <a:latin typeface="Roboto" pitchFamily="34" charset="0"/>
                <a:ea typeface="Roboto" pitchFamily="34" charset="-122"/>
                <a:cs typeface="Roboto" pitchFamily="34" charset="-120"/>
              </a:rPr>
              <a:t>et al., </a:t>
            </a:r>
            <a:r>
              <a:rPr lang="en-US" sz="1200" b="1" dirty="0">
                <a:solidFill>
                  <a:srgbClr val="1A1A1A"/>
                </a:solidFill>
                <a:latin typeface="Roboto" pitchFamily="34" charset="0"/>
                <a:ea typeface="Roboto" pitchFamily="34" charset="-122"/>
                <a:cs typeface="Roboto" pitchFamily="34" charset="-120"/>
              </a:rPr>
              <a:t>2021</a:t>
            </a:r>
            <a:r>
              <a:rPr lang="en-US" sz="1200" b="1">
                <a:solidFill>
                  <a:srgbClr val="1A1A1A"/>
                </a:solidFill>
                <a:latin typeface="Roboto" pitchFamily="34" charset="0"/>
                <a:ea typeface="Roboto" pitchFamily="34" charset="-122"/>
                <a:cs typeface="Roboto" pitchFamily="34" charset="-120"/>
              </a:rPr>
              <a:t>)</a:t>
            </a:r>
            <a:endParaRPr lang="en-US" sz="1200"/>
          </a:p>
        </p:txBody>
      </p:sp>
      <p:sp>
        <p:nvSpPr>
          <p:cNvPr id="5" name="Shape 2"/>
          <p:cNvSpPr/>
          <p:nvPr/>
        </p:nvSpPr>
        <p:spPr>
          <a:xfrm>
            <a:off x="812782" y="1270000"/>
            <a:ext cx="5156128" cy="2921000"/>
          </a:xfrm>
          <a:prstGeom prst="roundRect">
            <a:avLst>
              <a:gd name="adj" fmla="val 3043"/>
            </a:avLst>
          </a:prstGeom>
          <a:solidFill>
            <a:srgbClr val="F3F7FC"/>
          </a:solidFill>
          <a:ln/>
          <a:effectLst>
            <a:outerShdw blurRad="139700" dist="50800" dir="5400000" algn="bl" rotWithShape="0">
              <a:srgbClr val="0E3F75">
                <a:alpha val="14000"/>
              </a:srgbClr>
            </a:outerShdw>
          </a:effectLst>
        </p:spPr>
        <p:txBody>
          <a:bodyPr/>
          <a:lstStyle/>
          <a:p>
            <a:endParaRPr lang="en-US"/>
          </a:p>
        </p:txBody>
      </p:sp>
      <p:sp>
        <p:nvSpPr>
          <p:cNvPr id="6" name="Shape 3"/>
          <p:cNvSpPr/>
          <p:nvPr/>
        </p:nvSpPr>
        <p:spPr>
          <a:xfrm>
            <a:off x="812782" y="1270000"/>
            <a:ext cx="5156128" cy="2921000"/>
          </a:xfrm>
          <a:custGeom>
            <a:avLst/>
            <a:gdLst/>
            <a:ahLst/>
            <a:cxnLst/>
            <a:rect l="l" t="t" r="r" b="b"/>
            <a:pathLst>
              <a:path w="5156128" h="2921000">
                <a:moveTo>
                  <a:pt x="0" y="88900"/>
                </a:moveTo>
                <a:lnTo>
                  <a:pt x="0" y="88900"/>
                </a:lnTo>
                <a:arcTo wR="88900" hR="88900" stAng="10800000" swAng="5400000"/>
                <a:lnTo>
                  <a:pt x="5067228" y="0"/>
                </a:lnTo>
                <a:arcTo wR="88900" hR="88900" stAng="16200000" swAng="5400000"/>
                <a:lnTo>
                  <a:pt x="5156128" y="88900"/>
                </a:lnTo>
                <a:arcTo wR="88900" hR="38100" stAng="0" swAng="-5400000"/>
                <a:lnTo>
                  <a:pt x="88900" y="50800"/>
                </a:lnTo>
                <a:arcTo wR="88900" hR="38100" stAng="16200000" swAng="-5400000"/>
                <a:close/>
              </a:path>
            </a:pathLst>
          </a:custGeom>
          <a:solidFill>
            <a:srgbClr val="2E7CC0"/>
          </a:solidFill>
          <a:ln/>
        </p:spPr>
        <p:txBody>
          <a:bodyPr/>
          <a:lstStyle/>
          <a:p>
            <a:endParaRPr lang="en-US"/>
          </a:p>
        </p:txBody>
      </p:sp>
      <p:pic>
        <p:nvPicPr>
          <p:cNvPr id="7" name="Image 1" descr="Chart"/>
          <p:cNvPicPr>
            <a:picLocks noChangeAspect="1"/>
          </p:cNvPicPr>
          <p:nvPr/>
        </p:nvPicPr>
        <p:blipFill>
          <a:blip r:embed="rId4"/>
          <a:srcRect/>
          <a:stretch/>
        </p:blipFill>
        <p:spPr>
          <a:xfrm>
            <a:off x="1015910" y="1499105"/>
            <a:ext cx="203128" cy="203128"/>
          </a:xfrm>
          <a:prstGeom prst="rect">
            <a:avLst/>
          </a:prstGeom>
        </p:spPr>
      </p:pic>
      <p:sp>
        <p:nvSpPr>
          <p:cNvPr id="8" name="Text 4"/>
          <p:cNvSpPr/>
          <p:nvPr/>
        </p:nvSpPr>
        <p:spPr>
          <a:xfrm>
            <a:off x="1295165" y="1493964"/>
            <a:ext cx="3568289"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E7CC0"/>
                </a:solidFill>
                <a:latin typeface="Roboto" pitchFamily="34" charset="0"/>
                <a:ea typeface="Roboto" pitchFamily="34" charset="-122"/>
                <a:cs typeface="Roboto" pitchFamily="34" charset="-120"/>
              </a:rPr>
              <a:t>ADULT DEPRESSION RCT · N = 120 · GUO 2015</a:t>
            </a:r>
            <a:endParaRPr lang="en-US" sz="1200" dirty="0"/>
          </a:p>
        </p:txBody>
      </p:sp>
      <p:sp>
        <p:nvSpPr>
          <p:cNvPr id="9" name="Text 5"/>
          <p:cNvSpPr/>
          <p:nvPr/>
        </p:nvSpPr>
        <p:spPr>
          <a:xfrm>
            <a:off x="1015910" y="1808938"/>
            <a:ext cx="4892368"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A1A1A"/>
                </a:solidFill>
                <a:latin typeface="Roboto" pitchFamily="34" charset="0"/>
                <a:ea typeface="Roboto" pitchFamily="34" charset="-122"/>
                <a:cs typeface="Roboto" pitchFamily="34" charset="-120"/>
              </a:rPr>
              <a:t>Same drugs in both arms. The only difference: scores guided the dosing.</a:t>
            </a:r>
            <a:endParaRPr lang="en-US" sz="1500" dirty="0"/>
          </a:p>
        </p:txBody>
      </p:sp>
      <p:sp>
        <p:nvSpPr>
          <p:cNvPr id="10" name="Text 6"/>
          <p:cNvSpPr/>
          <p:nvPr/>
        </p:nvSpPr>
        <p:spPr>
          <a:xfrm>
            <a:off x="1015910" y="2448989"/>
            <a:ext cx="1130300"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MBC</a:t>
            </a:r>
            <a:endParaRPr lang="en-US" sz="1300" dirty="0"/>
          </a:p>
        </p:txBody>
      </p:sp>
      <p:sp>
        <p:nvSpPr>
          <p:cNvPr id="11" name="Shape 7"/>
          <p:cNvSpPr/>
          <p:nvPr/>
        </p:nvSpPr>
        <p:spPr>
          <a:xfrm>
            <a:off x="2222410" y="2386752"/>
            <a:ext cx="2622532" cy="355564"/>
          </a:xfrm>
          <a:prstGeom prst="roundRect">
            <a:avLst>
              <a:gd name="adj" fmla="val 14287"/>
            </a:avLst>
          </a:prstGeom>
          <a:solidFill>
            <a:srgbClr val="2E7CC0"/>
          </a:solidFill>
          <a:ln/>
        </p:spPr>
        <p:txBody>
          <a:bodyPr/>
          <a:lstStyle/>
          <a:p>
            <a:endParaRPr lang="en-US"/>
          </a:p>
        </p:txBody>
      </p:sp>
      <p:sp>
        <p:nvSpPr>
          <p:cNvPr id="12" name="Text 8"/>
          <p:cNvSpPr/>
          <p:nvPr/>
        </p:nvSpPr>
        <p:spPr>
          <a:xfrm>
            <a:off x="4971941" y="2422290"/>
            <a:ext cx="609762"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A1A1A"/>
                </a:solidFill>
                <a:latin typeface="Roboto" pitchFamily="34" charset="0"/>
                <a:ea typeface="Roboto" pitchFamily="34" charset="-122"/>
                <a:cs typeface="Roboto" pitchFamily="34" charset="-120"/>
              </a:rPr>
              <a:t>73.8%</a:t>
            </a:r>
            <a:endParaRPr lang="en-US" sz="1600" dirty="0"/>
          </a:p>
        </p:txBody>
      </p:sp>
      <p:sp>
        <p:nvSpPr>
          <p:cNvPr id="13" name="Text 9"/>
          <p:cNvSpPr/>
          <p:nvPr/>
        </p:nvSpPr>
        <p:spPr>
          <a:xfrm>
            <a:off x="1015910" y="2893399"/>
            <a:ext cx="1130300"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Usual care</a:t>
            </a:r>
            <a:endParaRPr lang="en-US" sz="1300" dirty="0"/>
          </a:p>
        </p:txBody>
      </p:sp>
      <p:sp>
        <p:nvSpPr>
          <p:cNvPr id="14" name="Shape 10"/>
          <p:cNvSpPr/>
          <p:nvPr/>
        </p:nvSpPr>
        <p:spPr>
          <a:xfrm>
            <a:off x="2222410" y="2831162"/>
            <a:ext cx="1022314" cy="355564"/>
          </a:xfrm>
          <a:prstGeom prst="roundRect">
            <a:avLst>
              <a:gd name="adj" fmla="val 14287"/>
            </a:avLst>
          </a:prstGeom>
          <a:solidFill>
            <a:srgbClr val="A9C3DE"/>
          </a:solidFill>
          <a:ln/>
        </p:spPr>
        <p:txBody>
          <a:bodyPr/>
          <a:lstStyle/>
          <a:p>
            <a:endParaRPr lang="en-US"/>
          </a:p>
        </p:txBody>
      </p:sp>
      <p:sp>
        <p:nvSpPr>
          <p:cNvPr id="15" name="Text 11"/>
          <p:cNvSpPr/>
          <p:nvPr/>
        </p:nvSpPr>
        <p:spPr>
          <a:xfrm>
            <a:off x="3371724" y="2866700"/>
            <a:ext cx="609762"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5568"/>
                </a:solidFill>
                <a:latin typeface="Roboto" pitchFamily="34" charset="0"/>
                <a:ea typeface="Roboto" pitchFamily="34" charset="-122"/>
                <a:cs typeface="Roboto" pitchFamily="34" charset="-120"/>
              </a:rPr>
              <a:t>28.8%</a:t>
            </a:r>
            <a:endParaRPr lang="en-US" sz="1600" dirty="0"/>
          </a:p>
        </p:txBody>
      </p:sp>
      <p:sp>
        <p:nvSpPr>
          <p:cNvPr id="16" name="Text 12"/>
          <p:cNvSpPr/>
          <p:nvPr/>
        </p:nvSpPr>
        <p:spPr>
          <a:xfrm>
            <a:off x="1015910" y="3288290"/>
            <a:ext cx="4892368"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415C"/>
                </a:solidFill>
                <a:latin typeface="Roboto" pitchFamily="34" charset="0"/>
                <a:ea typeface="Roboto" pitchFamily="34" charset="-122"/>
                <a:cs typeface="Roboto" pitchFamily="34" charset="-120"/>
              </a:rPr>
              <a:t>Remission at 24 weeks; faster (10.2 vs 19.2 weeks), no more side effects</a:t>
            </a:r>
            <a:endParaRPr lang="en-US" sz="1200" dirty="0"/>
          </a:p>
        </p:txBody>
      </p:sp>
      <p:sp>
        <p:nvSpPr>
          <p:cNvPr id="17" name="Shape 13"/>
          <p:cNvSpPr/>
          <p:nvPr/>
        </p:nvSpPr>
        <p:spPr>
          <a:xfrm>
            <a:off x="6223000" y="1270000"/>
            <a:ext cx="5156128" cy="2921000"/>
          </a:xfrm>
          <a:prstGeom prst="roundRect">
            <a:avLst>
              <a:gd name="adj" fmla="val 3043"/>
            </a:avLst>
          </a:prstGeom>
          <a:solidFill>
            <a:srgbClr val="FFF6EC"/>
          </a:solidFill>
          <a:ln/>
          <a:effectLst>
            <a:outerShdw blurRad="139700" dist="50800" dir="5400000" algn="bl" rotWithShape="0">
              <a:srgbClr val="0E3F75">
                <a:alpha val="14000"/>
              </a:srgbClr>
            </a:outerShdw>
          </a:effectLst>
        </p:spPr>
        <p:txBody>
          <a:bodyPr/>
          <a:lstStyle/>
          <a:p>
            <a:endParaRPr lang="en-US"/>
          </a:p>
        </p:txBody>
      </p:sp>
      <p:sp>
        <p:nvSpPr>
          <p:cNvPr id="18" name="Shape 14"/>
          <p:cNvSpPr/>
          <p:nvPr/>
        </p:nvSpPr>
        <p:spPr>
          <a:xfrm>
            <a:off x="6223000" y="1270000"/>
            <a:ext cx="5156128" cy="2921000"/>
          </a:xfrm>
          <a:custGeom>
            <a:avLst/>
            <a:gdLst/>
            <a:ahLst/>
            <a:cxnLst/>
            <a:rect l="l" t="t" r="r" b="b"/>
            <a:pathLst>
              <a:path w="5156128" h="2921000">
                <a:moveTo>
                  <a:pt x="0" y="88900"/>
                </a:moveTo>
                <a:lnTo>
                  <a:pt x="0" y="88900"/>
                </a:lnTo>
                <a:arcTo wR="88900" hR="88900" stAng="10800000" swAng="5400000"/>
                <a:lnTo>
                  <a:pt x="5067228" y="0"/>
                </a:lnTo>
                <a:arcTo wR="88900" hR="88900" stAng="16200000" swAng="5400000"/>
                <a:lnTo>
                  <a:pt x="5156128" y="88900"/>
                </a:lnTo>
                <a:arcTo wR="88900" hR="38100" stAng="0" swAng="-5400000"/>
                <a:lnTo>
                  <a:pt x="88900" y="50800"/>
                </a:lnTo>
                <a:arcTo wR="88900" hR="38100" stAng="16200000" swAng="-5400000"/>
                <a:close/>
              </a:path>
            </a:pathLst>
          </a:custGeom>
          <a:solidFill>
            <a:srgbClr val="E78D2C"/>
          </a:solidFill>
          <a:ln/>
        </p:spPr>
        <p:txBody>
          <a:bodyPr/>
          <a:lstStyle/>
          <a:p>
            <a:endParaRPr lang="en-US"/>
          </a:p>
        </p:txBody>
      </p:sp>
      <p:pic>
        <p:nvPicPr>
          <p:cNvPr id="19" name="Image 2" descr="Users"/>
          <p:cNvPicPr>
            <a:picLocks noChangeAspect="1"/>
          </p:cNvPicPr>
          <p:nvPr/>
        </p:nvPicPr>
        <p:blipFill>
          <a:blip r:embed="rId5"/>
          <a:srcRect/>
          <a:stretch/>
        </p:blipFill>
        <p:spPr>
          <a:xfrm>
            <a:off x="6426128" y="1499105"/>
            <a:ext cx="203128" cy="203128"/>
          </a:xfrm>
          <a:prstGeom prst="rect">
            <a:avLst/>
          </a:prstGeom>
        </p:spPr>
      </p:pic>
      <p:sp>
        <p:nvSpPr>
          <p:cNvPr id="20" name="Text 15"/>
          <p:cNvSpPr/>
          <p:nvPr/>
        </p:nvSpPr>
        <p:spPr>
          <a:xfrm>
            <a:off x="6705383" y="1493964"/>
            <a:ext cx="3607402"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35A12"/>
                </a:solidFill>
                <a:latin typeface="Roboto" pitchFamily="34" charset="0"/>
                <a:ea typeface="Roboto" pitchFamily="34" charset="-122"/>
                <a:cs typeface="Roboto" pitchFamily="34" charset="-120"/>
              </a:rPr>
              <a:t>CLUSTER RCT · 50 PRACTICES · EPSTEIN 2016</a:t>
            </a:r>
            <a:endParaRPr lang="en-US" sz="1200" dirty="0"/>
          </a:p>
        </p:txBody>
      </p:sp>
      <p:sp>
        <p:nvSpPr>
          <p:cNvPr id="21" name="Text 16"/>
          <p:cNvSpPr/>
          <p:nvPr/>
        </p:nvSpPr>
        <p:spPr>
          <a:xfrm>
            <a:off x="6426128" y="1770874"/>
            <a:ext cx="4892368" cy="304746"/>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5A12"/>
                </a:solidFill>
                <a:latin typeface="Roboto" pitchFamily="34" charset="0"/>
                <a:ea typeface="Roboto" pitchFamily="34" charset="-122"/>
                <a:cs typeface="Roboto" pitchFamily="34" charset="-120"/>
              </a:rPr>
              <a:t>Pediatric ADHD in primary care</a:t>
            </a:r>
            <a:endParaRPr lang="en-US" sz="2000" dirty="0"/>
          </a:p>
        </p:txBody>
      </p:sp>
      <p:sp>
        <p:nvSpPr>
          <p:cNvPr id="22" name="Shape 17"/>
          <p:cNvSpPr/>
          <p:nvPr/>
        </p:nvSpPr>
        <p:spPr>
          <a:xfrm>
            <a:off x="6432478" y="2120070"/>
            <a:ext cx="2317768" cy="815416"/>
          </a:xfrm>
          <a:prstGeom prst="roundRect">
            <a:avLst>
              <a:gd name="adj" fmla="val 7009"/>
            </a:avLst>
          </a:prstGeom>
          <a:solidFill>
            <a:srgbClr val="FFFFFF"/>
          </a:solidFill>
          <a:ln w="12700">
            <a:solidFill>
              <a:srgbClr val="E78D2C"/>
            </a:solidFill>
            <a:prstDash val="solid"/>
          </a:ln>
        </p:spPr>
        <p:txBody>
          <a:bodyPr/>
          <a:lstStyle/>
          <a:p>
            <a:endParaRPr lang="en-US"/>
          </a:p>
        </p:txBody>
      </p:sp>
      <p:sp>
        <p:nvSpPr>
          <p:cNvPr id="23" name="Text 18"/>
          <p:cNvSpPr/>
          <p:nvPr/>
        </p:nvSpPr>
        <p:spPr>
          <a:xfrm>
            <a:off x="6539237" y="2201393"/>
            <a:ext cx="2167377"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35A12"/>
                </a:solidFill>
                <a:latin typeface="Roboto" pitchFamily="34" charset="0"/>
                <a:ea typeface="Roboto" pitchFamily="34" charset="-122"/>
                <a:cs typeface="Roboto" pitchFamily="34" charset="-120"/>
              </a:rPr>
              <a:t>QI program</a:t>
            </a:r>
            <a:endParaRPr lang="en-US" sz="1300" dirty="0"/>
          </a:p>
        </p:txBody>
      </p:sp>
      <p:sp>
        <p:nvSpPr>
          <p:cNvPr id="24" name="Text 19"/>
          <p:cNvSpPr/>
          <p:nvPr/>
        </p:nvSpPr>
        <p:spPr>
          <a:xfrm>
            <a:off x="6539237" y="2457829"/>
            <a:ext cx="2167377"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A1A1A"/>
                </a:solidFill>
                <a:latin typeface="Roboto" pitchFamily="34" charset="0"/>
                <a:ea typeface="Roboto" pitchFamily="34" charset="-122"/>
                <a:cs typeface="Roboto" pitchFamily="34" charset="-120"/>
              </a:rPr>
              <a:t>Vanderbilt portal + training + workflow changes</a:t>
            </a:r>
            <a:endParaRPr lang="en-US" sz="1200" dirty="0"/>
          </a:p>
        </p:txBody>
      </p:sp>
      <p:sp>
        <p:nvSpPr>
          <p:cNvPr id="25" name="Shape 20"/>
          <p:cNvSpPr/>
          <p:nvPr/>
        </p:nvSpPr>
        <p:spPr>
          <a:xfrm>
            <a:off x="8851791" y="2120070"/>
            <a:ext cx="2317858" cy="815416"/>
          </a:xfrm>
          <a:prstGeom prst="roundRect">
            <a:avLst>
              <a:gd name="adj" fmla="val 7009"/>
            </a:avLst>
          </a:prstGeom>
          <a:solidFill>
            <a:srgbClr val="FFFFFF"/>
          </a:solidFill>
          <a:ln w="12700">
            <a:solidFill>
              <a:srgbClr val="C9D1DB"/>
            </a:solidFill>
            <a:prstDash val="solid"/>
          </a:ln>
        </p:spPr>
        <p:txBody>
          <a:bodyPr/>
          <a:lstStyle/>
          <a:p>
            <a:endParaRPr lang="en-US"/>
          </a:p>
        </p:txBody>
      </p:sp>
      <p:sp>
        <p:nvSpPr>
          <p:cNvPr id="26" name="Text 21"/>
          <p:cNvSpPr/>
          <p:nvPr/>
        </p:nvSpPr>
        <p:spPr>
          <a:xfrm>
            <a:off x="8958551" y="2201393"/>
            <a:ext cx="2167470"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8"/>
                </a:solidFill>
                <a:latin typeface="Roboto" pitchFamily="34" charset="0"/>
                <a:ea typeface="Roboto" pitchFamily="34" charset="-122"/>
                <a:cs typeface="Roboto" pitchFamily="34" charset="-120"/>
              </a:rPr>
              <a:t>Usual care</a:t>
            </a:r>
            <a:endParaRPr lang="en-US" sz="1300" dirty="0"/>
          </a:p>
        </p:txBody>
      </p:sp>
      <p:sp>
        <p:nvSpPr>
          <p:cNvPr id="27" name="Text 22"/>
          <p:cNvSpPr/>
          <p:nvPr/>
        </p:nvSpPr>
        <p:spPr>
          <a:xfrm>
            <a:off x="8958551" y="2457829"/>
            <a:ext cx="2167470" cy="421734"/>
          </a:xfrm>
          <a:prstGeom prst="rect">
            <a:avLst/>
          </a:prstGeom>
          <a:noFill/>
          <a:ln/>
        </p:spPr>
        <p:txBody>
          <a:bodyPr wrap="square" lIns="0" tIns="0" rIns="0" bIns="0" rtlCol="0" anchor="t">
            <a:normAutofit/>
          </a:bodyPr>
          <a:lstStyle/>
          <a:p>
            <a:pPr marL="0" indent="0" algn="l">
              <a:lnSpc>
                <a:spcPts val="1560"/>
              </a:lnSpc>
              <a:buNone/>
            </a:pPr>
            <a:r>
              <a:rPr lang="en-US" sz="1100" dirty="0">
                <a:solidFill>
                  <a:srgbClr val="1A1A1A"/>
                </a:solidFill>
                <a:latin typeface="Roboto"/>
                <a:ea typeface="Roboto"/>
                <a:cs typeface="Roboto"/>
              </a:rPr>
              <a:t>Practices kept their usual ADHD care</a:t>
            </a:r>
            <a:endParaRPr lang="en-US" sz="1100">
              <a:latin typeface="Roboto"/>
              <a:ea typeface="Roboto"/>
              <a:cs typeface="Roboto"/>
            </a:endParaRPr>
          </a:p>
        </p:txBody>
      </p:sp>
      <p:pic>
        <p:nvPicPr>
          <p:cNvPr id="28" name="Image 3" descr="Check"/>
          <p:cNvPicPr>
            <a:picLocks noChangeAspect="1"/>
          </p:cNvPicPr>
          <p:nvPr/>
        </p:nvPicPr>
        <p:blipFill>
          <a:blip r:embed="rId6"/>
          <a:srcRect/>
          <a:stretch/>
        </p:blipFill>
        <p:spPr>
          <a:xfrm>
            <a:off x="6426128" y="3017332"/>
            <a:ext cx="190500" cy="190500"/>
          </a:xfrm>
          <a:prstGeom prst="rect">
            <a:avLst/>
          </a:prstGeom>
        </p:spPr>
      </p:pic>
      <p:sp>
        <p:nvSpPr>
          <p:cNvPr id="29" name="Text 23"/>
          <p:cNvSpPr/>
          <p:nvPr/>
        </p:nvSpPr>
        <p:spPr>
          <a:xfrm>
            <a:off x="6692756" y="3005336"/>
            <a:ext cx="3024981" cy="239983"/>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A1A1A"/>
                </a:solidFill>
                <a:latin typeface="Roboto" pitchFamily="34" charset="0"/>
                <a:ea typeface="Roboto" pitchFamily="34" charset="-122"/>
                <a:cs typeface="Roboto" pitchFamily="34" charset="-120"/>
              </a:rPr>
              <a:t>Parent-rated:</a:t>
            </a:r>
            <a:r>
              <a:rPr lang="en-US" sz="1300" dirty="0">
                <a:solidFill>
                  <a:srgbClr val="1A1A1A"/>
                </a:solidFill>
                <a:latin typeface="Roboto" pitchFamily="34" charset="0"/>
                <a:ea typeface="Roboto" pitchFamily="34" charset="-122"/>
                <a:cs typeface="Roboto" pitchFamily="34" charset="-120"/>
              </a:rPr>
              <a:t> +2.4 points on medication</a:t>
            </a:r>
            <a:endParaRPr lang="en-US" sz="1300" dirty="0"/>
          </a:p>
        </p:txBody>
      </p:sp>
      <p:sp>
        <p:nvSpPr>
          <p:cNvPr id="30" name="Text 24"/>
          <p:cNvSpPr/>
          <p:nvPr/>
        </p:nvSpPr>
        <p:spPr>
          <a:xfrm>
            <a:off x="6400728" y="3257983"/>
            <a:ext cx="241300" cy="256489"/>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4A5568"/>
                </a:solidFill>
                <a:latin typeface="Roboto" pitchFamily="34" charset="0"/>
                <a:ea typeface="Roboto" pitchFamily="34" charset="-122"/>
                <a:cs typeface="Roboto" pitchFamily="34" charset="-120"/>
              </a:rPr>
              <a:t>–</a:t>
            </a:r>
            <a:endParaRPr lang="en-US" sz="1300" dirty="0"/>
          </a:p>
        </p:txBody>
      </p:sp>
      <p:sp>
        <p:nvSpPr>
          <p:cNvPr id="31" name="Text 25"/>
          <p:cNvSpPr/>
          <p:nvPr/>
        </p:nvSpPr>
        <p:spPr>
          <a:xfrm>
            <a:off x="6692756" y="3266191"/>
            <a:ext cx="2167377" cy="239983"/>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A1A1A"/>
                </a:solidFill>
                <a:latin typeface="Roboto" pitchFamily="34" charset="0"/>
                <a:ea typeface="Roboto" pitchFamily="34" charset="-122"/>
                <a:cs typeface="Roboto" pitchFamily="34" charset="-120"/>
              </a:rPr>
              <a:t>Teacher-rated:</a:t>
            </a:r>
            <a:r>
              <a:rPr lang="en-US" sz="1300" dirty="0">
                <a:solidFill>
                  <a:srgbClr val="1A1A1A"/>
                </a:solidFill>
                <a:latin typeface="Roboto" pitchFamily="34" charset="0"/>
                <a:ea typeface="Roboto" pitchFamily="34" charset="-122"/>
                <a:cs typeface="Roboto" pitchFamily="34" charset="-120"/>
              </a:rPr>
              <a:t> no difference</a:t>
            </a:r>
            <a:endParaRPr lang="en-US" sz="1300" dirty="0"/>
          </a:p>
        </p:txBody>
      </p:sp>
      <p:sp>
        <p:nvSpPr>
          <p:cNvPr id="32" name="Text 26"/>
          <p:cNvSpPr/>
          <p:nvPr/>
        </p:nvSpPr>
        <p:spPr>
          <a:xfrm>
            <a:off x="6426128" y="3552572"/>
            <a:ext cx="4892368" cy="223567"/>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4A3A"/>
                </a:solidFill>
                <a:latin typeface="Roboto" pitchFamily="34" charset="0"/>
                <a:ea typeface="Roboto" pitchFamily="34" charset="-122"/>
                <a:cs typeface="Roboto" pitchFamily="34" charset="-120"/>
              </a:rPr>
              <a:t>Bundled program: rating scales’ own effect unknown</a:t>
            </a:r>
            <a:endParaRPr lang="en-US" sz="1200" dirty="0"/>
          </a:p>
        </p:txBody>
      </p:sp>
      <p:sp>
        <p:nvSpPr>
          <p:cNvPr id="33" name="Shape 27"/>
          <p:cNvSpPr/>
          <p:nvPr/>
        </p:nvSpPr>
        <p:spPr>
          <a:xfrm>
            <a:off x="812782" y="4292564"/>
            <a:ext cx="10566346" cy="635000"/>
          </a:xfrm>
          <a:prstGeom prst="roundRect">
            <a:avLst>
              <a:gd name="adj" fmla="val 14000"/>
            </a:avLst>
          </a:prstGeom>
          <a:solidFill>
            <a:srgbClr val="F3F7FC"/>
          </a:solidFill>
          <a:ln/>
          <a:effectLst>
            <a:outerShdw blurRad="139700" dist="50800" dir="5400000" algn="bl" rotWithShape="0">
              <a:srgbClr val="0E3F75">
                <a:alpha val="14000"/>
              </a:srgbClr>
            </a:outerShdw>
          </a:effectLst>
        </p:spPr>
        <p:txBody>
          <a:bodyPr/>
          <a:lstStyle/>
          <a:p>
            <a:endParaRPr lang="en-US"/>
          </a:p>
        </p:txBody>
      </p:sp>
      <p:sp>
        <p:nvSpPr>
          <p:cNvPr id="34" name="Shape 28"/>
          <p:cNvSpPr/>
          <p:nvPr/>
        </p:nvSpPr>
        <p:spPr>
          <a:xfrm>
            <a:off x="812782" y="4292564"/>
            <a:ext cx="10566346" cy="635000"/>
          </a:xfrm>
          <a:custGeom>
            <a:avLst/>
            <a:gdLst/>
            <a:ahLst/>
            <a:cxnLst/>
            <a:rect l="l" t="t" r="r" b="b"/>
            <a:pathLst>
              <a:path w="10566346" h="635000">
                <a:moveTo>
                  <a:pt x="88900" y="635000"/>
                </a:moveTo>
                <a:lnTo>
                  <a:pt x="88900" y="635000"/>
                </a:lnTo>
                <a:arcTo wR="88900" hR="88900" stAng="5400000" swAng="5400000"/>
                <a:lnTo>
                  <a:pt x="0" y="88900"/>
                </a:lnTo>
                <a:arcTo wR="88900" hR="88900" stAng="10800000" swAng="5400000"/>
                <a:lnTo>
                  <a:pt x="88900" y="0"/>
                </a:lnTo>
                <a:arcTo wR="38100" hR="88900" stAng="16200000" swAng="-5400000"/>
                <a:lnTo>
                  <a:pt x="50800" y="546100"/>
                </a:lnTo>
                <a:arcTo wR="38100" hR="88900" stAng="10800000" swAng="-5400000"/>
                <a:close/>
              </a:path>
            </a:pathLst>
          </a:custGeom>
          <a:solidFill>
            <a:srgbClr val="2E7CC0"/>
          </a:solidFill>
          <a:ln/>
        </p:spPr>
        <p:txBody>
          <a:bodyPr/>
          <a:lstStyle/>
          <a:p>
            <a:endParaRPr lang="en-US"/>
          </a:p>
        </p:txBody>
      </p:sp>
      <p:pic>
        <p:nvPicPr>
          <p:cNvPr id="35" name="Image 4" descr="Search"/>
          <p:cNvPicPr>
            <a:picLocks noChangeAspect="1"/>
          </p:cNvPicPr>
          <p:nvPr/>
        </p:nvPicPr>
        <p:blipFill>
          <a:blip r:embed="rId7"/>
          <a:srcRect/>
          <a:stretch/>
        </p:blipFill>
        <p:spPr>
          <a:xfrm>
            <a:off x="1062092" y="4483064"/>
            <a:ext cx="254000" cy="254000"/>
          </a:xfrm>
          <a:prstGeom prst="rect">
            <a:avLst/>
          </a:prstGeom>
        </p:spPr>
      </p:pic>
      <p:sp>
        <p:nvSpPr>
          <p:cNvPr id="36" name="Text 29"/>
          <p:cNvSpPr/>
          <p:nvPr/>
        </p:nvSpPr>
        <p:spPr>
          <a:xfrm>
            <a:off x="1468437" y="4463400"/>
            <a:ext cx="1053811" cy="318727"/>
          </a:xfrm>
          <a:prstGeom prst="rect">
            <a:avLst/>
          </a:prstGeom>
          <a:noFill/>
          <a:ln/>
        </p:spPr>
        <p:txBody>
          <a:bodyPr wrap="none" lIns="0" tIns="0" rIns="0" bIns="0" rtlCol="0" anchor="t">
            <a:normAutofit/>
          </a:bodyPr>
          <a:lstStyle/>
          <a:p>
            <a:pPr marL="0" indent="0" algn="l">
              <a:lnSpc>
                <a:spcPts val="2310"/>
              </a:lnSpc>
              <a:buNone/>
            </a:pPr>
            <a:r>
              <a:rPr lang="en-US" sz="2200" b="1" dirty="0">
                <a:solidFill>
                  <a:srgbClr val="2E7CC0"/>
                </a:solidFill>
                <a:latin typeface="Roboto" pitchFamily="34" charset="0"/>
                <a:ea typeface="Roboto" pitchFamily="34" charset="-122"/>
                <a:cs typeface="Roboto" pitchFamily="34" charset="-120"/>
              </a:rPr>
              <a:t>OR 1.83</a:t>
            </a:r>
            <a:endParaRPr lang="en-US" sz="2200" dirty="0"/>
          </a:p>
        </p:txBody>
      </p:sp>
      <p:sp>
        <p:nvSpPr>
          <p:cNvPr id="37" name="Text 30"/>
          <p:cNvSpPr/>
          <p:nvPr/>
        </p:nvSpPr>
        <p:spPr>
          <a:xfrm>
            <a:off x="2623795" y="4399179"/>
            <a:ext cx="8808771" cy="22356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A1A1A"/>
                </a:solidFill>
                <a:latin typeface="Roboto" pitchFamily="34" charset="0"/>
                <a:ea typeface="Roboto" pitchFamily="34" charset="-122"/>
                <a:cs typeface="Roboto" pitchFamily="34" charset="-120"/>
              </a:rPr>
              <a:t>Zhu 2021 meta-analysis: 7 RCTs, 2,019 adults with depression, all on medication</a:t>
            </a:r>
            <a:endParaRPr lang="en-US" sz="1200" dirty="0"/>
          </a:p>
        </p:txBody>
      </p:sp>
      <p:sp>
        <p:nvSpPr>
          <p:cNvPr id="38" name="Text 31"/>
          <p:cNvSpPr/>
          <p:nvPr/>
        </p:nvSpPr>
        <p:spPr>
          <a:xfrm>
            <a:off x="2623795" y="4622691"/>
            <a:ext cx="8808771" cy="22356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415C"/>
                </a:solidFill>
                <a:latin typeface="Roboto" pitchFamily="34" charset="0"/>
                <a:ea typeface="Roboto" pitchFamily="34" charset="-122"/>
                <a:cs typeface="Roboto" pitchFamily="34" charset="-120"/>
              </a:rPr>
              <a:t>Remission (OR 1.83) and adherence (OR 1.68) improved; response no different; few trials, high bias risk</a:t>
            </a:r>
            <a:endParaRPr lang="en-US" sz="1200" dirty="0"/>
          </a:p>
        </p:txBody>
      </p:sp>
      <p:sp>
        <p:nvSpPr>
          <p:cNvPr id="39" name="Shape 32"/>
          <p:cNvSpPr/>
          <p:nvPr/>
        </p:nvSpPr>
        <p:spPr>
          <a:xfrm>
            <a:off x="812782" y="5029128"/>
            <a:ext cx="10566346" cy="425288"/>
          </a:xfrm>
          <a:prstGeom prst="rect">
            <a:avLst/>
          </a:prstGeom>
          <a:solidFill>
            <a:srgbClr val="EAF2FA"/>
          </a:solidFill>
          <a:ln/>
        </p:spPr>
        <p:txBody>
          <a:bodyPr/>
          <a:lstStyle/>
          <a:p>
            <a:endParaRPr lang="en-US"/>
          </a:p>
        </p:txBody>
      </p:sp>
      <p:sp>
        <p:nvSpPr>
          <p:cNvPr id="40" name="Shape 33"/>
          <p:cNvSpPr/>
          <p:nvPr/>
        </p:nvSpPr>
        <p:spPr>
          <a:xfrm>
            <a:off x="838182" y="5029128"/>
            <a:ext cx="0" cy="425288"/>
          </a:xfrm>
          <a:prstGeom prst="line">
            <a:avLst/>
          </a:prstGeom>
          <a:noFill/>
          <a:ln w="50800">
            <a:solidFill>
              <a:srgbClr val="2E7CC0"/>
            </a:solidFill>
            <a:prstDash val="solid"/>
          </a:ln>
        </p:spPr>
        <p:txBody>
          <a:bodyPr/>
          <a:lstStyle/>
          <a:p>
            <a:endParaRPr lang="en-US"/>
          </a:p>
        </p:txBody>
      </p:sp>
      <p:sp>
        <p:nvSpPr>
          <p:cNvPr id="41" name="Text 34"/>
          <p:cNvSpPr/>
          <p:nvPr/>
        </p:nvSpPr>
        <p:spPr>
          <a:xfrm>
            <a:off x="1011364" y="5118028"/>
            <a:ext cx="10521825" cy="272888"/>
          </a:xfrm>
          <a:prstGeom prst="rect">
            <a:avLst/>
          </a:prstGeom>
          <a:noFill/>
          <a:ln/>
        </p:spPr>
        <p:txBody>
          <a:bodyPr wrap="square" lIns="0" tIns="0" rIns="0" bIns="0" rtlCol="0" anchor="t">
            <a:normAutofit/>
          </a:bodyPr>
          <a:lstStyle/>
          <a:p>
            <a:pPr marL="0" indent="0" algn="l">
              <a:lnSpc>
                <a:spcPts val="1950"/>
              </a:lnSpc>
              <a:buNone/>
            </a:pPr>
            <a:r>
              <a:rPr lang="en-US" sz="1500" b="1" i="1" dirty="0">
                <a:solidFill>
                  <a:srgbClr val="1A1A1A"/>
                </a:solidFill>
                <a:latin typeface="Roboto" pitchFamily="34" charset="0"/>
                <a:ea typeface="Roboto" pitchFamily="34" charset="-122"/>
                <a:cs typeface="Roboto" pitchFamily="34" charset="-120"/>
              </a:rPr>
              <a:t>The medication matters. So does measuring and adjusting it.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14289-FC3B-94AC-2F13-3AD4901E0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6A2F2-8DD0-13BF-9969-0F4780BB2E05}"/>
              </a:ext>
            </a:extLst>
          </p:cNvPr>
          <p:cNvSpPr>
            <a:spLocks noGrp="1"/>
          </p:cNvSpPr>
          <p:nvPr>
            <p:ph type="title"/>
          </p:nvPr>
        </p:nvSpPr>
        <p:spPr/>
        <p:txBody>
          <a:bodyPr/>
          <a:lstStyle/>
          <a:p>
            <a:r>
              <a:rPr lang="en-US"/>
              <a:t>Implementation of MBC</a:t>
            </a:r>
          </a:p>
        </p:txBody>
      </p:sp>
      <p:graphicFrame>
        <p:nvGraphicFramePr>
          <p:cNvPr id="5" name="Content Placeholder 4" descr="Basic Timeline">
            <a:extLst>
              <a:ext uri="{FF2B5EF4-FFF2-40B4-BE49-F238E27FC236}">
                <a16:creationId xmlns:a16="http://schemas.microsoft.com/office/drawing/2014/main" id="{F972B452-80C5-6FAA-8B01-B829B19A314E}"/>
              </a:ext>
            </a:extLst>
          </p:cNvPr>
          <p:cNvGraphicFramePr>
            <a:graphicFrameLocks/>
          </p:cNvGraphicFramePr>
          <p:nvPr>
            <p:extLst>
              <p:ext uri="{D42A27DB-BD31-4B8C-83A1-F6EECF244321}">
                <p14:modId xmlns:p14="http://schemas.microsoft.com/office/powerpoint/2010/main" val="3277085271"/>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838200" y="1614714"/>
          <a:ext cx="10468678" cy="3628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5220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87B5-B43B-262E-122B-922373A2D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F5E62-1D83-7727-AC1C-DB9D474E4DFA}"/>
              </a:ext>
            </a:extLst>
          </p:cNvPr>
          <p:cNvSpPr>
            <a:spLocks noGrp="1"/>
          </p:cNvSpPr>
          <p:nvPr>
            <p:ph type="title"/>
          </p:nvPr>
        </p:nvSpPr>
        <p:spPr/>
        <p:txBody>
          <a:bodyPr/>
          <a:lstStyle/>
          <a:p>
            <a:r>
              <a:rPr lang="en-US"/>
              <a:t>Progress Monitoring</a:t>
            </a:r>
          </a:p>
        </p:txBody>
      </p:sp>
      <p:sp>
        <p:nvSpPr>
          <p:cNvPr id="7" name="Rectangle 6">
            <a:extLst>
              <a:ext uri="{FF2B5EF4-FFF2-40B4-BE49-F238E27FC236}">
                <a16:creationId xmlns:a16="http://schemas.microsoft.com/office/drawing/2014/main" id="{04F1A8CD-F305-9BE0-ABEF-614EC98E7655}"/>
              </a:ext>
            </a:extLst>
          </p:cNvPr>
          <p:cNvSpPr/>
          <p:nvPr/>
        </p:nvSpPr>
        <p:spPr>
          <a:xfrm>
            <a:off x="6172200" y="2044750"/>
            <a:ext cx="5357191" cy="342572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7D544AA5-3E2D-EBEA-EC69-9620C44B604E}"/>
              </a:ext>
            </a:extLst>
          </p:cNvPr>
          <p:cNvSpPr>
            <a:spLocks noGrp="1"/>
          </p:cNvSpPr>
          <p:nvPr>
            <p:ph sz="half" idx="2"/>
          </p:nvPr>
        </p:nvSpPr>
        <p:spPr>
          <a:xfrm>
            <a:off x="6594612" y="2305376"/>
            <a:ext cx="4581388" cy="2904472"/>
          </a:xfrm>
        </p:spPr>
        <p:txBody>
          <a:bodyPr anchor="ctr">
            <a:normAutofit/>
          </a:bodyPr>
          <a:lstStyle/>
          <a:p>
            <a:r>
              <a:rPr lang="en-US" sz="3300" b="1">
                <a:solidFill>
                  <a:schemeClr val="bg1"/>
                </a:solidFill>
              </a:rPr>
              <a:t>After 60 days, measures are re-administered</a:t>
            </a:r>
          </a:p>
          <a:p>
            <a:r>
              <a:rPr lang="en-US" sz="3300" b="1">
                <a:solidFill>
                  <a:schemeClr val="bg1"/>
                </a:solidFill>
              </a:rPr>
              <a:t>Jordan's scores improve</a:t>
            </a:r>
          </a:p>
        </p:txBody>
      </p:sp>
      <p:pic>
        <p:nvPicPr>
          <p:cNvPr id="3" name="Picture 2" descr="A child sitting at a table with pumpkins&#10;&#10;AI-generated content may be incorrect.">
            <a:extLst>
              <a:ext uri="{FF2B5EF4-FFF2-40B4-BE49-F238E27FC236}">
                <a16:creationId xmlns:a16="http://schemas.microsoft.com/office/drawing/2014/main" id="{AA513444-2671-50A2-3315-888E829C1BB1}"/>
              </a:ext>
            </a:extLst>
          </p:cNvPr>
          <p:cNvPicPr>
            <a:picLocks noChangeAspect="1"/>
          </p:cNvPicPr>
          <p:nvPr/>
        </p:nvPicPr>
        <p:blipFill>
          <a:blip r:embed="rId3" cstate="email">
            <a:extLst>
              <a:ext uri="{28A0092B-C50C-407E-A947-70E740481C1C}">
                <a14:useLocalDpi xmlns:a14="http://schemas.microsoft.com/office/drawing/2010/main"/>
              </a:ext>
            </a:extLst>
          </a:blip>
          <a:srcRect t="11918" b="19274"/>
          <a:stretch>
            <a:fillRect/>
          </a:stretch>
        </p:blipFill>
        <p:spPr>
          <a:xfrm>
            <a:off x="1478281" y="2044750"/>
            <a:ext cx="4337304" cy="3357494"/>
          </a:xfrm>
          <a:prstGeom prst="rect">
            <a:avLst/>
          </a:prstGeom>
        </p:spPr>
      </p:pic>
    </p:spTree>
    <p:extLst>
      <p:ext uri="{BB962C8B-B14F-4D97-AF65-F5344CB8AC3E}">
        <p14:creationId xmlns:p14="http://schemas.microsoft.com/office/powerpoint/2010/main" val="1684750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BBC8-67C6-C822-3133-1040B3EC4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9BF82-0AB3-6B0D-DFBB-B1F339245AF5}"/>
              </a:ext>
            </a:extLst>
          </p:cNvPr>
          <p:cNvSpPr>
            <a:spLocks noGrp="1"/>
          </p:cNvSpPr>
          <p:nvPr>
            <p:ph type="title"/>
          </p:nvPr>
        </p:nvSpPr>
        <p:spPr/>
        <p:txBody>
          <a:bodyPr/>
          <a:lstStyle/>
          <a:p>
            <a:r>
              <a:rPr lang="en-US"/>
              <a:t>Progress Monitoring</a:t>
            </a:r>
          </a:p>
        </p:txBody>
      </p:sp>
      <p:sp>
        <p:nvSpPr>
          <p:cNvPr id="4" name="Content Placeholder 3">
            <a:extLst>
              <a:ext uri="{FF2B5EF4-FFF2-40B4-BE49-F238E27FC236}">
                <a16:creationId xmlns:a16="http://schemas.microsoft.com/office/drawing/2014/main" id="{7874E9C0-9639-21E6-AD5F-282021F31B78}"/>
              </a:ext>
            </a:extLst>
          </p:cNvPr>
          <p:cNvSpPr>
            <a:spLocks noGrp="1"/>
          </p:cNvSpPr>
          <p:nvPr>
            <p:ph sz="half" idx="2"/>
          </p:nvPr>
        </p:nvSpPr>
        <p:spPr>
          <a:xfrm>
            <a:off x="6594612" y="2305376"/>
            <a:ext cx="4512365" cy="2904472"/>
          </a:xfrm>
        </p:spPr>
        <p:txBody>
          <a:bodyPr anchor="ctr">
            <a:normAutofit/>
          </a:bodyPr>
          <a:lstStyle/>
          <a:p>
            <a:r>
              <a:rPr lang="en-US" sz="3300" b="1">
                <a:solidFill>
                  <a:schemeClr val="bg1"/>
                </a:solidFill>
              </a:rPr>
              <a:t>After 60 days, measures are re-administered</a:t>
            </a:r>
          </a:p>
          <a:p>
            <a:r>
              <a:rPr lang="en-US" sz="3300" b="1">
                <a:solidFill>
                  <a:schemeClr val="bg1"/>
                </a:solidFill>
              </a:rPr>
              <a:t>Jordan's scores improve</a:t>
            </a:r>
          </a:p>
        </p:txBody>
      </p:sp>
      <p:sp>
        <p:nvSpPr>
          <p:cNvPr id="6" name="TextBox 5">
            <a:extLst>
              <a:ext uri="{FF2B5EF4-FFF2-40B4-BE49-F238E27FC236}">
                <a16:creationId xmlns:a16="http://schemas.microsoft.com/office/drawing/2014/main" id="{13D347B0-0C76-CB88-0A48-673D5863DBDE}"/>
              </a:ext>
            </a:extLst>
          </p:cNvPr>
          <p:cNvSpPr txBox="1"/>
          <p:nvPr/>
        </p:nvSpPr>
        <p:spPr>
          <a:xfrm>
            <a:off x="1027659" y="1654871"/>
            <a:ext cx="9938791" cy="4861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ptos"/>
              </a:rPr>
              <a:t>PSC-17:</a:t>
            </a:r>
          </a:p>
          <a:p>
            <a:r>
              <a:rPr lang="en-US" sz="2400" b="1">
                <a:latin typeface="Aptos"/>
              </a:rPr>
              <a:t>Total:</a:t>
            </a:r>
            <a:r>
              <a:rPr lang="en-US" sz="2400">
                <a:latin typeface="Aptos"/>
              </a:rPr>
              <a:t> </a:t>
            </a:r>
            <a:r>
              <a:rPr lang="en-US" sz="2400">
                <a:solidFill>
                  <a:srgbClr val="000000"/>
                </a:solidFill>
                <a:latin typeface="Aptos"/>
              </a:rPr>
              <a:t>13</a:t>
            </a:r>
            <a:r>
              <a:rPr lang="en-US" sz="2400">
                <a:solidFill>
                  <a:srgbClr val="FF0000"/>
                </a:solidFill>
                <a:latin typeface="Aptos"/>
              </a:rPr>
              <a:t> </a:t>
            </a:r>
            <a:r>
              <a:rPr lang="en-US" sz="2400">
                <a:latin typeface="Aptos"/>
              </a:rPr>
              <a:t>(</a:t>
            </a:r>
            <a:r>
              <a:rPr lang="en-US" sz="2400">
                <a:ea typeface="+mn-lt"/>
                <a:cs typeface="+mn-lt"/>
              </a:rPr>
              <a:t>score is positive if </a:t>
            </a:r>
            <a:r>
              <a:rPr lang="en-US" sz="2400">
                <a:highlight>
                  <a:srgbClr val="FFFFFF"/>
                </a:highlight>
                <a:latin typeface="Roboto"/>
                <a:ea typeface="Roboto"/>
                <a:cs typeface="Roboto"/>
              </a:rPr>
              <a:t>≥</a:t>
            </a:r>
            <a:r>
              <a:rPr lang="en-US" sz="2400">
                <a:ea typeface="+mn-lt"/>
                <a:cs typeface="+mn-lt"/>
              </a:rPr>
              <a:t> 15)</a:t>
            </a:r>
            <a:endParaRPr lang="en-US" sz="2400"/>
          </a:p>
          <a:p>
            <a:r>
              <a:rPr lang="en-US" sz="2400" b="1">
                <a:latin typeface="Aptos"/>
              </a:rPr>
              <a:t>Attention</a:t>
            </a:r>
            <a:r>
              <a:rPr lang="en-US" sz="2400">
                <a:latin typeface="Aptos"/>
              </a:rPr>
              <a:t>: </a:t>
            </a:r>
            <a:r>
              <a:rPr lang="en-US" sz="2400">
                <a:solidFill>
                  <a:srgbClr val="000000"/>
                </a:solidFill>
                <a:latin typeface="Aptos"/>
              </a:rPr>
              <a:t>5</a:t>
            </a:r>
            <a:r>
              <a:rPr lang="en-US" sz="2400">
                <a:solidFill>
                  <a:srgbClr val="FF0000"/>
                </a:solidFill>
                <a:latin typeface="Aptos"/>
              </a:rPr>
              <a:t> </a:t>
            </a:r>
            <a:r>
              <a:rPr lang="en-US" sz="2400">
                <a:solidFill>
                  <a:srgbClr val="000000"/>
                </a:solidFill>
                <a:latin typeface="Aptos"/>
              </a:rPr>
              <a:t>(</a:t>
            </a:r>
            <a:r>
              <a:rPr lang="en-US" sz="2400">
                <a:solidFill>
                  <a:srgbClr val="000000"/>
                </a:solidFill>
                <a:latin typeface="Crimson Text"/>
              </a:rPr>
              <a:t>score is positive if </a:t>
            </a:r>
            <a:r>
              <a:rPr lang="en-US" sz="2400">
                <a:solidFill>
                  <a:srgbClr val="000000"/>
                </a:solidFill>
                <a:highlight>
                  <a:srgbClr val="FFFFFF"/>
                </a:highlight>
                <a:latin typeface="Roboto"/>
                <a:ea typeface="Roboto"/>
                <a:cs typeface="Roboto"/>
              </a:rPr>
              <a:t>≥</a:t>
            </a:r>
            <a:r>
              <a:rPr lang="en-US" sz="2400">
                <a:solidFill>
                  <a:srgbClr val="000000"/>
                </a:solidFill>
                <a:latin typeface="Crimson Text"/>
              </a:rPr>
              <a:t> 7)</a:t>
            </a:r>
            <a:endParaRPr lang="en-US" sz="2400">
              <a:solidFill>
                <a:srgbClr val="FF0000"/>
              </a:solidFill>
              <a:latin typeface="Crimson Text"/>
            </a:endParaRPr>
          </a:p>
          <a:p>
            <a:r>
              <a:rPr lang="en-US" sz="2400" b="1">
                <a:latin typeface="Aptos"/>
              </a:rPr>
              <a:t>Internalizing:</a:t>
            </a:r>
            <a:r>
              <a:rPr lang="en-US" sz="2400">
                <a:latin typeface="Aptos"/>
              </a:rPr>
              <a:t> </a:t>
            </a:r>
            <a:r>
              <a:rPr lang="en-US" sz="2400">
                <a:solidFill>
                  <a:srgbClr val="FF0000"/>
                </a:solidFill>
                <a:latin typeface="Aptos"/>
              </a:rPr>
              <a:t>5 </a:t>
            </a:r>
            <a:r>
              <a:rPr lang="en-US" sz="2400">
                <a:solidFill>
                  <a:srgbClr val="000000"/>
                </a:solidFill>
                <a:latin typeface="Aptos"/>
              </a:rPr>
              <a:t>(</a:t>
            </a:r>
            <a:r>
              <a:rPr lang="en-US" sz="2400">
                <a:solidFill>
                  <a:srgbClr val="000000"/>
                </a:solidFill>
                <a:latin typeface="Crimson Text"/>
              </a:rPr>
              <a:t>score is positive if </a:t>
            </a:r>
            <a:r>
              <a:rPr lang="en-US" sz="2400">
                <a:solidFill>
                  <a:srgbClr val="000000"/>
                </a:solidFill>
                <a:highlight>
                  <a:srgbClr val="FFFFFF"/>
                </a:highlight>
                <a:latin typeface="Roboto"/>
                <a:ea typeface="Roboto"/>
                <a:cs typeface="Roboto"/>
              </a:rPr>
              <a:t>≥</a:t>
            </a:r>
            <a:r>
              <a:rPr lang="en-US" sz="2400">
                <a:solidFill>
                  <a:srgbClr val="000000"/>
                </a:solidFill>
                <a:latin typeface="Crimson Text"/>
              </a:rPr>
              <a:t> 5)</a:t>
            </a:r>
            <a:endParaRPr lang="en-US" sz="2400">
              <a:solidFill>
                <a:srgbClr val="FF0000"/>
              </a:solidFill>
              <a:latin typeface="Crimson Text"/>
            </a:endParaRPr>
          </a:p>
          <a:p>
            <a:r>
              <a:rPr lang="en-US" sz="2400" b="1">
                <a:latin typeface="Aptos"/>
              </a:rPr>
              <a:t>Externalizing:</a:t>
            </a:r>
            <a:r>
              <a:rPr lang="en-US" sz="2400">
                <a:latin typeface="Aptos"/>
              </a:rPr>
              <a:t> 3 (</a:t>
            </a:r>
            <a:r>
              <a:rPr lang="en-US" sz="2400">
                <a:latin typeface="Crimson Text"/>
              </a:rPr>
              <a:t>score is positive if </a:t>
            </a:r>
            <a:r>
              <a:rPr lang="en-US" sz="2400">
                <a:highlight>
                  <a:srgbClr val="FFFFFF"/>
                </a:highlight>
                <a:latin typeface="Roboto"/>
                <a:ea typeface="Roboto"/>
                <a:cs typeface="Roboto"/>
              </a:rPr>
              <a:t>≥</a:t>
            </a:r>
            <a:r>
              <a:rPr lang="en-US" sz="2400">
                <a:latin typeface="Crimson Text"/>
              </a:rPr>
              <a:t> 7)</a:t>
            </a:r>
          </a:p>
          <a:p>
            <a:endParaRPr lang="en-US" sz="1050"/>
          </a:p>
          <a:p>
            <a:pPr marL="285750" indent="-285750">
              <a:lnSpc>
                <a:spcPct val="90000"/>
              </a:lnSpc>
              <a:spcBef>
                <a:spcPts val="1000"/>
              </a:spcBef>
              <a:buFont typeface="Arial"/>
              <a:buChar char="•"/>
            </a:pPr>
            <a:r>
              <a:rPr lang="en-US" sz="2400">
                <a:cs typeface="Arial"/>
              </a:rPr>
              <a:t>Parent-report </a:t>
            </a:r>
            <a:r>
              <a:rPr lang="en-US" sz="2400" b="1">
                <a:solidFill>
                  <a:srgbClr val="1F497D"/>
                </a:solidFill>
                <a:cs typeface="Arial"/>
              </a:rPr>
              <a:t>Vanderbilt </a:t>
            </a:r>
            <a:r>
              <a:rPr lang="en-US" sz="2400">
                <a:cs typeface="Arial"/>
              </a:rPr>
              <a:t>yields 4 symptoms of inattention and 2 symptoms of hyperactivity/ impulsivity</a:t>
            </a:r>
          </a:p>
          <a:p>
            <a:pPr marL="742950" lvl="1" indent="-285750">
              <a:lnSpc>
                <a:spcPct val="90000"/>
              </a:lnSpc>
              <a:spcBef>
                <a:spcPts val="500"/>
              </a:spcBef>
              <a:buFont typeface="Courier New,monospace"/>
              <a:buChar char="o"/>
            </a:pPr>
            <a:r>
              <a:rPr lang="en-US" sz="2000">
                <a:cs typeface="Arial"/>
              </a:rPr>
              <a:t>Plus 4 total problem areas.</a:t>
            </a:r>
          </a:p>
          <a:p>
            <a:pPr marL="285750" indent="-285750">
              <a:lnSpc>
                <a:spcPct val="90000"/>
              </a:lnSpc>
              <a:spcBef>
                <a:spcPts val="1000"/>
              </a:spcBef>
              <a:buFont typeface="Arial"/>
              <a:buChar char="•"/>
            </a:pPr>
            <a:r>
              <a:rPr lang="en-US" sz="2400">
                <a:cs typeface="Arial"/>
              </a:rPr>
              <a:t>Teacher-report </a:t>
            </a:r>
            <a:r>
              <a:rPr lang="en-US" sz="2400" b="1">
                <a:solidFill>
                  <a:srgbClr val="1F497D"/>
                </a:solidFill>
                <a:cs typeface="Arial"/>
              </a:rPr>
              <a:t>Vanderbilt </a:t>
            </a:r>
            <a:r>
              <a:rPr lang="en-US" sz="2400">
                <a:cs typeface="Arial"/>
              </a:rPr>
              <a:t>yields 5 symptoms of inattention and 2 symptoms of hyperactivity/ impulsivity </a:t>
            </a:r>
          </a:p>
          <a:p>
            <a:pPr marL="742950" lvl="1" indent="-285750">
              <a:lnSpc>
                <a:spcPct val="90000"/>
              </a:lnSpc>
              <a:spcBef>
                <a:spcPts val="500"/>
              </a:spcBef>
              <a:buFont typeface="Courier New,monospace"/>
              <a:buChar char="o"/>
            </a:pPr>
            <a:r>
              <a:rPr lang="en-US" sz="2000">
                <a:cs typeface="Arial"/>
              </a:rPr>
              <a:t>Plus 3 total problem areas. </a:t>
            </a:r>
          </a:p>
          <a:p>
            <a:endParaRPr lang="en-US" sz="2800"/>
          </a:p>
        </p:txBody>
      </p:sp>
    </p:spTree>
    <p:extLst>
      <p:ext uri="{BB962C8B-B14F-4D97-AF65-F5344CB8AC3E}">
        <p14:creationId xmlns:p14="http://schemas.microsoft.com/office/powerpoint/2010/main" val="10627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90E4-2912-F09C-FC0F-09C87847077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84C1F34-C99B-1A6D-7DBA-AEB25081F23A}"/>
              </a:ext>
            </a:extLst>
          </p:cNvPr>
          <p:cNvPicPr>
            <a:picLocks noChangeAspect="1"/>
          </p:cNvPicPr>
          <p:nvPr/>
        </p:nvPicPr>
        <p:blipFill>
          <a:blip r:embed="rId3"/>
          <a:srcRect r="54077"/>
          <a:stretch>
            <a:fillRect/>
          </a:stretch>
        </p:blipFill>
        <p:spPr>
          <a:xfrm>
            <a:off x="1360351" y="1690688"/>
            <a:ext cx="3005660" cy="3926996"/>
          </a:xfrm>
          <a:prstGeom prst="rect">
            <a:avLst/>
          </a:prstGeom>
        </p:spPr>
      </p:pic>
      <p:sp>
        <p:nvSpPr>
          <p:cNvPr id="9" name="Star: 5 Points 8">
            <a:extLst>
              <a:ext uri="{FF2B5EF4-FFF2-40B4-BE49-F238E27FC236}">
                <a16:creationId xmlns:a16="http://schemas.microsoft.com/office/drawing/2014/main" id="{BC90CCC2-E6B5-62AB-9B5E-4F7348D2839F}"/>
              </a:ext>
            </a:extLst>
          </p:cNvPr>
          <p:cNvSpPr/>
          <p:nvPr/>
        </p:nvSpPr>
        <p:spPr>
          <a:xfrm>
            <a:off x="2863181" y="3744693"/>
            <a:ext cx="178016" cy="138037"/>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7F160EB4-E40C-D31B-DE6A-6A830EFA348E}"/>
              </a:ext>
            </a:extLst>
          </p:cNvPr>
          <p:cNvSpPr/>
          <p:nvPr/>
        </p:nvSpPr>
        <p:spPr>
          <a:xfrm>
            <a:off x="3172537" y="3222330"/>
            <a:ext cx="178016" cy="138037"/>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C54FFBA-43E5-F334-C4B5-E4543F3CEBCB}"/>
              </a:ext>
            </a:extLst>
          </p:cNvPr>
          <p:cNvSpPr txBox="1"/>
          <p:nvPr/>
        </p:nvSpPr>
        <p:spPr>
          <a:xfrm>
            <a:off x="5380570" y="3192521"/>
            <a:ext cx="5820829" cy="923330"/>
          </a:xfrm>
          <a:prstGeom prst="rect">
            <a:avLst/>
          </a:prstGeom>
          <a:noFill/>
        </p:spPr>
        <p:txBody>
          <a:bodyPr wrap="square" rtlCol="0">
            <a:spAutoFit/>
          </a:bodyPr>
          <a:lstStyle/>
          <a:p>
            <a:pPr algn="ctr"/>
            <a:r>
              <a:rPr lang="en-US">
                <a:cs typeface="Arial" panose="020B0604020202020204" pitchFamily="34" charset="0"/>
              </a:rPr>
              <a:t>Jordan’s reported quality of life increased from 11 to 17 (6-point improvement) during the first 60 days of treatment.</a:t>
            </a:r>
          </a:p>
          <a:p>
            <a:pPr algn="ctr"/>
            <a:r>
              <a:rPr lang="en-US" b="1">
                <a:cs typeface="Arial" panose="020B0604020202020204" pitchFamily="34" charset="0"/>
              </a:rPr>
              <a:t>What does it mean?</a:t>
            </a:r>
          </a:p>
        </p:txBody>
      </p:sp>
      <p:graphicFrame>
        <p:nvGraphicFramePr>
          <p:cNvPr id="13" name="Table 12">
            <a:extLst>
              <a:ext uri="{FF2B5EF4-FFF2-40B4-BE49-F238E27FC236}">
                <a16:creationId xmlns:a16="http://schemas.microsoft.com/office/drawing/2014/main" id="{94C51E62-6DE0-9FA9-A4A3-BED0601B1454}"/>
              </a:ext>
            </a:extLst>
          </p:cNvPr>
          <p:cNvGraphicFramePr>
            <a:graphicFrameLocks noGrp="1"/>
          </p:cNvGraphicFramePr>
          <p:nvPr>
            <p:extLst>
              <p:ext uri="{D42A27DB-BD31-4B8C-83A1-F6EECF244321}">
                <p14:modId xmlns:p14="http://schemas.microsoft.com/office/powerpoint/2010/main" val="1624770216"/>
              </p:ext>
            </p:extLst>
          </p:nvPr>
        </p:nvGraphicFramePr>
        <p:xfrm>
          <a:off x="5380571" y="1960006"/>
          <a:ext cx="5820829" cy="3388360"/>
        </p:xfrm>
        <a:graphic>
          <a:graphicData uri="http://schemas.openxmlformats.org/drawingml/2006/table">
            <a:tbl>
              <a:tblPr firstRow="1" bandRow="1">
                <a:tableStyleId>{5C22544A-7EE6-4342-B048-85BDC9FD1C3A}</a:tableStyleId>
              </a:tblPr>
              <a:tblGrid>
                <a:gridCol w="999007">
                  <a:extLst>
                    <a:ext uri="{9D8B030D-6E8A-4147-A177-3AD203B41FA5}">
                      <a16:colId xmlns:a16="http://schemas.microsoft.com/office/drawing/2014/main" val="1888939230"/>
                    </a:ext>
                  </a:extLst>
                </a:gridCol>
                <a:gridCol w="1069132">
                  <a:extLst>
                    <a:ext uri="{9D8B030D-6E8A-4147-A177-3AD203B41FA5}">
                      <a16:colId xmlns:a16="http://schemas.microsoft.com/office/drawing/2014/main" val="3618351652"/>
                    </a:ext>
                  </a:extLst>
                </a:gridCol>
                <a:gridCol w="851346">
                  <a:extLst>
                    <a:ext uri="{9D8B030D-6E8A-4147-A177-3AD203B41FA5}">
                      <a16:colId xmlns:a16="http://schemas.microsoft.com/office/drawing/2014/main" val="1758793170"/>
                    </a:ext>
                  </a:extLst>
                </a:gridCol>
                <a:gridCol w="2901344">
                  <a:extLst>
                    <a:ext uri="{9D8B030D-6E8A-4147-A177-3AD203B41FA5}">
                      <a16:colId xmlns:a16="http://schemas.microsoft.com/office/drawing/2014/main" val="2507271675"/>
                    </a:ext>
                  </a:extLst>
                </a:gridCol>
              </a:tblGrid>
              <a:tr h="370840">
                <a:tc>
                  <a:txBody>
                    <a:bodyPr/>
                    <a:lstStyle/>
                    <a:p>
                      <a:pPr algn="ctr"/>
                      <a:r>
                        <a:rPr lang="en-US"/>
                        <a:t>Statistic</a:t>
                      </a:r>
                    </a:p>
                  </a:txBody>
                  <a:tcPr/>
                </a:tc>
                <a:tc>
                  <a:txBody>
                    <a:bodyPr/>
                    <a:lstStyle/>
                    <a:p>
                      <a:pPr algn="ctr"/>
                      <a:r>
                        <a:rPr lang="en-US"/>
                        <a:t>Value</a:t>
                      </a:r>
                    </a:p>
                  </a:txBody>
                  <a:tcPr/>
                </a:tc>
                <a:tc>
                  <a:txBody>
                    <a:bodyPr/>
                    <a:lstStyle/>
                    <a:p>
                      <a:pPr algn="ctr"/>
                      <a:r>
                        <a:rPr lang="en-US"/>
                        <a:t>Met?</a:t>
                      </a:r>
                    </a:p>
                  </a:txBody>
                  <a:tcPr/>
                </a:tc>
                <a:tc>
                  <a:txBody>
                    <a:bodyPr/>
                    <a:lstStyle/>
                    <a:p>
                      <a:pPr algn="ctr"/>
                      <a:r>
                        <a:rPr lang="en-US"/>
                        <a:t>Meaning</a:t>
                      </a:r>
                    </a:p>
                  </a:txBody>
                  <a:tcPr/>
                </a:tc>
                <a:extLst>
                  <a:ext uri="{0D108BD9-81ED-4DB2-BD59-A6C34878D82A}">
                    <a16:rowId xmlns:a16="http://schemas.microsoft.com/office/drawing/2014/main" val="4191639638"/>
                  </a:ext>
                </a:extLst>
              </a:tr>
              <a:tr h="370840">
                <a:tc>
                  <a:txBody>
                    <a:bodyPr/>
                    <a:lstStyle/>
                    <a:p>
                      <a:pPr algn="ctr"/>
                      <a:r>
                        <a:rPr lang="en-US"/>
                        <a:t>MID</a:t>
                      </a:r>
                    </a:p>
                  </a:txBody>
                  <a:tcPr anchor="ctr"/>
                </a:tc>
                <a:tc>
                  <a:txBody>
                    <a:bodyPr/>
                    <a:lstStyle/>
                    <a:p>
                      <a:pPr algn="ctr"/>
                      <a:r>
                        <a:rPr lang="en-US"/>
                        <a:t>2.14</a:t>
                      </a:r>
                    </a:p>
                  </a:txBody>
                  <a:tcPr anchor="ctr"/>
                </a:tc>
                <a:tc>
                  <a:txBody>
                    <a:bodyPr/>
                    <a:lstStyle/>
                    <a:p>
                      <a:pPr algn="ctr"/>
                      <a:r>
                        <a:rPr lang="en-US"/>
                        <a:t>Yes</a:t>
                      </a:r>
                    </a:p>
                  </a:txBody>
                  <a:tcPr anchor="ctr"/>
                </a:tc>
                <a:tc>
                  <a:txBody>
                    <a:bodyPr/>
                    <a:lstStyle/>
                    <a:p>
                      <a:pPr algn="ctr"/>
                      <a:r>
                        <a:rPr lang="en-US"/>
                        <a:t>A change in NQLS score of at least 3 points indicates personally noticeable change.</a:t>
                      </a:r>
                    </a:p>
                  </a:txBody>
                  <a:tcPr anchor="ctr"/>
                </a:tc>
                <a:extLst>
                  <a:ext uri="{0D108BD9-81ED-4DB2-BD59-A6C34878D82A}">
                    <a16:rowId xmlns:a16="http://schemas.microsoft.com/office/drawing/2014/main" val="3631760526"/>
                  </a:ext>
                </a:extLst>
              </a:tr>
              <a:tr h="370840">
                <a:tc>
                  <a:txBody>
                    <a:bodyPr/>
                    <a:lstStyle/>
                    <a:p>
                      <a:pPr algn="ctr"/>
                      <a:r>
                        <a:rPr lang="en-US"/>
                        <a:t>RCI (90)</a:t>
                      </a:r>
                    </a:p>
                  </a:txBody>
                  <a:tcPr anchor="ctr"/>
                </a:tc>
                <a:tc>
                  <a:txBody>
                    <a:bodyPr/>
                    <a:lstStyle/>
                    <a:p>
                      <a:pPr algn="ctr"/>
                      <a:r>
                        <a:rPr lang="en-US"/>
                        <a:t>5.19</a:t>
                      </a:r>
                    </a:p>
                  </a:txBody>
                  <a:tcPr anchor="ctr"/>
                </a:tc>
                <a:tc>
                  <a:txBody>
                    <a:bodyPr/>
                    <a:lstStyle/>
                    <a:p>
                      <a:pPr algn="ctr"/>
                      <a:r>
                        <a:rPr lang="en-US"/>
                        <a:t>Yes</a:t>
                      </a:r>
                    </a:p>
                  </a:txBody>
                  <a:tcPr anchor="ctr"/>
                </a:tc>
                <a:tc>
                  <a:txBody>
                    <a:bodyPr/>
                    <a:lstStyle/>
                    <a:p>
                      <a:pPr algn="ctr"/>
                      <a:r>
                        <a:rPr lang="en-US"/>
                        <a:t>The observed change reflects genuine change in quality of life opposed to “noise” with 90% confidence.</a:t>
                      </a:r>
                    </a:p>
                  </a:txBody>
                  <a:tcPr anchor="ctr"/>
                </a:tc>
                <a:extLst>
                  <a:ext uri="{0D108BD9-81ED-4DB2-BD59-A6C34878D82A}">
                    <a16:rowId xmlns:a16="http://schemas.microsoft.com/office/drawing/2014/main" val="1622952226"/>
                  </a:ext>
                </a:extLst>
              </a:tr>
              <a:tr h="370840">
                <a:tc>
                  <a:txBody>
                    <a:bodyPr/>
                    <a:lstStyle/>
                    <a:p>
                      <a:pPr algn="ctr"/>
                      <a:r>
                        <a:rPr lang="en-US"/>
                        <a:t>RCI (95)</a:t>
                      </a:r>
                    </a:p>
                  </a:txBody>
                  <a:tcPr anchor="ctr"/>
                </a:tc>
                <a:tc>
                  <a:txBody>
                    <a:bodyPr/>
                    <a:lstStyle/>
                    <a:p>
                      <a:pPr algn="ctr"/>
                      <a:r>
                        <a:rPr lang="en-US"/>
                        <a:t>6.19</a:t>
                      </a:r>
                    </a:p>
                  </a:txBody>
                  <a:tcPr anchor="ctr"/>
                </a:tc>
                <a:tc>
                  <a:txBody>
                    <a:bodyPr/>
                    <a:lstStyle/>
                    <a:p>
                      <a:pPr algn="ctr"/>
                      <a:r>
                        <a:rPr lang="en-US"/>
                        <a:t>No</a:t>
                      </a:r>
                    </a:p>
                  </a:txBody>
                  <a:tcPr anchor="ctr"/>
                </a:tc>
                <a:tc>
                  <a:txBody>
                    <a:bodyPr/>
                    <a:lstStyle/>
                    <a:p>
                      <a:pPr algn="ctr"/>
                      <a:r>
                        <a:rPr lang="en-US"/>
                        <a:t>We cannot say with 95% confidence that the observed change is genuine.</a:t>
                      </a:r>
                    </a:p>
                  </a:txBody>
                  <a:tcPr anchor="ctr"/>
                </a:tc>
                <a:extLst>
                  <a:ext uri="{0D108BD9-81ED-4DB2-BD59-A6C34878D82A}">
                    <a16:rowId xmlns:a16="http://schemas.microsoft.com/office/drawing/2014/main" val="4042519972"/>
                  </a:ext>
                </a:extLst>
              </a:tr>
            </a:tbl>
          </a:graphicData>
        </a:graphic>
      </p:graphicFrame>
      <p:sp>
        <p:nvSpPr>
          <p:cNvPr id="16" name="Title 1">
            <a:extLst>
              <a:ext uri="{FF2B5EF4-FFF2-40B4-BE49-F238E27FC236}">
                <a16:creationId xmlns:a16="http://schemas.microsoft.com/office/drawing/2014/main" id="{1756E8A0-D509-259C-CBD1-8B773C50C5AC}"/>
              </a:ext>
            </a:extLst>
          </p:cNvPr>
          <p:cNvSpPr>
            <a:spLocks noGrp="1"/>
          </p:cNvSpPr>
          <p:nvPr>
            <p:ph type="title"/>
          </p:nvPr>
        </p:nvSpPr>
        <p:spPr>
          <a:xfrm>
            <a:off x="838200" y="581891"/>
            <a:ext cx="4739640" cy="1108797"/>
          </a:xfrm>
        </p:spPr>
        <p:txBody>
          <a:bodyPr>
            <a:normAutofit fontScale="90000"/>
          </a:bodyPr>
          <a:lstStyle/>
          <a:p>
            <a:r>
              <a:rPr lang="en-US"/>
              <a:t>Reliable Change (RCI)</a:t>
            </a:r>
            <a:br>
              <a:rPr lang="en-US"/>
            </a:br>
            <a:r>
              <a:rPr lang="en-US" sz="1600"/>
              <a:t>(Nienaber et al., under review)</a:t>
            </a:r>
            <a:endParaRPr lang="en-US"/>
          </a:p>
        </p:txBody>
      </p:sp>
    </p:spTree>
    <p:extLst>
      <p:ext uri="{BB962C8B-B14F-4D97-AF65-F5344CB8AC3E}">
        <p14:creationId xmlns:p14="http://schemas.microsoft.com/office/powerpoint/2010/main" val="209692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0456 -0.0037 L -0.00326 -0.31273 " pathEditMode="relative" rAng="0" ptsTypes="AA">
                                      <p:cBhvr>
                                        <p:cTn id="6" dur="2000" fill="hold"/>
                                        <p:tgtEl>
                                          <p:spTgt spid="12"/>
                                        </p:tgtEl>
                                        <p:attrNameLst>
                                          <p:attrName>ppt_x</p:attrName>
                                          <p:attrName>ppt_y</p:attrName>
                                        </p:attrNameLst>
                                      </p:cBhvr>
                                      <p:rCtr x="65" y="-15463"/>
                                    </p:animMotion>
                                  </p:childTnLst>
                                </p:cTn>
                              </p:par>
                              <p:par>
                                <p:cTn id="7" presetID="1" presetClass="entr" presetSubtype="0" fill="hold" nodeType="withEffect">
                                  <p:stCondLst>
                                    <p:cond delay="175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AE5460-08BD-0F1B-EF94-4BE45E01DB3C}"/>
              </a:ext>
            </a:extLst>
          </p:cNvPr>
          <p:cNvPicPr>
            <a:picLocks noChangeAspect="1"/>
          </p:cNvPicPr>
          <p:nvPr/>
        </p:nvPicPr>
        <p:blipFill>
          <a:blip r:embed="rId3"/>
          <a:stretch>
            <a:fillRect/>
          </a:stretch>
        </p:blipFill>
        <p:spPr>
          <a:xfrm>
            <a:off x="1196946" y="1388866"/>
            <a:ext cx="7195214" cy="4317128"/>
          </a:xfrm>
          <a:prstGeom prst="rect">
            <a:avLst/>
          </a:prstGeom>
        </p:spPr>
      </p:pic>
      <p:sp>
        <p:nvSpPr>
          <p:cNvPr id="12" name="Star: 5 Points 11">
            <a:extLst>
              <a:ext uri="{FF2B5EF4-FFF2-40B4-BE49-F238E27FC236}">
                <a16:creationId xmlns:a16="http://schemas.microsoft.com/office/drawing/2014/main" id="{F9DE9B2D-FEF4-8278-23E7-7EED8E1594B6}"/>
              </a:ext>
            </a:extLst>
          </p:cNvPr>
          <p:cNvSpPr/>
          <p:nvPr/>
        </p:nvSpPr>
        <p:spPr>
          <a:xfrm>
            <a:off x="2919327" y="3693457"/>
            <a:ext cx="194078" cy="17340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tar: 5 Points 13">
            <a:extLst>
              <a:ext uri="{FF2B5EF4-FFF2-40B4-BE49-F238E27FC236}">
                <a16:creationId xmlns:a16="http://schemas.microsoft.com/office/drawing/2014/main" id="{9AE2EF08-595A-2CAC-16A2-CD9358648EDF}"/>
              </a:ext>
            </a:extLst>
          </p:cNvPr>
          <p:cNvSpPr/>
          <p:nvPr/>
        </p:nvSpPr>
        <p:spPr>
          <a:xfrm>
            <a:off x="3164205" y="3062255"/>
            <a:ext cx="194078" cy="17340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7B423029-4EC7-AAC3-225A-E4782D3323A0}"/>
              </a:ext>
            </a:extLst>
          </p:cNvPr>
          <p:cNvSpPr>
            <a:spLocks noGrp="1"/>
          </p:cNvSpPr>
          <p:nvPr>
            <p:ph type="title"/>
          </p:nvPr>
        </p:nvSpPr>
        <p:spPr>
          <a:xfrm>
            <a:off x="838200" y="581891"/>
            <a:ext cx="7716520" cy="1108797"/>
          </a:xfrm>
        </p:spPr>
        <p:txBody>
          <a:bodyPr>
            <a:normAutofit/>
          </a:bodyPr>
          <a:lstStyle/>
          <a:p>
            <a:r>
              <a:rPr lang="en-US"/>
              <a:t>Clinical Significance Benchmarks </a:t>
            </a:r>
            <a:r>
              <a:rPr lang="en-US" sz="1600"/>
              <a:t>(Nienaber et al., under review)</a:t>
            </a:r>
            <a:endParaRPr lang="en-US"/>
          </a:p>
        </p:txBody>
      </p:sp>
      <p:sp>
        <p:nvSpPr>
          <p:cNvPr id="19" name="TextBox 18">
            <a:extLst>
              <a:ext uri="{FF2B5EF4-FFF2-40B4-BE49-F238E27FC236}">
                <a16:creationId xmlns:a16="http://schemas.microsoft.com/office/drawing/2014/main" id="{822DE687-8381-C504-68DC-F98C474E143C}"/>
              </a:ext>
            </a:extLst>
          </p:cNvPr>
          <p:cNvSpPr txBox="1"/>
          <p:nvPr/>
        </p:nvSpPr>
        <p:spPr>
          <a:xfrm>
            <a:off x="8554720" y="1859339"/>
            <a:ext cx="2966720" cy="3416320"/>
          </a:xfrm>
          <a:prstGeom prst="rect">
            <a:avLst/>
          </a:prstGeom>
          <a:noFill/>
        </p:spPr>
        <p:txBody>
          <a:bodyPr wrap="square" rtlCol="0">
            <a:spAutoFit/>
          </a:bodyPr>
          <a:lstStyle/>
          <a:p>
            <a:r>
              <a:rPr lang="en-US" b="1" dirty="0"/>
              <a:t>A = “Away”</a:t>
            </a:r>
          </a:p>
          <a:p>
            <a:pPr marL="285750" indent="-285750">
              <a:buFont typeface="Arial" panose="020B0604020202020204" pitchFamily="34" charset="0"/>
              <a:buChar char="•"/>
            </a:pPr>
            <a:r>
              <a:rPr lang="en-US" dirty="0"/>
              <a:t>Clinical mean + 2*SD </a:t>
            </a:r>
          </a:p>
          <a:p>
            <a:endParaRPr lang="en-US" dirty="0"/>
          </a:p>
          <a:p>
            <a:r>
              <a:rPr lang="en-US" b="1" dirty="0"/>
              <a:t>C = “Crossing Closer”</a:t>
            </a:r>
          </a:p>
          <a:p>
            <a:pPr marL="285750" indent="-285750">
              <a:buFont typeface="Arial" panose="020B0604020202020204" pitchFamily="34" charset="0"/>
              <a:buChar char="•"/>
            </a:pPr>
            <a:r>
              <a:rPr lang="en-US" dirty="0"/>
              <a:t>Crossing the estimated boundary (norm vs clinical)</a:t>
            </a:r>
          </a:p>
          <a:p>
            <a:endParaRPr lang="en-US" dirty="0"/>
          </a:p>
          <a:p>
            <a:r>
              <a:rPr lang="en-US" b="1" dirty="0"/>
              <a:t>B = “Back”</a:t>
            </a:r>
          </a:p>
          <a:p>
            <a:pPr marL="285750" indent="-285750">
              <a:buFont typeface="Arial" panose="020B0604020202020204" pitchFamily="34" charset="0"/>
              <a:buChar char="•"/>
            </a:pPr>
            <a:r>
              <a:rPr lang="en-US" dirty="0"/>
              <a:t>Non-clinical mean - 2*SD </a:t>
            </a:r>
          </a:p>
          <a:p>
            <a:endParaRPr lang="en-US" dirty="0"/>
          </a:p>
          <a:p>
            <a:pPr algn="ctr"/>
            <a:r>
              <a:rPr lang="en-US" b="1" i="1" dirty="0"/>
              <a:t>**Scores are relative based on target population**</a:t>
            </a:r>
          </a:p>
        </p:txBody>
      </p:sp>
    </p:spTree>
    <p:extLst>
      <p:ext uri="{BB962C8B-B14F-4D97-AF65-F5344CB8AC3E}">
        <p14:creationId xmlns:p14="http://schemas.microsoft.com/office/powerpoint/2010/main" val="249630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99" cy="6858000"/>
          </a:xfrm>
          <a:prstGeom prst="rect">
            <a:avLst/>
          </a:prstGeom>
        </p:spPr>
      </p:pic>
      <p:sp>
        <p:nvSpPr>
          <p:cNvPr id="3" name="Text 0"/>
          <p:cNvSpPr/>
          <p:nvPr/>
        </p:nvSpPr>
        <p:spPr>
          <a:xfrm>
            <a:off x="812782" y="40634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A1A1A"/>
                </a:solidFill>
                <a:latin typeface="Roboto" pitchFamily="34" charset="0"/>
                <a:ea typeface="Roboto" pitchFamily="34" charset="-122"/>
                <a:cs typeface="Roboto" pitchFamily="34" charset="-120"/>
              </a:rPr>
              <a:t>Reading the Vanderbilt as a Provider</a:t>
            </a:r>
            <a:endParaRPr lang="en-US" sz="3200" dirty="0"/>
          </a:p>
        </p:txBody>
      </p:sp>
      <p:sp>
        <p:nvSpPr>
          <p:cNvPr id="4" name="Text 1"/>
          <p:cNvSpPr/>
          <p:nvPr/>
        </p:nvSpPr>
        <p:spPr>
          <a:xfrm>
            <a:off x="812782" y="891435"/>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A1A1A"/>
                </a:solidFill>
                <a:latin typeface="Roboto" pitchFamily="34" charset="0"/>
                <a:ea typeface="Roboto" pitchFamily="34" charset="-122"/>
                <a:cs typeface="Roboto" pitchFamily="34" charset="-120"/>
              </a:rPr>
              <a:t>(Wolraich et al., 2003; NICHQ Vanderbilt Assessment Scales; Epstein et al., 2010)</a:t>
            </a:r>
            <a:endParaRPr lang="en-US" sz="1200" dirty="0"/>
          </a:p>
        </p:txBody>
      </p:sp>
      <p:sp>
        <p:nvSpPr>
          <p:cNvPr id="5" name="Shape 2"/>
          <p:cNvSpPr/>
          <p:nvPr/>
        </p:nvSpPr>
        <p:spPr>
          <a:xfrm>
            <a:off x="815957" y="1311239"/>
            <a:ext cx="3676650" cy="4235432"/>
          </a:xfrm>
          <a:prstGeom prst="roundRect">
            <a:avLst>
              <a:gd name="adj" fmla="val 1641"/>
            </a:avLst>
          </a:prstGeom>
          <a:solidFill>
            <a:srgbClr val="FFFFFF"/>
          </a:solidFill>
          <a:ln w="6350">
            <a:solidFill>
              <a:srgbClr val="C9D1DB"/>
            </a:solidFill>
            <a:prstDash val="solid"/>
          </a:ln>
          <a:effectLst>
            <a:outerShdw blurRad="165100" dist="63500" dir="5400000" algn="bl" rotWithShape="0">
              <a:srgbClr val="0E3F75">
                <a:alpha val="18000"/>
              </a:srgbClr>
            </a:outerShdw>
          </a:effectLst>
        </p:spPr>
        <p:txBody>
          <a:bodyPr/>
          <a:lstStyle/>
          <a:p>
            <a:endParaRPr lang="en-US"/>
          </a:p>
        </p:txBody>
      </p:sp>
      <p:sp>
        <p:nvSpPr>
          <p:cNvPr id="6" name="Shape 3"/>
          <p:cNvSpPr/>
          <p:nvPr/>
        </p:nvSpPr>
        <p:spPr>
          <a:xfrm>
            <a:off x="818555" y="1313836"/>
            <a:ext cx="3671455" cy="340410"/>
          </a:xfrm>
          <a:custGeom>
            <a:avLst/>
            <a:gdLst/>
            <a:ahLst/>
            <a:cxnLst/>
            <a:rect l="l" t="t" r="r" b="b"/>
            <a:pathLst>
              <a:path w="3671455" h="340410">
                <a:moveTo>
                  <a:pt x="0" y="57727"/>
                </a:moveTo>
                <a:arcTo wR="57727" hR="57727" stAng="10800000" swAng="5400000"/>
                <a:lnTo>
                  <a:pt x="3613727" y="0"/>
                </a:lnTo>
                <a:arcTo wR="57727" hR="57727" stAng="16200000" swAng="5400000"/>
                <a:lnTo>
                  <a:pt x="3671455" y="340410"/>
                </a:lnTo>
                <a:lnTo>
                  <a:pt x="0" y="340410"/>
                </a:lnTo>
                <a:close/>
              </a:path>
            </a:pathLst>
          </a:custGeom>
          <a:solidFill>
            <a:srgbClr val="33415C"/>
          </a:solidFill>
          <a:ln/>
        </p:spPr>
        <p:txBody>
          <a:bodyPr/>
          <a:lstStyle/>
          <a:p>
            <a:endParaRPr lang="en-US"/>
          </a:p>
        </p:txBody>
      </p:sp>
      <p:sp>
        <p:nvSpPr>
          <p:cNvPr id="7" name="Text 4"/>
          <p:cNvSpPr/>
          <p:nvPr/>
        </p:nvSpPr>
        <p:spPr>
          <a:xfrm>
            <a:off x="920155" y="1377336"/>
            <a:ext cx="3572302"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Roboto" pitchFamily="34" charset="0"/>
                <a:ea typeface="Roboto" pitchFamily="34" charset="-122"/>
                <a:cs typeface="Roboto" pitchFamily="34" charset="-120"/>
              </a:rPr>
              <a:t>Vanderbilt form (schematic)</a:t>
            </a:r>
            <a:endParaRPr lang="en-US" sz="1200" dirty="0"/>
          </a:p>
        </p:txBody>
      </p:sp>
      <p:sp>
        <p:nvSpPr>
          <p:cNvPr id="8" name="Shape 5"/>
          <p:cNvSpPr/>
          <p:nvPr/>
        </p:nvSpPr>
        <p:spPr>
          <a:xfrm>
            <a:off x="907401" y="1717747"/>
            <a:ext cx="3493763" cy="457128"/>
          </a:xfrm>
          <a:prstGeom prst="roundRect">
            <a:avLst>
              <a:gd name="adj" fmla="val 8335"/>
            </a:avLst>
          </a:prstGeom>
          <a:solidFill>
            <a:srgbClr val="EAF2FA"/>
          </a:solidFill>
          <a:ln/>
        </p:spPr>
        <p:txBody>
          <a:bodyPr/>
          <a:lstStyle/>
          <a:p>
            <a:endParaRPr lang="en-US"/>
          </a:p>
        </p:txBody>
      </p:sp>
      <p:sp>
        <p:nvSpPr>
          <p:cNvPr id="9" name="Shape 6"/>
          <p:cNvSpPr/>
          <p:nvPr/>
        </p:nvSpPr>
        <p:spPr>
          <a:xfrm>
            <a:off x="907401" y="1717747"/>
            <a:ext cx="3493763" cy="457128"/>
          </a:xfrm>
          <a:custGeom>
            <a:avLst/>
            <a:gdLst/>
            <a:ahLst/>
            <a:cxnLst/>
            <a:rect l="l" t="t" r="r" b="b"/>
            <a:pathLst>
              <a:path w="3493763" h="457128">
                <a:moveTo>
                  <a:pt x="50800" y="457128"/>
                </a:moveTo>
                <a:lnTo>
                  <a:pt x="38100" y="457128"/>
                </a:lnTo>
                <a:arcTo wR="38100" hR="38100" stAng="5400000" swAng="5400000"/>
                <a:lnTo>
                  <a:pt x="0" y="38100"/>
                </a:lnTo>
                <a:arcTo wR="38100" hR="38100" stAng="10800000" swAng="5400000"/>
                <a:lnTo>
                  <a:pt x="50800" y="0"/>
                </a:lnTo>
                <a:lnTo>
                  <a:pt x="50800" y="457128"/>
                </a:lnTo>
                <a:close/>
              </a:path>
            </a:pathLst>
          </a:custGeom>
          <a:solidFill>
            <a:srgbClr val="2E7CC0"/>
          </a:solidFill>
          <a:ln/>
        </p:spPr>
        <p:txBody>
          <a:bodyPr/>
          <a:lstStyle/>
          <a:p>
            <a:endParaRPr lang="en-US"/>
          </a:p>
        </p:txBody>
      </p:sp>
      <p:sp>
        <p:nvSpPr>
          <p:cNvPr id="10" name="Shape 7"/>
          <p:cNvSpPr/>
          <p:nvPr/>
        </p:nvSpPr>
        <p:spPr>
          <a:xfrm>
            <a:off x="1042428" y="1781247"/>
            <a:ext cx="215846" cy="215846"/>
          </a:xfrm>
          <a:prstGeom prst="roundRect">
            <a:avLst>
              <a:gd name="adj" fmla="val 50000"/>
            </a:avLst>
          </a:prstGeom>
          <a:solidFill>
            <a:srgbClr val="2E6DA8"/>
          </a:solidFill>
          <a:ln/>
        </p:spPr>
        <p:txBody>
          <a:bodyPr/>
          <a:lstStyle/>
          <a:p>
            <a:endParaRPr lang="en-US"/>
          </a:p>
        </p:txBody>
      </p:sp>
      <p:sp>
        <p:nvSpPr>
          <p:cNvPr id="11" name="Text 8"/>
          <p:cNvSpPr/>
          <p:nvPr/>
        </p:nvSpPr>
        <p:spPr>
          <a:xfrm>
            <a:off x="1017028" y="1781247"/>
            <a:ext cx="266646" cy="241246"/>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FFFFF"/>
                </a:solidFill>
                <a:latin typeface="Roboto" pitchFamily="34" charset="0"/>
                <a:ea typeface="Roboto" pitchFamily="34" charset="-122"/>
                <a:cs typeface="Roboto" pitchFamily="34" charset="-120"/>
              </a:rPr>
              <a:t>1</a:t>
            </a:r>
            <a:endParaRPr lang="en-US" sz="1200" dirty="0"/>
          </a:p>
        </p:txBody>
      </p:sp>
      <p:sp>
        <p:nvSpPr>
          <p:cNvPr id="12" name="Text 9"/>
          <p:cNvSpPr/>
          <p:nvPr/>
        </p:nvSpPr>
        <p:spPr>
          <a:xfrm>
            <a:off x="1321774" y="1782419"/>
            <a:ext cx="1215448"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6DA8"/>
                </a:solidFill>
                <a:latin typeface="Roboto" pitchFamily="34" charset="0"/>
                <a:ea typeface="Roboto" pitchFamily="34" charset="-122"/>
                <a:cs typeface="Roboto" pitchFamily="34" charset="-120"/>
              </a:rPr>
              <a:t>ADHD symptoms</a:t>
            </a:r>
            <a:endParaRPr lang="en-US" sz="1200" dirty="0"/>
          </a:p>
        </p:txBody>
      </p:sp>
      <p:sp>
        <p:nvSpPr>
          <p:cNvPr id="13" name="Shape 10"/>
          <p:cNvSpPr/>
          <p:nvPr/>
        </p:nvSpPr>
        <p:spPr>
          <a:xfrm>
            <a:off x="1042428" y="2047875"/>
            <a:ext cx="3269889" cy="63500"/>
          </a:xfrm>
          <a:prstGeom prst="roundRect">
            <a:avLst>
              <a:gd name="adj" fmla="val 50000"/>
            </a:avLst>
          </a:prstGeom>
          <a:solidFill>
            <a:srgbClr val="C9D1DB"/>
          </a:solidFill>
          <a:ln/>
        </p:spPr>
        <p:txBody>
          <a:bodyPr/>
          <a:lstStyle/>
          <a:p>
            <a:endParaRPr lang="en-US"/>
          </a:p>
        </p:txBody>
      </p:sp>
      <p:sp>
        <p:nvSpPr>
          <p:cNvPr id="14" name="Shape 11"/>
          <p:cNvSpPr/>
          <p:nvPr/>
        </p:nvSpPr>
        <p:spPr>
          <a:xfrm>
            <a:off x="907401" y="2238375"/>
            <a:ext cx="3493763" cy="457128"/>
          </a:xfrm>
          <a:prstGeom prst="roundRect">
            <a:avLst>
              <a:gd name="adj" fmla="val 8335"/>
            </a:avLst>
          </a:prstGeom>
          <a:solidFill>
            <a:srgbClr val="FFF6EC"/>
          </a:solidFill>
          <a:ln/>
        </p:spPr>
        <p:txBody>
          <a:bodyPr/>
          <a:lstStyle/>
          <a:p>
            <a:endParaRPr lang="en-US"/>
          </a:p>
        </p:txBody>
      </p:sp>
      <p:sp>
        <p:nvSpPr>
          <p:cNvPr id="15" name="Shape 12"/>
          <p:cNvSpPr/>
          <p:nvPr/>
        </p:nvSpPr>
        <p:spPr>
          <a:xfrm>
            <a:off x="907401" y="2238375"/>
            <a:ext cx="3493763" cy="457128"/>
          </a:xfrm>
          <a:custGeom>
            <a:avLst/>
            <a:gdLst/>
            <a:ahLst/>
            <a:cxnLst/>
            <a:rect l="l" t="t" r="r" b="b"/>
            <a:pathLst>
              <a:path w="3493763" h="457128">
                <a:moveTo>
                  <a:pt x="50800" y="457128"/>
                </a:moveTo>
                <a:lnTo>
                  <a:pt x="38100" y="457128"/>
                </a:lnTo>
                <a:arcTo wR="38100" hR="38100" stAng="5400000" swAng="5400000"/>
                <a:lnTo>
                  <a:pt x="0" y="38100"/>
                </a:lnTo>
                <a:arcTo wR="38100" hR="38100" stAng="10800000" swAng="5400000"/>
                <a:lnTo>
                  <a:pt x="50800" y="0"/>
                </a:lnTo>
                <a:lnTo>
                  <a:pt x="50800" y="457128"/>
                </a:lnTo>
                <a:close/>
              </a:path>
            </a:pathLst>
          </a:custGeom>
          <a:solidFill>
            <a:srgbClr val="E78D2C"/>
          </a:solidFill>
          <a:ln/>
        </p:spPr>
        <p:txBody>
          <a:bodyPr/>
          <a:lstStyle/>
          <a:p>
            <a:endParaRPr lang="en-US"/>
          </a:p>
        </p:txBody>
      </p:sp>
      <p:sp>
        <p:nvSpPr>
          <p:cNvPr id="16" name="Shape 13"/>
          <p:cNvSpPr/>
          <p:nvPr/>
        </p:nvSpPr>
        <p:spPr>
          <a:xfrm>
            <a:off x="1042428" y="2301875"/>
            <a:ext cx="215846" cy="215846"/>
          </a:xfrm>
          <a:prstGeom prst="roundRect">
            <a:avLst>
              <a:gd name="adj" fmla="val 50000"/>
            </a:avLst>
          </a:prstGeom>
          <a:solidFill>
            <a:srgbClr val="B35A12"/>
          </a:solidFill>
          <a:ln/>
        </p:spPr>
        <p:txBody>
          <a:bodyPr/>
          <a:lstStyle/>
          <a:p>
            <a:endParaRPr lang="en-US"/>
          </a:p>
        </p:txBody>
      </p:sp>
      <p:sp>
        <p:nvSpPr>
          <p:cNvPr id="17" name="Text 14"/>
          <p:cNvSpPr/>
          <p:nvPr/>
        </p:nvSpPr>
        <p:spPr>
          <a:xfrm>
            <a:off x="1017028" y="2301875"/>
            <a:ext cx="266646" cy="241246"/>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FFFFF"/>
                </a:solidFill>
                <a:latin typeface="Roboto" pitchFamily="34" charset="0"/>
                <a:ea typeface="Roboto" pitchFamily="34" charset="-122"/>
                <a:cs typeface="Roboto" pitchFamily="34" charset="-120"/>
              </a:rPr>
              <a:t>2</a:t>
            </a:r>
            <a:endParaRPr lang="en-US" sz="1200" dirty="0"/>
          </a:p>
        </p:txBody>
      </p:sp>
      <p:sp>
        <p:nvSpPr>
          <p:cNvPr id="18" name="Text 15"/>
          <p:cNvSpPr/>
          <p:nvPr/>
        </p:nvSpPr>
        <p:spPr>
          <a:xfrm>
            <a:off x="1321774" y="2303047"/>
            <a:ext cx="1602491"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5A12"/>
                </a:solidFill>
                <a:latin typeface="Roboto" pitchFamily="34" charset="0"/>
                <a:ea typeface="Roboto" pitchFamily="34" charset="-122"/>
                <a:cs typeface="Roboto" pitchFamily="34" charset="-120"/>
              </a:rPr>
              <a:t>Oppositional / conduct</a:t>
            </a:r>
            <a:endParaRPr lang="en-US" sz="1200" dirty="0"/>
          </a:p>
        </p:txBody>
      </p:sp>
      <p:sp>
        <p:nvSpPr>
          <p:cNvPr id="19" name="Shape 16"/>
          <p:cNvSpPr/>
          <p:nvPr/>
        </p:nvSpPr>
        <p:spPr>
          <a:xfrm>
            <a:off x="1042428" y="2568502"/>
            <a:ext cx="3269889" cy="63500"/>
          </a:xfrm>
          <a:prstGeom prst="roundRect">
            <a:avLst>
              <a:gd name="adj" fmla="val 50000"/>
            </a:avLst>
          </a:prstGeom>
          <a:solidFill>
            <a:srgbClr val="C9D1DB"/>
          </a:solidFill>
          <a:ln/>
        </p:spPr>
        <p:txBody>
          <a:bodyPr/>
          <a:lstStyle/>
          <a:p>
            <a:endParaRPr lang="en-US"/>
          </a:p>
        </p:txBody>
      </p:sp>
      <p:sp>
        <p:nvSpPr>
          <p:cNvPr id="20" name="Shape 17"/>
          <p:cNvSpPr/>
          <p:nvPr/>
        </p:nvSpPr>
        <p:spPr>
          <a:xfrm>
            <a:off x="907401" y="2759002"/>
            <a:ext cx="3493763" cy="457128"/>
          </a:xfrm>
          <a:prstGeom prst="roundRect">
            <a:avLst>
              <a:gd name="adj" fmla="val 8335"/>
            </a:avLst>
          </a:prstGeom>
          <a:solidFill>
            <a:srgbClr val="F6ECF5"/>
          </a:solidFill>
          <a:ln/>
        </p:spPr>
        <p:txBody>
          <a:bodyPr/>
          <a:lstStyle/>
          <a:p>
            <a:endParaRPr lang="en-US"/>
          </a:p>
        </p:txBody>
      </p:sp>
      <p:sp>
        <p:nvSpPr>
          <p:cNvPr id="21" name="Shape 18"/>
          <p:cNvSpPr/>
          <p:nvPr/>
        </p:nvSpPr>
        <p:spPr>
          <a:xfrm>
            <a:off x="907401" y="2759002"/>
            <a:ext cx="3493763" cy="457128"/>
          </a:xfrm>
          <a:custGeom>
            <a:avLst/>
            <a:gdLst/>
            <a:ahLst/>
            <a:cxnLst/>
            <a:rect l="l" t="t" r="r" b="b"/>
            <a:pathLst>
              <a:path w="3493763" h="457128">
                <a:moveTo>
                  <a:pt x="50800" y="457128"/>
                </a:moveTo>
                <a:lnTo>
                  <a:pt x="38100" y="457128"/>
                </a:lnTo>
                <a:arcTo wR="38100" hR="38100" stAng="5400000" swAng="5400000"/>
                <a:lnTo>
                  <a:pt x="0" y="38100"/>
                </a:lnTo>
                <a:arcTo wR="38100" hR="38100" stAng="10800000" swAng="5400000"/>
                <a:lnTo>
                  <a:pt x="50800" y="0"/>
                </a:lnTo>
                <a:lnTo>
                  <a:pt x="50800" y="457128"/>
                </a:lnTo>
                <a:close/>
              </a:path>
            </a:pathLst>
          </a:custGeom>
          <a:solidFill>
            <a:srgbClr val="9B4191"/>
          </a:solidFill>
          <a:ln/>
        </p:spPr>
        <p:txBody>
          <a:bodyPr/>
          <a:lstStyle/>
          <a:p>
            <a:endParaRPr lang="en-US"/>
          </a:p>
        </p:txBody>
      </p:sp>
      <p:sp>
        <p:nvSpPr>
          <p:cNvPr id="22" name="Shape 19"/>
          <p:cNvSpPr/>
          <p:nvPr/>
        </p:nvSpPr>
        <p:spPr>
          <a:xfrm>
            <a:off x="1042428" y="2822502"/>
            <a:ext cx="215846" cy="215846"/>
          </a:xfrm>
          <a:prstGeom prst="roundRect">
            <a:avLst>
              <a:gd name="adj" fmla="val 50000"/>
            </a:avLst>
          </a:prstGeom>
          <a:solidFill>
            <a:srgbClr val="8A3A80"/>
          </a:solidFill>
          <a:ln/>
        </p:spPr>
        <p:txBody>
          <a:bodyPr/>
          <a:lstStyle/>
          <a:p>
            <a:endParaRPr lang="en-US"/>
          </a:p>
        </p:txBody>
      </p:sp>
      <p:sp>
        <p:nvSpPr>
          <p:cNvPr id="23" name="Text 20"/>
          <p:cNvSpPr/>
          <p:nvPr/>
        </p:nvSpPr>
        <p:spPr>
          <a:xfrm>
            <a:off x="1017028" y="2822502"/>
            <a:ext cx="266646" cy="241246"/>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FFFFF"/>
                </a:solidFill>
                <a:latin typeface="Roboto" pitchFamily="34" charset="0"/>
                <a:ea typeface="Roboto" pitchFamily="34" charset="-122"/>
                <a:cs typeface="Roboto" pitchFamily="34" charset="-120"/>
              </a:rPr>
              <a:t>3</a:t>
            </a:r>
            <a:endParaRPr lang="en-US" sz="1200" dirty="0"/>
          </a:p>
        </p:txBody>
      </p:sp>
      <p:sp>
        <p:nvSpPr>
          <p:cNvPr id="24" name="Text 21"/>
          <p:cNvSpPr/>
          <p:nvPr/>
        </p:nvSpPr>
        <p:spPr>
          <a:xfrm>
            <a:off x="1321774" y="2823675"/>
            <a:ext cx="1455918"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A80"/>
                </a:solidFill>
                <a:latin typeface="Roboto" pitchFamily="34" charset="0"/>
                <a:ea typeface="Roboto" pitchFamily="34" charset="-122"/>
                <a:cs typeface="Roboto" pitchFamily="34" charset="-120"/>
              </a:rPr>
              <a:t>Anxiety / depression</a:t>
            </a:r>
            <a:endParaRPr lang="en-US" sz="1200" dirty="0"/>
          </a:p>
        </p:txBody>
      </p:sp>
      <p:sp>
        <p:nvSpPr>
          <p:cNvPr id="25" name="Shape 22"/>
          <p:cNvSpPr/>
          <p:nvPr/>
        </p:nvSpPr>
        <p:spPr>
          <a:xfrm>
            <a:off x="1042428" y="3089130"/>
            <a:ext cx="3269889" cy="63500"/>
          </a:xfrm>
          <a:prstGeom prst="roundRect">
            <a:avLst>
              <a:gd name="adj" fmla="val 50000"/>
            </a:avLst>
          </a:prstGeom>
          <a:solidFill>
            <a:srgbClr val="C9D1DB"/>
          </a:solidFill>
          <a:ln/>
        </p:spPr>
        <p:txBody>
          <a:bodyPr/>
          <a:lstStyle/>
          <a:p>
            <a:endParaRPr lang="en-US"/>
          </a:p>
        </p:txBody>
      </p:sp>
      <p:sp>
        <p:nvSpPr>
          <p:cNvPr id="26" name="Shape 23"/>
          <p:cNvSpPr/>
          <p:nvPr/>
        </p:nvSpPr>
        <p:spPr>
          <a:xfrm>
            <a:off x="907401" y="3279630"/>
            <a:ext cx="3493763" cy="1435244"/>
          </a:xfrm>
          <a:prstGeom prst="roundRect">
            <a:avLst>
              <a:gd name="adj" fmla="val 2655"/>
            </a:avLst>
          </a:prstGeom>
          <a:solidFill>
            <a:srgbClr val="EDF7EE"/>
          </a:solidFill>
          <a:ln/>
          <a:effectLst>
            <a:outerShdw blurRad="19050" dir="60000" algn="bl" rotWithShape="0">
              <a:srgbClr val="30AA3C">
                <a:alpha val="100000"/>
              </a:srgbClr>
            </a:outerShdw>
          </a:effectLst>
        </p:spPr>
        <p:txBody>
          <a:bodyPr/>
          <a:lstStyle/>
          <a:p>
            <a:endParaRPr lang="en-US"/>
          </a:p>
        </p:txBody>
      </p:sp>
      <p:sp>
        <p:nvSpPr>
          <p:cNvPr id="27" name="Shape 24"/>
          <p:cNvSpPr/>
          <p:nvPr/>
        </p:nvSpPr>
        <p:spPr>
          <a:xfrm>
            <a:off x="907401" y="3279630"/>
            <a:ext cx="3493763" cy="1435244"/>
          </a:xfrm>
          <a:custGeom>
            <a:avLst/>
            <a:gdLst/>
            <a:ahLst/>
            <a:cxnLst/>
            <a:rect l="l" t="t" r="r" b="b"/>
            <a:pathLst>
              <a:path w="3493763" h="1435244">
                <a:moveTo>
                  <a:pt x="50800" y="1435244"/>
                </a:moveTo>
                <a:lnTo>
                  <a:pt x="38100" y="1435244"/>
                </a:lnTo>
                <a:arcTo wR="38100" hR="38100" stAng="5400000" swAng="5400000"/>
                <a:lnTo>
                  <a:pt x="0" y="38100"/>
                </a:lnTo>
                <a:arcTo wR="38100" hR="38100" stAng="10800000" swAng="5400000"/>
                <a:lnTo>
                  <a:pt x="50800" y="0"/>
                </a:lnTo>
                <a:lnTo>
                  <a:pt x="50800" y="1435244"/>
                </a:lnTo>
                <a:close/>
              </a:path>
            </a:pathLst>
          </a:custGeom>
          <a:solidFill>
            <a:srgbClr val="30AA3C"/>
          </a:solidFill>
          <a:ln/>
        </p:spPr>
        <p:txBody>
          <a:bodyPr/>
          <a:lstStyle/>
          <a:p>
            <a:endParaRPr lang="en-US"/>
          </a:p>
        </p:txBody>
      </p:sp>
      <p:sp>
        <p:nvSpPr>
          <p:cNvPr id="28" name="Shape 25"/>
          <p:cNvSpPr/>
          <p:nvPr/>
        </p:nvSpPr>
        <p:spPr>
          <a:xfrm>
            <a:off x="1042428" y="3343130"/>
            <a:ext cx="215846" cy="215846"/>
          </a:xfrm>
          <a:prstGeom prst="roundRect">
            <a:avLst>
              <a:gd name="adj" fmla="val 50000"/>
            </a:avLst>
          </a:prstGeom>
          <a:solidFill>
            <a:srgbClr val="2E7D32"/>
          </a:solidFill>
          <a:ln/>
        </p:spPr>
        <p:txBody>
          <a:bodyPr/>
          <a:lstStyle/>
          <a:p>
            <a:endParaRPr lang="en-US"/>
          </a:p>
        </p:txBody>
      </p:sp>
      <p:sp>
        <p:nvSpPr>
          <p:cNvPr id="29" name="Text 26"/>
          <p:cNvSpPr/>
          <p:nvPr/>
        </p:nvSpPr>
        <p:spPr>
          <a:xfrm>
            <a:off x="1017028" y="3343130"/>
            <a:ext cx="266646" cy="241246"/>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FFFFF"/>
                </a:solidFill>
                <a:latin typeface="Roboto" pitchFamily="34" charset="0"/>
                <a:ea typeface="Roboto" pitchFamily="34" charset="-122"/>
                <a:cs typeface="Roboto" pitchFamily="34" charset="-120"/>
              </a:rPr>
              <a:t>4</a:t>
            </a:r>
            <a:endParaRPr lang="en-US" sz="1200" dirty="0"/>
          </a:p>
        </p:txBody>
      </p:sp>
      <p:sp>
        <p:nvSpPr>
          <p:cNvPr id="30" name="Text 27"/>
          <p:cNvSpPr/>
          <p:nvPr/>
        </p:nvSpPr>
        <p:spPr>
          <a:xfrm>
            <a:off x="1321774" y="3344303"/>
            <a:ext cx="944671"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7D32"/>
                </a:solidFill>
                <a:latin typeface="Roboto" pitchFamily="34" charset="0"/>
                <a:ea typeface="Roboto" pitchFamily="34" charset="-122"/>
                <a:cs typeface="Roboto" pitchFamily="34" charset="-120"/>
              </a:rPr>
              <a:t>Performance</a:t>
            </a:r>
            <a:endParaRPr lang="en-US" sz="1200" dirty="0"/>
          </a:p>
        </p:txBody>
      </p:sp>
      <p:sp>
        <p:nvSpPr>
          <p:cNvPr id="31" name="Text 28"/>
          <p:cNvSpPr/>
          <p:nvPr/>
        </p:nvSpPr>
        <p:spPr>
          <a:xfrm>
            <a:off x="1042428" y="3609758"/>
            <a:ext cx="3367986" cy="42173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A1A1A"/>
                </a:solidFill>
                <a:latin typeface="Roboto" pitchFamily="34" charset="0"/>
                <a:ea typeface="Roboto" pitchFamily="34" charset="-122"/>
                <a:cs typeface="Roboto" pitchFamily="34" charset="-120"/>
              </a:rPr>
              <a:t>Parent:</a:t>
            </a:r>
            <a:r>
              <a:rPr lang="en-US" sz="1200" dirty="0">
                <a:solidFill>
                  <a:srgbClr val="1A1A1A"/>
                </a:solidFill>
                <a:latin typeface="Roboto" pitchFamily="34" charset="0"/>
                <a:ea typeface="Roboto" pitchFamily="34" charset="-122"/>
                <a:cs typeface="Roboto" pitchFamily="34" charset="-120"/>
              </a:rPr>
              <a:t> overall school, reading, writing, math, parents, siblings, peers, activities</a:t>
            </a:r>
            <a:endParaRPr lang="en-US" sz="1200" dirty="0"/>
          </a:p>
        </p:txBody>
      </p:sp>
      <p:sp>
        <p:nvSpPr>
          <p:cNvPr id="32" name="Text 29"/>
          <p:cNvSpPr/>
          <p:nvPr/>
        </p:nvSpPr>
        <p:spPr>
          <a:xfrm>
            <a:off x="1042428" y="4056874"/>
            <a:ext cx="3367986" cy="61990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A1A1A"/>
                </a:solidFill>
                <a:latin typeface="Roboto" pitchFamily="34" charset="0"/>
                <a:ea typeface="Roboto" pitchFamily="34" charset="-122"/>
                <a:cs typeface="Roboto" pitchFamily="34" charset="-120"/>
              </a:rPr>
              <a:t>Teacher:</a:t>
            </a:r>
            <a:r>
              <a:rPr lang="en-US" sz="1200" dirty="0">
                <a:solidFill>
                  <a:srgbClr val="1A1A1A"/>
                </a:solidFill>
                <a:latin typeface="Roboto" pitchFamily="34" charset="0"/>
                <a:ea typeface="Roboto" pitchFamily="34" charset="-122"/>
                <a:cs typeface="Roboto" pitchFamily="34" charset="-120"/>
              </a:rPr>
              <a:t> reading, math, writing, peers, directions, disrupting class, </a:t>
            </a:r>
            <a:r>
              <a:rPr lang="en-US" sz="1200" b="1" u="sng" dirty="0">
                <a:solidFill>
                  <a:srgbClr val="1B5E20"/>
                </a:solidFill>
                <a:latin typeface="Roboto" pitchFamily="34" charset="0"/>
                <a:ea typeface="Roboto" pitchFamily="34" charset="-122"/>
                <a:cs typeface="Roboto" pitchFamily="34" charset="-120"/>
              </a:rPr>
              <a:t>assignments, organization</a:t>
            </a:r>
            <a:endParaRPr lang="en-US" sz="1200" dirty="0"/>
          </a:p>
        </p:txBody>
      </p:sp>
      <p:sp>
        <p:nvSpPr>
          <p:cNvPr id="33" name="Shape 30"/>
          <p:cNvSpPr/>
          <p:nvPr/>
        </p:nvSpPr>
        <p:spPr>
          <a:xfrm>
            <a:off x="907401" y="4778374"/>
            <a:ext cx="3493763" cy="457128"/>
          </a:xfrm>
          <a:prstGeom prst="roundRect">
            <a:avLst>
              <a:gd name="adj" fmla="val 8335"/>
            </a:avLst>
          </a:prstGeom>
          <a:solidFill>
            <a:srgbClr val="E6F4F4"/>
          </a:solidFill>
          <a:ln/>
        </p:spPr>
        <p:txBody>
          <a:bodyPr/>
          <a:lstStyle/>
          <a:p>
            <a:endParaRPr lang="en-US"/>
          </a:p>
        </p:txBody>
      </p:sp>
      <p:sp>
        <p:nvSpPr>
          <p:cNvPr id="34" name="Shape 31"/>
          <p:cNvSpPr/>
          <p:nvPr/>
        </p:nvSpPr>
        <p:spPr>
          <a:xfrm>
            <a:off x="907401" y="4778374"/>
            <a:ext cx="3493763" cy="457128"/>
          </a:xfrm>
          <a:custGeom>
            <a:avLst/>
            <a:gdLst/>
            <a:ahLst/>
            <a:cxnLst/>
            <a:rect l="l" t="t" r="r" b="b"/>
            <a:pathLst>
              <a:path w="3493763" h="457128">
                <a:moveTo>
                  <a:pt x="50800" y="457128"/>
                </a:moveTo>
                <a:lnTo>
                  <a:pt x="38100" y="457128"/>
                </a:lnTo>
                <a:arcTo wR="38100" hR="38100" stAng="5400000" swAng="5400000"/>
                <a:lnTo>
                  <a:pt x="0" y="38100"/>
                </a:lnTo>
                <a:arcTo wR="38100" hR="38100" stAng="10800000" swAng="5400000"/>
                <a:lnTo>
                  <a:pt x="50800" y="0"/>
                </a:lnTo>
                <a:lnTo>
                  <a:pt x="50800" y="457128"/>
                </a:lnTo>
                <a:close/>
              </a:path>
            </a:pathLst>
          </a:custGeom>
          <a:solidFill>
            <a:srgbClr val="009899"/>
          </a:solidFill>
          <a:ln/>
        </p:spPr>
        <p:txBody>
          <a:bodyPr/>
          <a:lstStyle/>
          <a:p>
            <a:endParaRPr lang="en-US"/>
          </a:p>
        </p:txBody>
      </p:sp>
      <p:sp>
        <p:nvSpPr>
          <p:cNvPr id="35" name="Shape 32"/>
          <p:cNvSpPr/>
          <p:nvPr/>
        </p:nvSpPr>
        <p:spPr>
          <a:xfrm>
            <a:off x="1042428" y="4841874"/>
            <a:ext cx="215846" cy="215846"/>
          </a:xfrm>
          <a:prstGeom prst="roundRect">
            <a:avLst>
              <a:gd name="adj" fmla="val 50000"/>
            </a:avLst>
          </a:prstGeom>
          <a:solidFill>
            <a:srgbClr val="007A7A"/>
          </a:solidFill>
          <a:ln/>
        </p:spPr>
        <p:txBody>
          <a:bodyPr/>
          <a:lstStyle/>
          <a:p>
            <a:endParaRPr lang="en-US"/>
          </a:p>
        </p:txBody>
      </p:sp>
      <p:sp>
        <p:nvSpPr>
          <p:cNvPr id="36" name="Text 33"/>
          <p:cNvSpPr/>
          <p:nvPr/>
        </p:nvSpPr>
        <p:spPr>
          <a:xfrm>
            <a:off x="1017028" y="4841874"/>
            <a:ext cx="266646" cy="241246"/>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FFFFF"/>
                </a:solidFill>
                <a:latin typeface="Roboto" pitchFamily="34" charset="0"/>
                <a:ea typeface="Roboto" pitchFamily="34" charset="-122"/>
                <a:cs typeface="Roboto" pitchFamily="34" charset="-120"/>
              </a:rPr>
              <a:t>5</a:t>
            </a:r>
            <a:endParaRPr lang="en-US" sz="1200" dirty="0"/>
          </a:p>
        </p:txBody>
      </p:sp>
      <p:sp>
        <p:nvSpPr>
          <p:cNvPr id="37" name="Text 34"/>
          <p:cNvSpPr/>
          <p:nvPr/>
        </p:nvSpPr>
        <p:spPr>
          <a:xfrm>
            <a:off x="1321774" y="4843047"/>
            <a:ext cx="872151"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7A7A"/>
                </a:solidFill>
                <a:latin typeface="Roboto" pitchFamily="34" charset="0"/>
                <a:ea typeface="Roboto" pitchFamily="34" charset="-122"/>
                <a:cs typeface="Roboto" pitchFamily="34" charset="-120"/>
              </a:rPr>
              <a:t>Side effects</a:t>
            </a:r>
            <a:endParaRPr lang="en-US" sz="1200" dirty="0"/>
          </a:p>
        </p:txBody>
      </p:sp>
      <p:sp>
        <p:nvSpPr>
          <p:cNvPr id="38" name="Shape 35"/>
          <p:cNvSpPr/>
          <p:nvPr/>
        </p:nvSpPr>
        <p:spPr>
          <a:xfrm>
            <a:off x="1042428" y="5108502"/>
            <a:ext cx="3269889" cy="63500"/>
          </a:xfrm>
          <a:prstGeom prst="roundRect">
            <a:avLst>
              <a:gd name="adj" fmla="val 50000"/>
            </a:avLst>
          </a:prstGeom>
          <a:solidFill>
            <a:srgbClr val="C9D1DB"/>
          </a:solidFill>
          <a:ln/>
        </p:spPr>
        <p:txBody>
          <a:bodyPr/>
          <a:lstStyle/>
          <a:p>
            <a:endParaRPr lang="en-US"/>
          </a:p>
        </p:txBody>
      </p:sp>
      <p:sp>
        <p:nvSpPr>
          <p:cNvPr id="39" name="Shape 36"/>
          <p:cNvSpPr/>
          <p:nvPr/>
        </p:nvSpPr>
        <p:spPr>
          <a:xfrm>
            <a:off x="4699000" y="1308064"/>
            <a:ext cx="6680128" cy="660346"/>
          </a:xfrm>
          <a:prstGeom prst="roundRect">
            <a:avLst>
              <a:gd name="adj" fmla="val 11539"/>
            </a:avLst>
          </a:prstGeom>
          <a:solidFill>
            <a:srgbClr val="EAF2FA"/>
          </a:solidFill>
          <a:ln/>
        </p:spPr>
        <p:txBody>
          <a:bodyPr/>
          <a:lstStyle/>
          <a:p>
            <a:endParaRPr lang="en-US"/>
          </a:p>
        </p:txBody>
      </p:sp>
      <p:sp>
        <p:nvSpPr>
          <p:cNvPr id="40" name="Shape 37"/>
          <p:cNvSpPr/>
          <p:nvPr/>
        </p:nvSpPr>
        <p:spPr>
          <a:xfrm>
            <a:off x="4699000" y="1308064"/>
            <a:ext cx="6680128" cy="660346"/>
          </a:xfrm>
          <a:custGeom>
            <a:avLst/>
            <a:gdLst/>
            <a:ahLst/>
            <a:cxnLst/>
            <a:rect l="l" t="t" r="r" b="b"/>
            <a:pathLst>
              <a:path w="6680128" h="660346">
                <a:moveTo>
                  <a:pt x="76200" y="660346"/>
                </a:moveTo>
                <a:lnTo>
                  <a:pt x="76200" y="660346"/>
                </a:lnTo>
                <a:arcTo wR="76200" hR="76200" stAng="5400000" swAng="5400000"/>
                <a:lnTo>
                  <a:pt x="0" y="76200"/>
                </a:lnTo>
                <a:arcTo wR="76200" hR="76200" stAng="10800000" swAng="5400000"/>
                <a:lnTo>
                  <a:pt x="76200" y="0"/>
                </a:lnTo>
                <a:arcTo wR="12700" hR="76200" stAng="16200000" swAng="-5400000"/>
                <a:lnTo>
                  <a:pt x="63500" y="584146"/>
                </a:lnTo>
                <a:arcTo wR="12700" hR="76200" stAng="10800000" swAng="-5400000"/>
                <a:close/>
              </a:path>
            </a:pathLst>
          </a:custGeom>
          <a:solidFill>
            <a:srgbClr val="2E7CC0"/>
          </a:solidFill>
          <a:ln/>
        </p:spPr>
        <p:txBody>
          <a:bodyPr/>
          <a:lstStyle/>
          <a:p>
            <a:endParaRPr lang="en-US"/>
          </a:p>
        </p:txBody>
      </p:sp>
      <p:sp>
        <p:nvSpPr>
          <p:cNvPr id="41" name="Shape 38"/>
          <p:cNvSpPr/>
          <p:nvPr/>
        </p:nvSpPr>
        <p:spPr>
          <a:xfrm>
            <a:off x="4889500" y="1379141"/>
            <a:ext cx="279346" cy="279346"/>
          </a:xfrm>
          <a:prstGeom prst="roundRect">
            <a:avLst>
              <a:gd name="adj" fmla="val 50000"/>
            </a:avLst>
          </a:prstGeom>
          <a:solidFill>
            <a:srgbClr val="2E6DA8"/>
          </a:solidFill>
          <a:ln/>
        </p:spPr>
        <p:txBody>
          <a:bodyPr/>
          <a:lstStyle/>
          <a:p>
            <a:endParaRPr lang="en-US"/>
          </a:p>
        </p:txBody>
      </p:sp>
      <p:sp>
        <p:nvSpPr>
          <p:cNvPr id="42" name="Text 39"/>
          <p:cNvSpPr/>
          <p:nvPr/>
        </p:nvSpPr>
        <p:spPr>
          <a:xfrm>
            <a:off x="4864100" y="1379141"/>
            <a:ext cx="330146" cy="304746"/>
          </a:xfrm>
          <a:prstGeom prst="rect">
            <a:avLst/>
          </a:prstGeom>
          <a:noFill/>
          <a:ln/>
        </p:spPr>
        <p:txBody>
          <a:bodyPr wrap="square" lIns="0" tIns="0" rIns="0" bIns="0" rtlCol="0" anchor="t">
            <a:normAutofit/>
          </a:bodyPr>
          <a:lstStyle/>
          <a:p>
            <a:pPr marL="0" indent="0" algn="ctr">
              <a:lnSpc>
                <a:spcPts val="2210"/>
              </a:lnSpc>
              <a:buNone/>
            </a:pPr>
            <a:r>
              <a:rPr lang="en-US" sz="1300" b="1" dirty="0">
                <a:solidFill>
                  <a:srgbClr val="FFFFFF"/>
                </a:solidFill>
                <a:latin typeface="Roboto" pitchFamily="34" charset="0"/>
                <a:ea typeface="Roboto" pitchFamily="34" charset="-122"/>
                <a:cs typeface="Roboto" pitchFamily="34" charset="-120"/>
              </a:rPr>
              <a:t>1</a:t>
            </a:r>
            <a:endParaRPr lang="en-US" sz="1300" dirty="0"/>
          </a:p>
        </p:txBody>
      </p:sp>
      <p:sp>
        <p:nvSpPr>
          <p:cNvPr id="43" name="Text 40"/>
          <p:cNvSpPr/>
          <p:nvPr/>
        </p:nvSpPr>
        <p:spPr>
          <a:xfrm>
            <a:off x="5244974" y="1403224"/>
            <a:ext cx="1312502"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ADHD symptoms</a:t>
            </a:r>
            <a:endParaRPr lang="en-US" sz="1300" dirty="0"/>
          </a:p>
        </p:txBody>
      </p:sp>
      <p:sp>
        <p:nvSpPr>
          <p:cNvPr id="44" name="Text 41"/>
          <p:cNvSpPr/>
          <p:nvPr/>
        </p:nvSpPr>
        <p:spPr>
          <a:xfrm>
            <a:off x="4889500" y="1683832"/>
            <a:ext cx="274701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415C"/>
                </a:solidFill>
                <a:latin typeface="Roboto" pitchFamily="34" charset="0"/>
                <a:ea typeface="Roboto" pitchFamily="34" charset="-122"/>
                <a:cs typeface="Roboto" pitchFamily="34" charset="-120"/>
              </a:rPr>
              <a:t>9 inattentive + 9 hyperactive</a:t>
            </a:r>
            <a:endParaRPr lang="en-US" sz="1200" dirty="0"/>
          </a:p>
        </p:txBody>
      </p:sp>
      <p:sp>
        <p:nvSpPr>
          <p:cNvPr id="45" name="Text 42"/>
          <p:cNvSpPr/>
          <p:nvPr/>
        </p:nvSpPr>
        <p:spPr>
          <a:xfrm>
            <a:off x="7683500" y="1327005"/>
            <a:ext cx="3675686"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E6DA8"/>
                </a:solidFill>
                <a:latin typeface="Roboto" pitchFamily="34" charset="0"/>
                <a:ea typeface="Roboto" pitchFamily="34" charset="-122"/>
                <a:cs typeface="Roboto" pitchFamily="34" charset="-120"/>
              </a:rPr>
              <a:t>TITRATION TARGET</a:t>
            </a:r>
            <a:endParaRPr lang="en-US" sz="1200" dirty="0"/>
          </a:p>
        </p:txBody>
      </p:sp>
      <p:sp>
        <p:nvSpPr>
          <p:cNvPr id="46" name="Text 43"/>
          <p:cNvSpPr/>
          <p:nvPr/>
        </p:nvSpPr>
        <p:spPr>
          <a:xfrm>
            <a:off x="7683500" y="1553044"/>
            <a:ext cx="3675686"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A1A1A"/>
                </a:solidFill>
                <a:latin typeface="Roboto" pitchFamily="34" charset="0"/>
                <a:ea typeface="Roboto" pitchFamily="34" charset="-122"/>
                <a:cs typeface="Roboto" pitchFamily="34" charset="-120"/>
              </a:rPr>
              <a:t>Compare parent (evenings) vs teacher (peak effect) before changing dose</a:t>
            </a:r>
            <a:endParaRPr lang="en-US" sz="1200" dirty="0"/>
          </a:p>
        </p:txBody>
      </p:sp>
      <p:sp>
        <p:nvSpPr>
          <p:cNvPr id="47" name="Shape 44"/>
          <p:cNvSpPr/>
          <p:nvPr/>
        </p:nvSpPr>
        <p:spPr>
          <a:xfrm>
            <a:off x="4699000" y="2044537"/>
            <a:ext cx="6680128" cy="660346"/>
          </a:xfrm>
          <a:prstGeom prst="roundRect">
            <a:avLst>
              <a:gd name="adj" fmla="val 11539"/>
            </a:avLst>
          </a:prstGeom>
          <a:solidFill>
            <a:srgbClr val="FFF6EC"/>
          </a:solidFill>
          <a:ln/>
        </p:spPr>
        <p:txBody>
          <a:bodyPr/>
          <a:lstStyle/>
          <a:p>
            <a:endParaRPr lang="en-US"/>
          </a:p>
        </p:txBody>
      </p:sp>
      <p:sp>
        <p:nvSpPr>
          <p:cNvPr id="48" name="Shape 45"/>
          <p:cNvSpPr/>
          <p:nvPr/>
        </p:nvSpPr>
        <p:spPr>
          <a:xfrm>
            <a:off x="4699000" y="2044537"/>
            <a:ext cx="6680128" cy="660346"/>
          </a:xfrm>
          <a:custGeom>
            <a:avLst/>
            <a:gdLst/>
            <a:ahLst/>
            <a:cxnLst/>
            <a:rect l="l" t="t" r="r" b="b"/>
            <a:pathLst>
              <a:path w="6680128" h="660346">
                <a:moveTo>
                  <a:pt x="76200" y="660346"/>
                </a:moveTo>
                <a:lnTo>
                  <a:pt x="76200" y="660346"/>
                </a:lnTo>
                <a:arcTo wR="76200" hR="76200" stAng="5400000" swAng="5400000"/>
                <a:lnTo>
                  <a:pt x="0" y="76200"/>
                </a:lnTo>
                <a:arcTo wR="76200" hR="76200" stAng="10800000" swAng="5400000"/>
                <a:lnTo>
                  <a:pt x="76200" y="0"/>
                </a:lnTo>
                <a:arcTo wR="12700" hR="76200" stAng="16200000" swAng="-5400000"/>
                <a:lnTo>
                  <a:pt x="63500" y="584146"/>
                </a:lnTo>
                <a:arcTo wR="12700" hR="76200" stAng="10800000" swAng="-5400000"/>
                <a:close/>
              </a:path>
            </a:pathLst>
          </a:custGeom>
          <a:solidFill>
            <a:srgbClr val="E78D2C"/>
          </a:solidFill>
          <a:ln/>
        </p:spPr>
        <p:txBody>
          <a:bodyPr/>
          <a:lstStyle/>
          <a:p>
            <a:endParaRPr lang="en-US"/>
          </a:p>
        </p:txBody>
      </p:sp>
      <p:sp>
        <p:nvSpPr>
          <p:cNvPr id="49" name="Shape 46"/>
          <p:cNvSpPr/>
          <p:nvPr/>
        </p:nvSpPr>
        <p:spPr>
          <a:xfrm>
            <a:off x="4889500" y="2115614"/>
            <a:ext cx="279346" cy="279346"/>
          </a:xfrm>
          <a:prstGeom prst="roundRect">
            <a:avLst>
              <a:gd name="adj" fmla="val 50000"/>
            </a:avLst>
          </a:prstGeom>
          <a:solidFill>
            <a:srgbClr val="B35A12"/>
          </a:solidFill>
          <a:ln/>
        </p:spPr>
        <p:txBody>
          <a:bodyPr/>
          <a:lstStyle/>
          <a:p>
            <a:endParaRPr lang="en-US"/>
          </a:p>
        </p:txBody>
      </p:sp>
      <p:sp>
        <p:nvSpPr>
          <p:cNvPr id="50" name="Text 47"/>
          <p:cNvSpPr/>
          <p:nvPr/>
        </p:nvSpPr>
        <p:spPr>
          <a:xfrm>
            <a:off x="4864100" y="2115614"/>
            <a:ext cx="330146" cy="304746"/>
          </a:xfrm>
          <a:prstGeom prst="rect">
            <a:avLst/>
          </a:prstGeom>
          <a:noFill/>
          <a:ln/>
        </p:spPr>
        <p:txBody>
          <a:bodyPr wrap="square" lIns="0" tIns="0" rIns="0" bIns="0" rtlCol="0" anchor="t">
            <a:normAutofit/>
          </a:bodyPr>
          <a:lstStyle/>
          <a:p>
            <a:pPr marL="0" indent="0" algn="ctr">
              <a:lnSpc>
                <a:spcPts val="2210"/>
              </a:lnSpc>
              <a:buNone/>
            </a:pPr>
            <a:r>
              <a:rPr lang="en-US" sz="1300" b="1" dirty="0">
                <a:solidFill>
                  <a:srgbClr val="FFFFFF"/>
                </a:solidFill>
                <a:latin typeface="Roboto" pitchFamily="34" charset="0"/>
                <a:ea typeface="Roboto" pitchFamily="34" charset="-122"/>
                <a:cs typeface="Roboto" pitchFamily="34" charset="-120"/>
              </a:rPr>
              <a:t>2</a:t>
            </a:r>
            <a:endParaRPr lang="en-US" sz="1300" dirty="0"/>
          </a:p>
        </p:txBody>
      </p:sp>
      <p:sp>
        <p:nvSpPr>
          <p:cNvPr id="51" name="Text 48"/>
          <p:cNvSpPr/>
          <p:nvPr/>
        </p:nvSpPr>
        <p:spPr>
          <a:xfrm>
            <a:off x="5244974" y="2139697"/>
            <a:ext cx="1731836"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Oppositional / conduct</a:t>
            </a:r>
            <a:endParaRPr lang="en-US" sz="1300" dirty="0"/>
          </a:p>
        </p:txBody>
      </p:sp>
      <p:sp>
        <p:nvSpPr>
          <p:cNvPr id="52" name="Text 49"/>
          <p:cNvSpPr/>
          <p:nvPr/>
        </p:nvSpPr>
        <p:spPr>
          <a:xfrm>
            <a:off x="4889500" y="2420306"/>
            <a:ext cx="2747010" cy="238810"/>
          </a:xfrm>
          <a:prstGeom prst="rect">
            <a:avLst/>
          </a:prstGeom>
          <a:noFill/>
          <a:ln/>
        </p:spPr>
        <p:txBody>
          <a:bodyPr wrap="square" lIns="0" tIns="0" rIns="0" bIns="0" rtlCol="0" anchor="t">
            <a:normAutofit/>
          </a:bodyPr>
          <a:lstStyle/>
          <a:p>
            <a:pPr>
              <a:lnSpc>
                <a:spcPts val="1680"/>
              </a:lnSpc>
            </a:pPr>
            <a:r>
              <a:rPr lang="en-US" sz="1200" dirty="0">
                <a:solidFill>
                  <a:srgbClr val="33415C"/>
                </a:solidFill>
                <a:latin typeface="Roboto"/>
                <a:ea typeface="Roboto"/>
                <a:cs typeface="Roboto"/>
              </a:rPr>
              <a:t>ODD and conduct screen</a:t>
            </a:r>
            <a:endParaRPr lang="en-US" dirty="0"/>
          </a:p>
        </p:txBody>
      </p:sp>
      <p:sp>
        <p:nvSpPr>
          <p:cNvPr id="53" name="Text 50"/>
          <p:cNvSpPr/>
          <p:nvPr/>
        </p:nvSpPr>
        <p:spPr>
          <a:xfrm>
            <a:off x="7683500" y="2063479"/>
            <a:ext cx="3675686"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35A12"/>
                </a:solidFill>
                <a:latin typeface="Roboto" pitchFamily="34" charset="0"/>
                <a:ea typeface="Roboto" pitchFamily="34" charset="-122"/>
                <a:cs typeface="Roboto" pitchFamily="34" charset="-120"/>
              </a:rPr>
              <a:t>DON’T CHASE WITH DOSE</a:t>
            </a:r>
            <a:endParaRPr lang="en-US" sz="1200" dirty="0"/>
          </a:p>
        </p:txBody>
      </p:sp>
      <p:sp>
        <p:nvSpPr>
          <p:cNvPr id="54" name="Text 51"/>
          <p:cNvSpPr/>
          <p:nvPr/>
        </p:nvSpPr>
        <p:spPr>
          <a:xfrm>
            <a:off x="7683500" y="2289518"/>
            <a:ext cx="3675686"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A1A1A"/>
                </a:solidFill>
                <a:latin typeface="Roboto" pitchFamily="34" charset="0"/>
                <a:ea typeface="Roboto" pitchFamily="34" charset="-122"/>
                <a:cs typeface="Roboto" pitchFamily="34" charset="-120"/>
              </a:rPr>
              <a:t>Persists despite ADHD control: add parent training or behavioral care</a:t>
            </a:r>
            <a:endParaRPr lang="en-US" sz="1200" dirty="0"/>
          </a:p>
        </p:txBody>
      </p:sp>
      <p:sp>
        <p:nvSpPr>
          <p:cNvPr id="55" name="Shape 52"/>
          <p:cNvSpPr/>
          <p:nvPr/>
        </p:nvSpPr>
        <p:spPr>
          <a:xfrm>
            <a:off x="4699000" y="2781011"/>
            <a:ext cx="6680128" cy="660346"/>
          </a:xfrm>
          <a:prstGeom prst="roundRect">
            <a:avLst>
              <a:gd name="adj" fmla="val 11539"/>
            </a:avLst>
          </a:prstGeom>
          <a:solidFill>
            <a:srgbClr val="F6ECF5"/>
          </a:solidFill>
          <a:ln/>
        </p:spPr>
        <p:txBody>
          <a:bodyPr/>
          <a:lstStyle/>
          <a:p>
            <a:endParaRPr lang="en-US"/>
          </a:p>
        </p:txBody>
      </p:sp>
      <p:sp>
        <p:nvSpPr>
          <p:cNvPr id="56" name="Shape 53"/>
          <p:cNvSpPr/>
          <p:nvPr/>
        </p:nvSpPr>
        <p:spPr>
          <a:xfrm>
            <a:off x="4699000" y="2781011"/>
            <a:ext cx="6680128" cy="660346"/>
          </a:xfrm>
          <a:custGeom>
            <a:avLst/>
            <a:gdLst/>
            <a:ahLst/>
            <a:cxnLst/>
            <a:rect l="l" t="t" r="r" b="b"/>
            <a:pathLst>
              <a:path w="6680128" h="660346">
                <a:moveTo>
                  <a:pt x="76200" y="660346"/>
                </a:moveTo>
                <a:lnTo>
                  <a:pt x="76200" y="660346"/>
                </a:lnTo>
                <a:arcTo wR="76200" hR="76200" stAng="5400000" swAng="5400000"/>
                <a:lnTo>
                  <a:pt x="0" y="76200"/>
                </a:lnTo>
                <a:arcTo wR="76200" hR="76200" stAng="10800000" swAng="5400000"/>
                <a:lnTo>
                  <a:pt x="76200" y="0"/>
                </a:lnTo>
                <a:arcTo wR="12700" hR="76200" stAng="16200000" swAng="-5400000"/>
                <a:lnTo>
                  <a:pt x="63500" y="584146"/>
                </a:lnTo>
                <a:arcTo wR="12700" hR="76200" stAng="10800000" swAng="-5400000"/>
                <a:close/>
              </a:path>
            </a:pathLst>
          </a:custGeom>
          <a:solidFill>
            <a:srgbClr val="9B4191"/>
          </a:solidFill>
          <a:ln/>
        </p:spPr>
        <p:txBody>
          <a:bodyPr/>
          <a:lstStyle/>
          <a:p>
            <a:endParaRPr lang="en-US"/>
          </a:p>
        </p:txBody>
      </p:sp>
      <p:sp>
        <p:nvSpPr>
          <p:cNvPr id="57" name="Shape 54"/>
          <p:cNvSpPr/>
          <p:nvPr/>
        </p:nvSpPr>
        <p:spPr>
          <a:xfrm>
            <a:off x="4889500" y="2852088"/>
            <a:ext cx="279346" cy="279346"/>
          </a:xfrm>
          <a:prstGeom prst="roundRect">
            <a:avLst>
              <a:gd name="adj" fmla="val 50000"/>
            </a:avLst>
          </a:prstGeom>
          <a:solidFill>
            <a:srgbClr val="8A3A80"/>
          </a:solidFill>
          <a:ln/>
        </p:spPr>
        <p:txBody>
          <a:bodyPr/>
          <a:lstStyle/>
          <a:p>
            <a:endParaRPr lang="en-US"/>
          </a:p>
        </p:txBody>
      </p:sp>
      <p:sp>
        <p:nvSpPr>
          <p:cNvPr id="58" name="Text 55"/>
          <p:cNvSpPr/>
          <p:nvPr/>
        </p:nvSpPr>
        <p:spPr>
          <a:xfrm>
            <a:off x="4864100" y="2852088"/>
            <a:ext cx="330146" cy="304746"/>
          </a:xfrm>
          <a:prstGeom prst="rect">
            <a:avLst/>
          </a:prstGeom>
          <a:noFill/>
          <a:ln/>
        </p:spPr>
        <p:txBody>
          <a:bodyPr wrap="square" lIns="0" tIns="0" rIns="0" bIns="0" rtlCol="0" anchor="t">
            <a:normAutofit/>
          </a:bodyPr>
          <a:lstStyle/>
          <a:p>
            <a:pPr marL="0" indent="0" algn="ctr">
              <a:lnSpc>
                <a:spcPts val="2210"/>
              </a:lnSpc>
              <a:buNone/>
            </a:pPr>
            <a:r>
              <a:rPr lang="en-US" sz="1300" b="1" dirty="0">
                <a:solidFill>
                  <a:srgbClr val="FFFFFF"/>
                </a:solidFill>
                <a:latin typeface="Roboto" pitchFamily="34" charset="0"/>
                <a:ea typeface="Roboto" pitchFamily="34" charset="-122"/>
                <a:cs typeface="Roboto" pitchFamily="34" charset="-120"/>
              </a:rPr>
              <a:t>3</a:t>
            </a:r>
            <a:endParaRPr lang="en-US" sz="1300" dirty="0"/>
          </a:p>
        </p:txBody>
      </p:sp>
      <p:sp>
        <p:nvSpPr>
          <p:cNvPr id="59" name="Text 56"/>
          <p:cNvSpPr/>
          <p:nvPr/>
        </p:nvSpPr>
        <p:spPr>
          <a:xfrm>
            <a:off x="5244974" y="2876171"/>
            <a:ext cx="1572996"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Anxiety / depression</a:t>
            </a:r>
            <a:endParaRPr lang="en-US" sz="1300" dirty="0"/>
          </a:p>
        </p:txBody>
      </p:sp>
      <p:sp>
        <p:nvSpPr>
          <p:cNvPr id="60" name="Text 57"/>
          <p:cNvSpPr/>
          <p:nvPr/>
        </p:nvSpPr>
        <p:spPr>
          <a:xfrm>
            <a:off x="4889500" y="3156779"/>
            <a:ext cx="274701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415C"/>
                </a:solidFill>
                <a:latin typeface="Roboto" pitchFamily="34" charset="0"/>
                <a:ea typeface="Roboto" pitchFamily="34" charset="-122"/>
                <a:cs typeface="Roboto" pitchFamily="34" charset="-120"/>
              </a:rPr>
              <a:t>7 items, both forms</a:t>
            </a:r>
            <a:endParaRPr lang="en-US" sz="1200" dirty="0"/>
          </a:p>
        </p:txBody>
      </p:sp>
      <p:sp>
        <p:nvSpPr>
          <p:cNvPr id="61" name="Text 58"/>
          <p:cNvSpPr/>
          <p:nvPr/>
        </p:nvSpPr>
        <p:spPr>
          <a:xfrm>
            <a:off x="7683500" y="2799953"/>
            <a:ext cx="3675686"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8A3A80"/>
                </a:solidFill>
                <a:latin typeface="Roboto" pitchFamily="34" charset="0"/>
                <a:ea typeface="Roboto" pitchFamily="34" charset="-122"/>
                <a:cs typeface="Roboto" pitchFamily="34" charset="-120"/>
              </a:rPr>
              <a:t>RULE OUT FIRST</a:t>
            </a:r>
            <a:endParaRPr lang="en-US" sz="1200" dirty="0"/>
          </a:p>
        </p:txBody>
      </p:sp>
      <p:sp>
        <p:nvSpPr>
          <p:cNvPr id="62" name="Text 59"/>
          <p:cNvSpPr/>
          <p:nvPr/>
        </p:nvSpPr>
        <p:spPr>
          <a:xfrm>
            <a:off x="7683500" y="3025991"/>
            <a:ext cx="3675686"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A1A1A"/>
                </a:solidFill>
                <a:latin typeface="Roboto" pitchFamily="34" charset="0"/>
                <a:ea typeface="Roboto" pitchFamily="34" charset="-122"/>
                <a:cs typeface="Roboto" pitchFamily="34" charset="-120"/>
              </a:rPr>
              <a:t>Anxiety can mimic inattention; treat the comorbidity, don’t raise the dose</a:t>
            </a:r>
            <a:endParaRPr lang="en-US" sz="1200" dirty="0"/>
          </a:p>
        </p:txBody>
      </p:sp>
      <p:sp>
        <p:nvSpPr>
          <p:cNvPr id="63" name="Shape 60"/>
          <p:cNvSpPr/>
          <p:nvPr/>
        </p:nvSpPr>
        <p:spPr>
          <a:xfrm>
            <a:off x="4699000" y="3517485"/>
            <a:ext cx="6680128" cy="660346"/>
          </a:xfrm>
          <a:prstGeom prst="roundRect">
            <a:avLst>
              <a:gd name="adj" fmla="val 11539"/>
            </a:avLst>
          </a:prstGeom>
          <a:solidFill>
            <a:srgbClr val="EDF7EE"/>
          </a:solidFill>
          <a:ln/>
          <a:effectLst>
            <a:outerShdw blurRad="114300" dist="38100" dir="5400000" algn="bl" rotWithShape="0">
              <a:srgbClr val="2E7D32">
                <a:alpha val="18000"/>
              </a:srgbClr>
            </a:outerShdw>
          </a:effectLst>
        </p:spPr>
        <p:txBody>
          <a:bodyPr/>
          <a:lstStyle/>
          <a:p>
            <a:endParaRPr lang="en-US"/>
          </a:p>
        </p:txBody>
      </p:sp>
      <p:sp>
        <p:nvSpPr>
          <p:cNvPr id="64" name="Shape 61"/>
          <p:cNvSpPr/>
          <p:nvPr/>
        </p:nvSpPr>
        <p:spPr>
          <a:xfrm>
            <a:off x="4699000" y="3517485"/>
            <a:ext cx="6680128" cy="660346"/>
          </a:xfrm>
          <a:custGeom>
            <a:avLst/>
            <a:gdLst/>
            <a:ahLst/>
            <a:cxnLst/>
            <a:rect l="l" t="t" r="r" b="b"/>
            <a:pathLst>
              <a:path w="6680128" h="660346">
                <a:moveTo>
                  <a:pt x="76200" y="660346"/>
                </a:moveTo>
                <a:lnTo>
                  <a:pt x="76200" y="660346"/>
                </a:lnTo>
                <a:arcTo wR="76200" hR="76200" stAng="5400000" swAng="5400000"/>
                <a:lnTo>
                  <a:pt x="0" y="76200"/>
                </a:lnTo>
                <a:arcTo wR="76200" hR="76200" stAng="10800000" swAng="5400000"/>
                <a:lnTo>
                  <a:pt x="76200" y="0"/>
                </a:lnTo>
                <a:arcTo wR="12700" hR="76200" stAng="16200000" swAng="-5400000"/>
                <a:lnTo>
                  <a:pt x="63500" y="584146"/>
                </a:lnTo>
                <a:arcTo wR="12700" hR="76200" stAng="10800000" swAng="-5400000"/>
                <a:close/>
              </a:path>
            </a:pathLst>
          </a:custGeom>
          <a:solidFill>
            <a:srgbClr val="30AA3C"/>
          </a:solidFill>
          <a:ln/>
        </p:spPr>
        <p:txBody>
          <a:bodyPr/>
          <a:lstStyle/>
          <a:p>
            <a:endParaRPr lang="en-US"/>
          </a:p>
        </p:txBody>
      </p:sp>
      <p:sp>
        <p:nvSpPr>
          <p:cNvPr id="65" name="Shape 62"/>
          <p:cNvSpPr/>
          <p:nvPr/>
        </p:nvSpPr>
        <p:spPr>
          <a:xfrm>
            <a:off x="4889500" y="3588562"/>
            <a:ext cx="279346" cy="279346"/>
          </a:xfrm>
          <a:prstGeom prst="roundRect">
            <a:avLst>
              <a:gd name="adj" fmla="val 50000"/>
            </a:avLst>
          </a:prstGeom>
          <a:solidFill>
            <a:srgbClr val="2E7D32"/>
          </a:solidFill>
          <a:ln/>
        </p:spPr>
        <p:txBody>
          <a:bodyPr/>
          <a:lstStyle/>
          <a:p>
            <a:endParaRPr lang="en-US"/>
          </a:p>
        </p:txBody>
      </p:sp>
      <p:sp>
        <p:nvSpPr>
          <p:cNvPr id="66" name="Text 63"/>
          <p:cNvSpPr/>
          <p:nvPr/>
        </p:nvSpPr>
        <p:spPr>
          <a:xfrm>
            <a:off x="4864100" y="3588562"/>
            <a:ext cx="330146" cy="304746"/>
          </a:xfrm>
          <a:prstGeom prst="rect">
            <a:avLst/>
          </a:prstGeom>
          <a:noFill/>
          <a:ln/>
        </p:spPr>
        <p:txBody>
          <a:bodyPr wrap="square" lIns="0" tIns="0" rIns="0" bIns="0" rtlCol="0" anchor="t">
            <a:normAutofit/>
          </a:bodyPr>
          <a:lstStyle/>
          <a:p>
            <a:pPr marL="0" indent="0" algn="ctr">
              <a:lnSpc>
                <a:spcPts val="2210"/>
              </a:lnSpc>
              <a:buNone/>
            </a:pPr>
            <a:r>
              <a:rPr lang="en-US" sz="1300" b="1" dirty="0">
                <a:solidFill>
                  <a:srgbClr val="FFFFFF"/>
                </a:solidFill>
                <a:latin typeface="Roboto" pitchFamily="34" charset="0"/>
                <a:ea typeface="Roboto" pitchFamily="34" charset="-122"/>
                <a:cs typeface="Roboto" pitchFamily="34" charset="-120"/>
              </a:rPr>
              <a:t>4</a:t>
            </a:r>
            <a:endParaRPr lang="en-US" sz="1300" dirty="0"/>
          </a:p>
        </p:txBody>
      </p:sp>
      <p:sp>
        <p:nvSpPr>
          <p:cNvPr id="67" name="Text 64"/>
          <p:cNvSpPr/>
          <p:nvPr/>
        </p:nvSpPr>
        <p:spPr>
          <a:xfrm>
            <a:off x="5244974" y="3612645"/>
            <a:ext cx="1019175"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Performance</a:t>
            </a:r>
            <a:endParaRPr lang="en-US" sz="1300" dirty="0"/>
          </a:p>
        </p:txBody>
      </p:sp>
      <p:sp>
        <p:nvSpPr>
          <p:cNvPr id="68" name="Text 65"/>
          <p:cNvSpPr/>
          <p:nvPr/>
        </p:nvSpPr>
        <p:spPr>
          <a:xfrm>
            <a:off x="4889500" y="3893253"/>
            <a:ext cx="2747010" cy="238810"/>
          </a:xfrm>
          <a:prstGeom prst="rect">
            <a:avLst/>
          </a:prstGeom>
          <a:noFill/>
          <a:ln/>
        </p:spPr>
        <p:txBody>
          <a:bodyPr wrap="square" lIns="0" tIns="0" rIns="0" bIns="0" rtlCol="0" anchor="t">
            <a:normAutofit/>
          </a:bodyPr>
          <a:lstStyle/>
          <a:p>
            <a:pPr>
              <a:lnSpc>
                <a:spcPts val="1680"/>
              </a:lnSpc>
            </a:pPr>
            <a:r>
              <a:rPr lang="en-US" sz="1200" dirty="0">
                <a:solidFill>
                  <a:srgbClr val="33415C"/>
                </a:solidFill>
                <a:latin typeface="Roboto"/>
                <a:ea typeface="Roboto"/>
                <a:cs typeface="Roboto"/>
              </a:rPr>
              <a:t>Rated 1-5, both forms</a:t>
            </a:r>
            <a:endParaRPr lang="en-US" sz="1200" dirty="0">
              <a:latin typeface="Roboto"/>
              <a:ea typeface="Roboto"/>
              <a:cs typeface="Roboto"/>
            </a:endParaRPr>
          </a:p>
        </p:txBody>
      </p:sp>
      <p:sp>
        <p:nvSpPr>
          <p:cNvPr id="69" name="Text 66"/>
          <p:cNvSpPr/>
          <p:nvPr/>
        </p:nvSpPr>
        <p:spPr>
          <a:xfrm>
            <a:off x="7683500" y="3536427"/>
            <a:ext cx="3675686"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E7D32"/>
                </a:solidFill>
                <a:latin typeface="Roboto" pitchFamily="34" charset="0"/>
                <a:ea typeface="Roboto" pitchFamily="34" charset="-122"/>
                <a:cs typeface="Roboto" pitchFamily="34" charset="-120"/>
              </a:rPr>
              <a:t>MOST OVERLOOKED</a:t>
            </a:r>
            <a:endParaRPr lang="en-US" sz="1200" dirty="0"/>
          </a:p>
        </p:txBody>
      </p:sp>
      <p:sp>
        <p:nvSpPr>
          <p:cNvPr id="70" name="Text 67"/>
          <p:cNvSpPr/>
          <p:nvPr/>
        </p:nvSpPr>
        <p:spPr>
          <a:xfrm>
            <a:off x="7683500" y="3762465"/>
            <a:ext cx="3675686"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A1A1A"/>
                </a:solidFill>
                <a:latin typeface="Roboto" pitchFamily="34" charset="0"/>
                <a:ea typeface="Roboto" pitchFamily="34" charset="-122"/>
                <a:cs typeface="Roboto" pitchFamily="34" charset="-120"/>
              </a:rPr>
              <a:t>Assignments and organization lag behind symptoms: add school supports</a:t>
            </a:r>
            <a:endParaRPr lang="en-US" sz="1200" dirty="0"/>
          </a:p>
        </p:txBody>
      </p:sp>
      <p:sp>
        <p:nvSpPr>
          <p:cNvPr id="71" name="Shape 68"/>
          <p:cNvSpPr/>
          <p:nvPr/>
        </p:nvSpPr>
        <p:spPr>
          <a:xfrm>
            <a:off x="4699000" y="4253958"/>
            <a:ext cx="6680128" cy="660346"/>
          </a:xfrm>
          <a:prstGeom prst="roundRect">
            <a:avLst>
              <a:gd name="adj" fmla="val 11539"/>
            </a:avLst>
          </a:prstGeom>
          <a:solidFill>
            <a:srgbClr val="E6F4F4"/>
          </a:solidFill>
          <a:ln/>
        </p:spPr>
        <p:txBody>
          <a:bodyPr/>
          <a:lstStyle/>
          <a:p>
            <a:endParaRPr lang="en-US"/>
          </a:p>
        </p:txBody>
      </p:sp>
      <p:sp>
        <p:nvSpPr>
          <p:cNvPr id="72" name="Shape 69"/>
          <p:cNvSpPr/>
          <p:nvPr/>
        </p:nvSpPr>
        <p:spPr>
          <a:xfrm>
            <a:off x="4699000" y="4253958"/>
            <a:ext cx="6680128" cy="660346"/>
          </a:xfrm>
          <a:custGeom>
            <a:avLst/>
            <a:gdLst/>
            <a:ahLst/>
            <a:cxnLst/>
            <a:rect l="l" t="t" r="r" b="b"/>
            <a:pathLst>
              <a:path w="6680128" h="660346">
                <a:moveTo>
                  <a:pt x="76200" y="660346"/>
                </a:moveTo>
                <a:lnTo>
                  <a:pt x="76200" y="660346"/>
                </a:lnTo>
                <a:arcTo wR="76200" hR="76200" stAng="5400000" swAng="5400000"/>
                <a:lnTo>
                  <a:pt x="0" y="76200"/>
                </a:lnTo>
                <a:arcTo wR="76200" hR="76200" stAng="10800000" swAng="5400000"/>
                <a:lnTo>
                  <a:pt x="76200" y="0"/>
                </a:lnTo>
                <a:arcTo wR="12700" hR="76200" stAng="16200000" swAng="-5400000"/>
                <a:lnTo>
                  <a:pt x="63500" y="584146"/>
                </a:lnTo>
                <a:arcTo wR="12700" hR="76200" stAng="10800000" swAng="-5400000"/>
                <a:close/>
              </a:path>
            </a:pathLst>
          </a:custGeom>
          <a:solidFill>
            <a:srgbClr val="009899"/>
          </a:solidFill>
          <a:ln/>
        </p:spPr>
        <p:txBody>
          <a:bodyPr/>
          <a:lstStyle/>
          <a:p>
            <a:endParaRPr lang="en-US"/>
          </a:p>
        </p:txBody>
      </p:sp>
      <p:sp>
        <p:nvSpPr>
          <p:cNvPr id="73" name="Shape 70"/>
          <p:cNvSpPr/>
          <p:nvPr/>
        </p:nvSpPr>
        <p:spPr>
          <a:xfrm>
            <a:off x="4889500" y="4325035"/>
            <a:ext cx="279346" cy="279346"/>
          </a:xfrm>
          <a:prstGeom prst="roundRect">
            <a:avLst>
              <a:gd name="adj" fmla="val 50000"/>
            </a:avLst>
          </a:prstGeom>
          <a:solidFill>
            <a:srgbClr val="007A7A"/>
          </a:solidFill>
          <a:ln/>
        </p:spPr>
        <p:txBody>
          <a:bodyPr/>
          <a:lstStyle/>
          <a:p>
            <a:endParaRPr lang="en-US"/>
          </a:p>
        </p:txBody>
      </p:sp>
      <p:sp>
        <p:nvSpPr>
          <p:cNvPr id="74" name="Text 71"/>
          <p:cNvSpPr/>
          <p:nvPr/>
        </p:nvSpPr>
        <p:spPr>
          <a:xfrm>
            <a:off x="4864100" y="4325035"/>
            <a:ext cx="330146" cy="304746"/>
          </a:xfrm>
          <a:prstGeom prst="rect">
            <a:avLst/>
          </a:prstGeom>
          <a:noFill/>
          <a:ln/>
        </p:spPr>
        <p:txBody>
          <a:bodyPr wrap="square" lIns="0" tIns="0" rIns="0" bIns="0" rtlCol="0" anchor="t">
            <a:normAutofit/>
          </a:bodyPr>
          <a:lstStyle/>
          <a:p>
            <a:pPr marL="0" indent="0" algn="ctr">
              <a:lnSpc>
                <a:spcPts val="2210"/>
              </a:lnSpc>
              <a:buNone/>
            </a:pPr>
            <a:r>
              <a:rPr lang="en-US" sz="1300" b="1" dirty="0">
                <a:solidFill>
                  <a:srgbClr val="FFFFFF"/>
                </a:solidFill>
                <a:latin typeface="Roboto" pitchFamily="34" charset="0"/>
                <a:ea typeface="Roboto" pitchFamily="34" charset="-122"/>
                <a:cs typeface="Roboto" pitchFamily="34" charset="-120"/>
              </a:rPr>
              <a:t>5</a:t>
            </a:r>
            <a:endParaRPr lang="en-US" sz="1300" dirty="0"/>
          </a:p>
        </p:txBody>
      </p:sp>
      <p:sp>
        <p:nvSpPr>
          <p:cNvPr id="75" name="Text 72"/>
          <p:cNvSpPr/>
          <p:nvPr/>
        </p:nvSpPr>
        <p:spPr>
          <a:xfrm>
            <a:off x="5244974" y="4349118"/>
            <a:ext cx="940612" cy="25648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1A1A"/>
                </a:solidFill>
                <a:latin typeface="Roboto" pitchFamily="34" charset="0"/>
                <a:ea typeface="Roboto" pitchFamily="34" charset="-122"/>
                <a:cs typeface="Roboto" pitchFamily="34" charset="-120"/>
              </a:rPr>
              <a:t>Side effects</a:t>
            </a:r>
            <a:endParaRPr lang="en-US" sz="1300" dirty="0"/>
          </a:p>
        </p:txBody>
      </p:sp>
      <p:sp>
        <p:nvSpPr>
          <p:cNvPr id="76" name="Text 73"/>
          <p:cNvSpPr/>
          <p:nvPr/>
        </p:nvSpPr>
        <p:spPr>
          <a:xfrm>
            <a:off x="4889500" y="4629727"/>
            <a:ext cx="274701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415C"/>
                </a:solidFill>
                <a:latin typeface="Roboto" pitchFamily="34" charset="0"/>
                <a:ea typeface="Roboto" pitchFamily="34" charset="-122"/>
                <a:cs typeface="Roboto" pitchFamily="34" charset="-120"/>
              </a:rPr>
              <a:t>Follow-up forms</a:t>
            </a:r>
            <a:endParaRPr lang="en-US" sz="1200" dirty="0"/>
          </a:p>
        </p:txBody>
      </p:sp>
      <p:sp>
        <p:nvSpPr>
          <p:cNvPr id="77" name="Text 74"/>
          <p:cNvSpPr/>
          <p:nvPr/>
        </p:nvSpPr>
        <p:spPr>
          <a:xfrm>
            <a:off x="7683500" y="4272900"/>
            <a:ext cx="3675686" cy="23881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007A7A"/>
                </a:solidFill>
                <a:latin typeface="Roboto" pitchFamily="34" charset="0"/>
                <a:ea typeface="Roboto" pitchFamily="34" charset="-122"/>
                <a:cs typeface="Roboto" pitchFamily="34" charset="-120"/>
              </a:rPr>
              <a:t>TOLERABILITY</a:t>
            </a:r>
            <a:endParaRPr lang="en-US" sz="1200" dirty="0"/>
          </a:p>
        </p:txBody>
      </p:sp>
      <p:sp>
        <p:nvSpPr>
          <p:cNvPr id="78" name="Text 75"/>
          <p:cNvSpPr/>
          <p:nvPr/>
        </p:nvSpPr>
        <p:spPr>
          <a:xfrm>
            <a:off x="7683500" y="4498939"/>
            <a:ext cx="3675686" cy="42173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A1A1A"/>
                </a:solidFill>
                <a:latin typeface="Roboto" pitchFamily="34" charset="0"/>
                <a:ea typeface="Roboto" pitchFamily="34" charset="-122"/>
                <a:cs typeface="Roboto" pitchFamily="34" charset="-120"/>
              </a:rPr>
              <a:t>Appetite, sleep, rebound irritability, dulled affect, tics, hallucinations</a:t>
            </a:r>
            <a:endParaRPr lang="en-US" sz="1200" dirty="0"/>
          </a:p>
        </p:txBody>
      </p:sp>
      <p:sp>
        <p:nvSpPr>
          <p:cNvPr id="79" name="Text 76"/>
          <p:cNvSpPr/>
          <p:nvPr/>
        </p:nvSpPr>
        <p:spPr>
          <a:xfrm>
            <a:off x="4699000" y="4990432"/>
            <a:ext cx="6880532" cy="223567"/>
          </a:xfrm>
          <a:prstGeom prst="rect">
            <a:avLst/>
          </a:prstGeom>
          <a:noFill/>
          <a:ln/>
        </p:spPr>
        <p:txBody>
          <a:bodyPr wrap="square" lIns="0" tIns="0" rIns="0" bIns="0" rtlCol="0" anchor="t">
            <a:normAutofit/>
          </a:bodyPr>
          <a:lstStyle/>
          <a:p>
            <a:pPr>
              <a:lnSpc>
                <a:spcPts val="1560"/>
              </a:lnSpc>
            </a:pPr>
            <a:r>
              <a:rPr lang="en-US" sz="1200" b="1" i="1" dirty="0">
                <a:solidFill>
                  <a:srgbClr val="1A1A1A"/>
                </a:solidFill>
                <a:latin typeface="Roboto"/>
                <a:ea typeface="Roboto"/>
                <a:cs typeface="Roboto"/>
              </a:rPr>
              <a:t>Symptoms count if often/very often · performance problem at 4–5 · read every section !!!</a:t>
            </a:r>
            <a:endParaRPr lang="en-US" sz="1200" dirty="0"/>
          </a:p>
        </p:txBody>
      </p:sp>
    </p:spTree>
    <p:extLst>
      <p:ext uri="{BB962C8B-B14F-4D97-AF65-F5344CB8AC3E}">
        <p14:creationId xmlns:p14="http://schemas.microsoft.com/office/powerpoint/2010/main" val="3351453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91999" cy="6858000"/>
          </a:xfrm>
          <a:prstGeom prst="rect">
            <a:avLst/>
          </a:prstGeom>
        </p:spPr>
      </p:pic>
      <p:sp>
        <p:nvSpPr>
          <p:cNvPr id="3" name="Text 0"/>
          <p:cNvSpPr/>
          <p:nvPr/>
        </p:nvSpPr>
        <p:spPr>
          <a:xfrm>
            <a:off x="812782" y="40634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a:solidFill>
                  <a:srgbClr val="1A1A1A"/>
                </a:solidFill>
                <a:latin typeface="Roboto" pitchFamily="34" charset="0"/>
                <a:ea typeface="Roboto" pitchFamily="34" charset="-122"/>
                <a:cs typeface="Roboto" pitchFamily="34" charset="-120"/>
              </a:rPr>
              <a:t>Timing and Setting Explain Score Changes</a:t>
            </a:r>
            <a:endParaRPr lang="en-US" sz="3200"/>
          </a:p>
        </p:txBody>
      </p:sp>
      <p:sp>
        <p:nvSpPr>
          <p:cNvPr id="4" name="Text 1"/>
          <p:cNvSpPr/>
          <p:nvPr/>
        </p:nvSpPr>
        <p:spPr>
          <a:xfrm>
            <a:off x="812782" y="891435"/>
            <a:ext cx="10883429" cy="238810"/>
          </a:xfrm>
          <a:prstGeom prst="rect">
            <a:avLst/>
          </a:prstGeom>
          <a:noFill/>
          <a:ln/>
        </p:spPr>
        <p:txBody>
          <a:bodyPr wrap="square" lIns="0" tIns="0" rIns="0" bIns="0" rtlCol="0" anchor="t">
            <a:normAutofit/>
          </a:bodyPr>
          <a:lstStyle/>
          <a:p>
            <a:pPr>
              <a:lnSpc>
                <a:spcPts val="1680"/>
              </a:lnSpc>
            </a:pPr>
            <a:r>
              <a:rPr lang="en-US" sz="1200" b="1" dirty="0">
                <a:solidFill>
                  <a:srgbClr val="1A1A1A"/>
                </a:solidFill>
                <a:latin typeface="Roboto"/>
                <a:ea typeface="Roboto"/>
                <a:cs typeface="Roboto"/>
              </a:rPr>
              <a:t>(De Los Reyes &amp; </a:t>
            </a:r>
            <a:r>
              <a:rPr lang="en-US" sz="1200" b="1" dirty="0" err="1">
                <a:solidFill>
                  <a:srgbClr val="1A1A1A"/>
                </a:solidFill>
                <a:latin typeface="Roboto"/>
                <a:ea typeface="Roboto"/>
                <a:cs typeface="Roboto"/>
              </a:rPr>
              <a:t>Kazdin</a:t>
            </a:r>
            <a:r>
              <a:rPr lang="en-US" sz="1200" b="1" dirty="0">
                <a:solidFill>
                  <a:srgbClr val="1A1A1A"/>
                </a:solidFill>
                <a:latin typeface="Roboto"/>
                <a:ea typeface="Roboto"/>
                <a:cs typeface="Roboto"/>
              </a:rPr>
              <a:t>, 2005; Epstein et al., 2010; Eng et al., 2023; Banister et al., 2026)</a:t>
            </a:r>
            <a:endParaRPr lang="en-US" sz="1200" dirty="0">
              <a:latin typeface="Roboto"/>
              <a:ea typeface="Roboto"/>
              <a:cs typeface="Roboto"/>
            </a:endParaRPr>
          </a:p>
        </p:txBody>
      </p:sp>
      <p:sp>
        <p:nvSpPr>
          <p:cNvPr id="5" name="Shape 2"/>
          <p:cNvSpPr/>
          <p:nvPr/>
        </p:nvSpPr>
        <p:spPr>
          <a:xfrm>
            <a:off x="812782" y="1282628"/>
            <a:ext cx="10566436" cy="350423"/>
          </a:xfrm>
          <a:prstGeom prst="rect">
            <a:avLst/>
          </a:prstGeom>
          <a:gradFill rotWithShape="1">
            <a:gsLst>
              <a:gs pos="0">
                <a:srgbClr val="FBE3C8"/>
              </a:gs>
              <a:gs pos="12000">
                <a:srgbClr val="F9C28A"/>
              </a:gs>
              <a:gs pos="64000">
                <a:srgbClr val="F9C28A"/>
              </a:gs>
              <a:gs pos="86000">
                <a:srgbClr val="FDF1E4"/>
              </a:gs>
              <a:gs pos="100000">
                <a:srgbClr val="FFFFFF"/>
              </a:gs>
            </a:gsLst>
            <a:lin ang="0" scaled="0"/>
          </a:gradFill>
          <a:ln/>
        </p:spPr>
        <p:txBody>
          <a:bodyPr/>
          <a:lstStyle/>
          <a:p>
            <a:endParaRPr lang="en-US"/>
          </a:p>
        </p:txBody>
      </p:sp>
      <p:sp>
        <p:nvSpPr>
          <p:cNvPr id="6" name="Text 3"/>
          <p:cNvSpPr/>
          <p:nvPr/>
        </p:nvSpPr>
        <p:spPr>
          <a:xfrm>
            <a:off x="939782" y="1358828"/>
            <a:ext cx="10621809" cy="223423"/>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A1A1A"/>
                </a:solidFill>
                <a:latin typeface="Roboto" pitchFamily="34" charset="0"/>
                <a:ea typeface="Roboto" pitchFamily="34" charset="-122"/>
                <a:cs typeface="Roboto" pitchFamily="34" charset="-120"/>
              </a:rPr>
              <a:t>Stimulant effect across the day (extended-release; duration varies by formulation)</a:t>
            </a:r>
            <a:endParaRPr lang="en-US" sz="1200"/>
          </a:p>
        </p:txBody>
      </p:sp>
      <p:sp>
        <p:nvSpPr>
          <p:cNvPr id="7" name="Shape 4"/>
          <p:cNvSpPr/>
          <p:nvPr/>
        </p:nvSpPr>
        <p:spPr>
          <a:xfrm>
            <a:off x="812782" y="1683832"/>
            <a:ext cx="1811283" cy="591705"/>
          </a:xfrm>
          <a:prstGeom prst="rect">
            <a:avLst/>
          </a:prstGeom>
          <a:solidFill>
            <a:srgbClr val="EAF2FA"/>
          </a:solidFill>
          <a:ln/>
        </p:spPr>
        <p:txBody>
          <a:bodyPr/>
          <a:lstStyle/>
          <a:p>
            <a:endParaRPr lang="en-US"/>
          </a:p>
        </p:txBody>
      </p:sp>
      <p:sp>
        <p:nvSpPr>
          <p:cNvPr id="8" name="Shape 5"/>
          <p:cNvSpPr/>
          <p:nvPr/>
        </p:nvSpPr>
        <p:spPr>
          <a:xfrm>
            <a:off x="831832" y="1683832"/>
            <a:ext cx="0" cy="591705"/>
          </a:xfrm>
          <a:prstGeom prst="line">
            <a:avLst/>
          </a:prstGeom>
          <a:noFill/>
          <a:ln w="38100">
            <a:solidFill>
              <a:srgbClr val="2E7CC0"/>
            </a:solidFill>
            <a:prstDash val="solid"/>
          </a:ln>
        </p:spPr>
        <p:txBody>
          <a:bodyPr/>
          <a:lstStyle/>
          <a:p>
            <a:endParaRPr lang="en-US"/>
          </a:p>
        </p:txBody>
      </p:sp>
      <p:sp>
        <p:nvSpPr>
          <p:cNvPr id="9" name="Text 6"/>
          <p:cNvSpPr/>
          <p:nvPr/>
        </p:nvSpPr>
        <p:spPr>
          <a:xfrm>
            <a:off x="961700" y="1759960"/>
            <a:ext cx="1598883" cy="23881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A1A1A"/>
                </a:solidFill>
                <a:latin typeface="Roboto" pitchFamily="34" charset="0"/>
                <a:ea typeface="Roboto" pitchFamily="34" charset="-122"/>
                <a:cs typeface="Roboto" pitchFamily="34" charset="-120"/>
              </a:rPr>
              <a:t>7–8 AM</a:t>
            </a:r>
            <a:endParaRPr lang="en-US" sz="1200"/>
          </a:p>
        </p:txBody>
      </p:sp>
      <p:sp>
        <p:nvSpPr>
          <p:cNvPr id="10" name="Text 7"/>
          <p:cNvSpPr/>
          <p:nvPr/>
        </p:nvSpPr>
        <p:spPr>
          <a:xfrm>
            <a:off x="961700" y="1985998"/>
            <a:ext cx="1598883" cy="238810"/>
          </a:xfrm>
          <a:prstGeom prst="rect">
            <a:avLst/>
          </a:prstGeom>
          <a:noFill/>
          <a:ln/>
        </p:spPr>
        <p:txBody>
          <a:bodyPr wrap="square" lIns="0" tIns="0" rIns="0" bIns="0" rtlCol="0" anchor="t">
            <a:normAutofit/>
          </a:bodyPr>
          <a:lstStyle/>
          <a:p>
            <a:pPr marL="0" indent="0" algn="l">
              <a:lnSpc>
                <a:spcPts val="1680"/>
              </a:lnSpc>
              <a:buNone/>
            </a:pPr>
            <a:r>
              <a:rPr lang="en-US" sz="1200">
                <a:solidFill>
                  <a:srgbClr val="1A1A1A"/>
                </a:solidFill>
                <a:latin typeface="Roboto" pitchFamily="34" charset="0"/>
                <a:ea typeface="Roboto" pitchFamily="34" charset="-122"/>
                <a:cs typeface="Roboto" pitchFamily="34" charset="-120"/>
              </a:rPr>
              <a:t>Parent sees</a:t>
            </a:r>
            <a:endParaRPr lang="en-US" sz="1200"/>
          </a:p>
        </p:txBody>
      </p:sp>
      <p:sp>
        <p:nvSpPr>
          <p:cNvPr id="11" name="Shape 8"/>
          <p:cNvSpPr/>
          <p:nvPr/>
        </p:nvSpPr>
        <p:spPr>
          <a:xfrm>
            <a:off x="2674847" y="1683832"/>
            <a:ext cx="5100836" cy="591705"/>
          </a:xfrm>
          <a:prstGeom prst="rect">
            <a:avLst/>
          </a:prstGeom>
          <a:solidFill>
            <a:srgbClr val="EAF2FA"/>
          </a:solidFill>
          <a:ln/>
        </p:spPr>
        <p:txBody>
          <a:bodyPr/>
          <a:lstStyle/>
          <a:p>
            <a:endParaRPr lang="en-US"/>
          </a:p>
        </p:txBody>
      </p:sp>
      <p:sp>
        <p:nvSpPr>
          <p:cNvPr id="12" name="Shape 9"/>
          <p:cNvSpPr/>
          <p:nvPr/>
        </p:nvSpPr>
        <p:spPr>
          <a:xfrm>
            <a:off x="2693897" y="1683832"/>
            <a:ext cx="0" cy="591705"/>
          </a:xfrm>
          <a:prstGeom prst="line">
            <a:avLst/>
          </a:prstGeom>
          <a:noFill/>
          <a:ln w="38100">
            <a:solidFill>
              <a:srgbClr val="2E7CC0"/>
            </a:solidFill>
            <a:prstDash val="solid"/>
          </a:ln>
        </p:spPr>
        <p:txBody>
          <a:bodyPr/>
          <a:lstStyle/>
          <a:p>
            <a:endParaRPr lang="en-US"/>
          </a:p>
        </p:txBody>
      </p:sp>
      <p:sp>
        <p:nvSpPr>
          <p:cNvPr id="13" name="Text 10"/>
          <p:cNvSpPr/>
          <p:nvPr/>
        </p:nvSpPr>
        <p:spPr>
          <a:xfrm>
            <a:off x="2823765" y="1759960"/>
            <a:ext cx="4982764" cy="23881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A1A1A"/>
                </a:solidFill>
                <a:latin typeface="Roboto" pitchFamily="34" charset="0"/>
                <a:ea typeface="Roboto" pitchFamily="34" charset="-122"/>
                <a:cs typeface="Roboto" pitchFamily="34" charset="-120"/>
              </a:rPr>
              <a:t>8 AM–3 PM · School</a:t>
            </a:r>
            <a:endParaRPr lang="en-US" sz="1200"/>
          </a:p>
        </p:txBody>
      </p:sp>
      <p:sp>
        <p:nvSpPr>
          <p:cNvPr id="14" name="Text 11"/>
          <p:cNvSpPr/>
          <p:nvPr/>
        </p:nvSpPr>
        <p:spPr>
          <a:xfrm>
            <a:off x="2823765" y="1985998"/>
            <a:ext cx="4982764" cy="238810"/>
          </a:xfrm>
          <a:prstGeom prst="rect">
            <a:avLst/>
          </a:prstGeom>
          <a:noFill/>
          <a:ln/>
        </p:spPr>
        <p:txBody>
          <a:bodyPr wrap="square" lIns="0" tIns="0" rIns="0" bIns="0" rtlCol="0" anchor="t">
            <a:normAutofit/>
          </a:bodyPr>
          <a:lstStyle/>
          <a:p>
            <a:pPr marL="0" indent="0" algn="l">
              <a:lnSpc>
                <a:spcPts val="1680"/>
              </a:lnSpc>
              <a:buNone/>
            </a:pPr>
            <a:r>
              <a:rPr lang="en-US" sz="1200">
                <a:solidFill>
                  <a:srgbClr val="1A1A1A"/>
                </a:solidFill>
                <a:latin typeface="Roboto" pitchFamily="34" charset="0"/>
                <a:ea typeface="Roboto" pitchFamily="34" charset="-122"/>
                <a:cs typeface="Roboto" pitchFamily="34" charset="-120"/>
              </a:rPr>
              <a:t>Teacher sees peak effect: morning vs afternoon classes differ</a:t>
            </a:r>
            <a:endParaRPr lang="en-US" sz="1200"/>
          </a:p>
        </p:txBody>
      </p:sp>
      <p:sp>
        <p:nvSpPr>
          <p:cNvPr id="15" name="Shape 12"/>
          <p:cNvSpPr/>
          <p:nvPr/>
        </p:nvSpPr>
        <p:spPr>
          <a:xfrm>
            <a:off x="7826465" y="1683832"/>
            <a:ext cx="3552753" cy="591705"/>
          </a:xfrm>
          <a:prstGeom prst="rect">
            <a:avLst/>
          </a:prstGeom>
          <a:solidFill>
            <a:srgbClr val="EAF2FA"/>
          </a:solidFill>
          <a:ln/>
        </p:spPr>
        <p:txBody>
          <a:bodyPr/>
          <a:lstStyle/>
          <a:p>
            <a:endParaRPr lang="en-US"/>
          </a:p>
        </p:txBody>
      </p:sp>
      <p:sp>
        <p:nvSpPr>
          <p:cNvPr id="16" name="Shape 13"/>
          <p:cNvSpPr/>
          <p:nvPr/>
        </p:nvSpPr>
        <p:spPr>
          <a:xfrm>
            <a:off x="7845515" y="1683832"/>
            <a:ext cx="0" cy="591705"/>
          </a:xfrm>
          <a:prstGeom prst="line">
            <a:avLst/>
          </a:prstGeom>
          <a:noFill/>
          <a:ln w="38100">
            <a:solidFill>
              <a:srgbClr val="2E7CC0"/>
            </a:solidFill>
            <a:prstDash val="solid"/>
          </a:ln>
        </p:spPr>
        <p:txBody>
          <a:bodyPr/>
          <a:lstStyle/>
          <a:p>
            <a:endParaRPr lang="en-US"/>
          </a:p>
        </p:txBody>
      </p:sp>
      <p:sp>
        <p:nvSpPr>
          <p:cNvPr id="17" name="Text 14"/>
          <p:cNvSpPr/>
          <p:nvPr/>
        </p:nvSpPr>
        <p:spPr>
          <a:xfrm>
            <a:off x="7975383" y="1759960"/>
            <a:ext cx="3388239" cy="23881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A1A1A"/>
                </a:solidFill>
                <a:latin typeface="Roboto" pitchFamily="34" charset="0"/>
                <a:ea typeface="Roboto" pitchFamily="34" charset="-122"/>
                <a:cs typeface="Roboto" pitchFamily="34" charset="-120"/>
              </a:rPr>
              <a:t>3–9 PM · Homework</a:t>
            </a:r>
            <a:endParaRPr lang="en-US" sz="1200"/>
          </a:p>
        </p:txBody>
      </p:sp>
      <p:sp>
        <p:nvSpPr>
          <p:cNvPr id="18" name="Text 15"/>
          <p:cNvSpPr/>
          <p:nvPr/>
        </p:nvSpPr>
        <p:spPr>
          <a:xfrm>
            <a:off x="7975383" y="1985998"/>
            <a:ext cx="3388239" cy="238810"/>
          </a:xfrm>
          <a:prstGeom prst="rect">
            <a:avLst/>
          </a:prstGeom>
          <a:noFill/>
          <a:ln/>
        </p:spPr>
        <p:txBody>
          <a:bodyPr wrap="square" lIns="0" tIns="0" rIns="0" bIns="0" rtlCol="0" anchor="t">
            <a:normAutofit/>
          </a:bodyPr>
          <a:lstStyle/>
          <a:p>
            <a:pPr marL="0" indent="0" algn="l">
              <a:lnSpc>
                <a:spcPts val="1680"/>
              </a:lnSpc>
              <a:buNone/>
            </a:pPr>
            <a:r>
              <a:rPr lang="en-US" sz="1200">
                <a:solidFill>
                  <a:srgbClr val="1A1A1A"/>
                </a:solidFill>
                <a:latin typeface="Roboto" pitchFamily="34" charset="0"/>
                <a:ea typeface="Roboto" pitchFamily="34" charset="-122"/>
                <a:cs typeface="Roboto" pitchFamily="34" charset="-120"/>
              </a:rPr>
              <a:t>Parent sees effect wearing off</a:t>
            </a:r>
            <a:endParaRPr lang="en-US" sz="1200"/>
          </a:p>
        </p:txBody>
      </p:sp>
      <p:graphicFrame>
        <p:nvGraphicFramePr>
          <p:cNvPr id="19" name="Table 0"/>
          <p:cNvGraphicFramePr>
            <a:graphicFrameLocks noGrp="1"/>
          </p:cNvGraphicFramePr>
          <p:nvPr/>
        </p:nvGraphicFramePr>
        <p:xfrm>
          <a:off x="824327" y="2464864"/>
          <a:ext cx="10554890" cy="2149078"/>
        </p:xfrm>
        <a:graphic>
          <a:graphicData uri="http://schemas.openxmlformats.org/drawingml/2006/table">
            <a:tbl>
              <a:tblPr/>
              <a:tblGrid>
                <a:gridCol w="2849820">
                  <a:extLst>
                    <a:ext uri="{9D8B030D-6E8A-4147-A177-3AD203B41FA5}">
                      <a16:colId xmlns:a16="http://schemas.microsoft.com/office/drawing/2014/main" val="20000"/>
                    </a:ext>
                  </a:extLst>
                </a:gridCol>
                <a:gridCol w="4010858">
                  <a:extLst>
                    <a:ext uri="{9D8B030D-6E8A-4147-A177-3AD203B41FA5}">
                      <a16:colId xmlns:a16="http://schemas.microsoft.com/office/drawing/2014/main" val="20001"/>
                    </a:ext>
                  </a:extLst>
                </a:gridCol>
                <a:gridCol w="3694212">
                  <a:extLst>
                    <a:ext uri="{9D8B030D-6E8A-4147-A177-3AD203B41FA5}">
                      <a16:colId xmlns:a16="http://schemas.microsoft.com/office/drawing/2014/main" val="20002"/>
                    </a:ext>
                  </a:extLst>
                </a:gridCol>
              </a:tblGrid>
              <a:tr h="377212">
                <a:tc>
                  <a:txBody>
                    <a:bodyPr/>
                    <a:lstStyle/>
                    <a:p>
                      <a:pPr marL="0" indent="0" algn="ctr">
                        <a:lnSpc>
                          <a:spcPts val="1680"/>
                        </a:lnSpc>
                        <a:buNone/>
                      </a:pPr>
                      <a:r>
                        <a:rPr lang="en-US" sz="1200" b="1">
                          <a:solidFill>
                            <a:srgbClr val="FFFFFF"/>
                          </a:solidFill>
                          <a:latin typeface="Roboto" pitchFamily="34" charset="0"/>
                          <a:ea typeface="Roboto" pitchFamily="34" charset="-122"/>
                          <a:cs typeface="Roboto" pitchFamily="34" charset="-120"/>
                        </a:rPr>
                        <a:t>Pattern you see</a:t>
                      </a:r>
                      <a:endParaRPr lang="en-US" sz="1200">
                        <a:latin typeface="Roboto" charset="0"/>
                        <a:ea typeface="Roboto" charset="0"/>
                        <a:cs typeface="Roboto"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28659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8659A"/>
                      </a:solidFill>
                      <a:prstDash val="solid"/>
                      <a:round/>
                      <a:headEnd type="none" w="med" len="med"/>
                      <a:tailEnd type="none" w="med" len="med"/>
                    </a:lnB>
                    <a:solidFill>
                      <a:srgbClr val="2E7CC0"/>
                    </a:solidFill>
                  </a:tcPr>
                </a:tc>
                <a:tc>
                  <a:txBody>
                    <a:bodyPr/>
                    <a:lstStyle/>
                    <a:p>
                      <a:pPr marL="0" indent="0" algn="ctr">
                        <a:lnSpc>
                          <a:spcPts val="1680"/>
                        </a:lnSpc>
                        <a:buNone/>
                      </a:pPr>
                      <a:r>
                        <a:rPr lang="en-US" sz="1200" b="1">
                          <a:solidFill>
                            <a:srgbClr val="FFFFFF"/>
                          </a:solidFill>
                          <a:latin typeface="Roboto" pitchFamily="34" charset="0"/>
                          <a:ea typeface="Roboto" pitchFamily="34" charset="-122"/>
                          <a:cs typeface="Roboto" pitchFamily="34" charset="-120"/>
                        </a:rPr>
                        <a:t>Possible explanation</a:t>
                      </a:r>
                      <a:endParaRPr lang="en-US" sz="1200">
                        <a:latin typeface="Roboto" charset="0"/>
                        <a:ea typeface="Roboto" charset="0"/>
                        <a:cs typeface="Roboto" charset="0"/>
                      </a:endParaRPr>
                    </a:p>
                  </a:txBody>
                  <a:tcPr marL="101600" marR="101600" marT="76200" marB="76200">
                    <a:lnL w="12700" cap="flat" cmpd="sng" algn="ctr">
                      <a:solidFill>
                        <a:srgbClr val="28659A"/>
                      </a:solidFill>
                      <a:prstDash val="solid"/>
                      <a:round/>
                      <a:headEnd type="none" w="med" len="med"/>
                      <a:tailEnd type="none" w="med" len="med"/>
                    </a:lnL>
                    <a:lnR w="12700" cap="flat" cmpd="sng" algn="ctr">
                      <a:solidFill>
                        <a:srgbClr val="28659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8659A"/>
                      </a:solidFill>
                      <a:prstDash val="solid"/>
                      <a:round/>
                      <a:headEnd type="none" w="med" len="med"/>
                      <a:tailEnd type="none" w="med" len="med"/>
                    </a:lnB>
                    <a:solidFill>
                      <a:srgbClr val="2E7CC0"/>
                    </a:solidFill>
                  </a:tcPr>
                </a:tc>
                <a:tc>
                  <a:txBody>
                    <a:bodyPr/>
                    <a:lstStyle/>
                    <a:p>
                      <a:pPr marL="0" indent="0" algn="ctr">
                        <a:lnSpc>
                          <a:spcPts val="1680"/>
                        </a:lnSpc>
                        <a:buNone/>
                      </a:pPr>
                      <a:r>
                        <a:rPr lang="en-US" sz="1200" b="1">
                          <a:solidFill>
                            <a:srgbClr val="FFFFFF"/>
                          </a:solidFill>
                          <a:latin typeface="Roboto" pitchFamily="34" charset="0"/>
                          <a:ea typeface="Roboto" pitchFamily="34" charset="-122"/>
                          <a:cs typeface="Roboto" pitchFamily="34" charset="-120"/>
                        </a:rPr>
                        <a:t>What to ask or do</a:t>
                      </a:r>
                      <a:endParaRPr lang="en-US" sz="1200">
                        <a:latin typeface="Roboto" charset="0"/>
                        <a:ea typeface="Roboto" charset="0"/>
                        <a:cs typeface="Roboto" charset="0"/>
                      </a:endParaRPr>
                    </a:p>
                  </a:txBody>
                  <a:tcPr marL="101600" marR="101600" marT="76200" marB="76200">
                    <a:lnL w="12700" cap="flat" cmpd="sng" algn="ctr">
                      <a:solidFill>
                        <a:srgbClr val="28659A"/>
                      </a:solidFill>
                      <a:prstDash val="solid"/>
                      <a:round/>
                      <a:headEnd type="none" w="med" len="med"/>
                      <a:tailEnd type="none" w="med" len="med"/>
                    </a:lnL>
                    <a:lnR w="12700" cap="flat" cmpd="sng" algn="ctr">
                      <a:solidFill>
                        <a:srgbClr val="28659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8659A"/>
                      </a:solidFill>
                      <a:prstDash val="solid"/>
                      <a:round/>
                      <a:headEnd type="none" w="med" len="med"/>
                      <a:tailEnd type="none" w="med" len="med"/>
                    </a:lnB>
                    <a:solidFill>
                      <a:srgbClr val="2E7CC0"/>
                    </a:solidFill>
                  </a:tcPr>
                </a:tc>
                <a:extLst>
                  <a:ext uri="{0D108BD9-81ED-4DB2-BD59-A6C34878D82A}">
                    <a16:rowId xmlns:a16="http://schemas.microsoft.com/office/drawing/2014/main" val="10000"/>
                  </a:ext>
                </a:extLst>
              </a:tr>
              <a:tr h="590622">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Teacher improves, parent doesn’t</a:t>
                      </a:r>
                      <a:endParaRPr lang="en-US" sz="1200">
                        <a:latin typeface="Roboto" charset="0"/>
                        <a:ea typeface="Roboto" charset="0"/>
                        <a:cs typeface="Roboto"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ABB8C3"/>
                      </a:solidFill>
                      <a:prstDash val="solid"/>
                      <a:round/>
                      <a:headEnd type="none" w="med" len="med"/>
                      <a:tailEnd type="none" w="med" len="med"/>
                    </a:lnR>
                    <a:lnT w="12700" cap="flat" cmpd="sng" algn="ctr">
                      <a:solidFill>
                        <a:srgbClr val="28659A"/>
                      </a:solidFill>
                      <a:prstDash val="solid"/>
                      <a:round/>
                      <a:headEnd type="none" w="med" len="med"/>
                      <a:tailEnd type="none" w="med" len="med"/>
                    </a:lnT>
                    <a:lnB w="12700" cap="flat" cmpd="sng" algn="ctr">
                      <a:solidFill>
                        <a:srgbClr val="ABB8C3"/>
                      </a:solidFill>
                      <a:prstDash val="solid"/>
                      <a:round/>
                      <a:headEnd type="none" w="med" len="med"/>
                      <a:tailEnd type="none" w="med" len="med"/>
                    </a:lnB>
                    <a:solidFill>
                      <a:srgbClr val="D6E6F4"/>
                    </a:solidFill>
                  </a:tcPr>
                </a:tc>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Teachers rate school hours at peak effect; parents rate mornings and evenings</a:t>
                      </a:r>
                      <a:endParaRPr lang="en-US" sz="1200">
                        <a:latin typeface="Roboto" charset="0"/>
                        <a:ea typeface="Roboto" charset="0"/>
                        <a:cs typeface="Roboto" charset="0"/>
                      </a:endParaRPr>
                    </a:p>
                  </a:txBody>
                  <a:tcPr marL="101600" marR="101600" marT="76200" marB="76200">
                    <a:lnL w="12700" cap="flat" cmpd="sng" algn="ctr">
                      <a:solidFill>
                        <a:srgbClr val="ABB8C3"/>
                      </a:solidFill>
                      <a:prstDash val="solid"/>
                      <a:round/>
                      <a:headEnd type="none" w="med" len="med"/>
                      <a:tailEnd type="none" w="med" len="med"/>
                    </a:lnL>
                    <a:lnR w="12700" cap="flat" cmpd="sng" algn="ctr">
                      <a:solidFill>
                        <a:srgbClr val="ABB8C3"/>
                      </a:solidFill>
                      <a:prstDash val="solid"/>
                      <a:round/>
                      <a:headEnd type="none" w="med" len="med"/>
                      <a:tailEnd type="none" w="med" len="med"/>
                    </a:lnR>
                    <a:lnT w="12700" cap="flat" cmpd="sng" algn="ctr">
                      <a:solidFill>
                        <a:srgbClr val="28659A"/>
                      </a:solidFill>
                      <a:prstDash val="solid"/>
                      <a:round/>
                      <a:headEnd type="none" w="med" len="med"/>
                      <a:tailEnd type="none" w="med" len="med"/>
                    </a:lnT>
                    <a:lnB w="12700" cap="flat" cmpd="sng" algn="ctr">
                      <a:solidFill>
                        <a:srgbClr val="ABB8C3"/>
                      </a:solidFill>
                      <a:prstDash val="solid"/>
                      <a:round/>
                      <a:headEnd type="none" w="med" len="med"/>
                      <a:tailEnd type="none" w="med" len="med"/>
                    </a:lnB>
                    <a:solidFill>
                      <a:srgbClr val="D6E6F4"/>
                    </a:solidFill>
                  </a:tcPr>
                </a:tc>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Ask about homework time; consider longer coverage or an afternoon dose</a:t>
                      </a:r>
                      <a:endParaRPr lang="en-US" sz="1200">
                        <a:latin typeface="Roboto" charset="0"/>
                        <a:ea typeface="Roboto" charset="0"/>
                        <a:cs typeface="Roboto" charset="0"/>
                      </a:endParaRPr>
                    </a:p>
                  </a:txBody>
                  <a:tcPr marL="101600" marR="101600" marT="76200" marB="76200">
                    <a:lnL w="12700" cap="flat" cmpd="sng" algn="ctr">
                      <a:solidFill>
                        <a:srgbClr val="ABB8C3"/>
                      </a:solidFill>
                      <a:prstDash val="solid"/>
                      <a:round/>
                      <a:headEnd type="none" w="med" len="med"/>
                      <a:tailEnd type="none" w="med" len="med"/>
                    </a:lnL>
                    <a:lnR w="12700" cap="flat" cmpd="sng" algn="ctr">
                      <a:solidFill>
                        <a:srgbClr val="ABB8C3"/>
                      </a:solidFill>
                      <a:prstDash val="solid"/>
                      <a:round/>
                      <a:headEnd type="none" w="med" len="med"/>
                      <a:tailEnd type="none" w="med" len="med"/>
                    </a:lnR>
                    <a:lnT w="12700" cap="flat" cmpd="sng" algn="ctr">
                      <a:solidFill>
                        <a:srgbClr val="28659A"/>
                      </a:solidFill>
                      <a:prstDash val="solid"/>
                      <a:round/>
                      <a:headEnd type="none" w="med" len="med"/>
                      <a:tailEnd type="none" w="med" len="med"/>
                    </a:lnT>
                    <a:lnB w="12700" cap="flat" cmpd="sng" algn="ctr">
                      <a:solidFill>
                        <a:srgbClr val="ABB8C3"/>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r h="590622">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Better in morning classes than afternoon</a:t>
                      </a:r>
                      <a:endParaRPr lang="en-US" sz="1200">
                        <a:latin typeface="Roboto" charset="0"/>
                        <a:ea typeface="Roboto" charset="0"/>
                        <a:cs typeface="Roboto"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BBC1C7"/>
                      </a:solidFill>
                      <a:prstDash val="solid"/>
                      <a:round/>
                      <a:headEnd type="none" w="med" len="med"/>
                      <a:tailEnd type="none" w="med" len="med"/>
                    </a:lnR>
                    <a:lnT w="12700" cap="flat" cmpd="sng" algn="ctr">
                      <a:solidFill>
                        <a:srgbClr val="ABB8C3"/>
                      </a:solidFill>
                      <a:prstDash val="solid"/>
                      <a:round/>
                      <a:headEnd type="none" w="med" len="med"/>
                      <a:tailEnd type="none" w="med" len="med"/>
                    </a:lnT>
                    <a:lnB w="12700" cap="flat" cmpd="sng" algn="ctr">
                      <a:solidFill>
                        <a:srgbClr val="BBC1C7"/>
                      </a:solidFill>
                      <a:prstDash val="solid"/>
                      <a:round/>
                      <a:headEnd type="none" w="med" len="med"/>
                      <a:tailEnd type="none" w="med" len="med"/>
                    </a:lnB>
                    <a:solidFill>
                      <a:srgbClr val="EAF2FA"/>
                    </a:solidFill>
                  </a:tcPr>
                </a:tc>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Dose wearing off, or a subject-specific learning problem (e.g., math)</a:t>
                      </a:r>
                      <a:endParaRPr lang="en-US" sz="1200">
                        <a:latin typeface="Roboto" charset="0"/>
                        <a:ea typeface="Roboto" charset="0"/>
                        <a:cs typeface="Roboto" charset="0"/>
                      </a:endParaRPr>
                    </a:p>
                  </a:txBody>
                  <a:tcPr marL="101600" marR="101600" marT="76200" marB="76200">
                    <a:lnL w="12700" cap="flat" cmpd="sng" algn="ctr">
                      <a:solidFill>
                        <a:srgbClr val="BBC1C7"/>
                      </a:solidFill>
                      <a:prstDash val="solid"/>
                      <a:round/>
                      <a:headEnd type="none" w="med" len="med"/>
                      <a:tailEnd type="none" w="med" len="med"/>
                    </a:lnL>
                    <a:lnR w="12700" cap="flat" cmpd="sng" algn="ctr">
                      <a:solidFill>
                        <a:srgbClr val="BBC1C7"/>
                      </a:solidFill>
                      <a:prstDash val="solid"/>
                      <a:round/>
                      <a:headEnd type="none" w="med" len="med"/>
                      <a:tailEnd type="none" w="med" len="med"/>
                    </a:lnR>
                    <a:lnT w="12700" cap="flat" cmpd="sng" algn="ctr">
                      <a:solidFill>
                        <a:srgbClr val="ABB8C3"/>
                      </a:solidFill>
                      <a:prstDash val="solid"/>
                      <a:round/>
                      <a:headEnd type="none" w="med" len="med"/>
                      <a:tailEnd type="none" w="med" len="med"/>
                    </a:lnT>
                    <a:lnB w="12700" cap="flat" cmpd="sng" algn="ctr">
                      <a:solidFill>
                        <a:srgbClr val="BBC1C7"/>
                      </a:solidFill>
                      <a:prstDash val="solid"/>
                      <a:round/>
                      <a:headEnd type="none" w="med" len="med"/>
                      <a:tailEnd type="none" w="med" len="med"/>
                    </a:lnB>
                    <a:solidFill>
                      <a:srgbClr val="EAF2FA"/>
                    </a:solidFill>
                  </a:tcPr>
                </a:tc>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Ask which class and what time; consider academic testing</a:t>
                      </a:r>
                      <a:endParaRPr lang="en-US" sz="1200">
                        <a:latin typeface="Roboto" charset="0"/>
                        <a:ea typeface="Roboto" charset="0"/>
                        <a:cs typeface="Roboto" charset="0"/>
                      </a:endParaRPr>
                    </a:p>
                  </a:txBody>
                  <a:tcPr marL="101600" marR="101600" marT="76200" marB="76200">
                    <a:lnL w="12700" cap="flat" cmpd="sng" algn="ctr">
                      <a:solidFill>
                        <a:srgbClr val="BBC1C7"/>
                      </a:solidFill>
                      <a:prstDash val="solid"/>
                      <a:round/>
                      <a:headEnd type="none" w="med" len="med"/>
                      <a:tailEnd type="none" w="med" len="med"/>
                    </a:lnL>
                    <a:lnR w="12700" cap="flat" cmpd="sng" algn="ctr">
                      <a:solidFill>
                        <a:srgbClr val="BBC1C7"/>
                      </a:solidFill>
                      <a:prstDash val="solid"/>
                      <a:round/>
                      <a:headEnd type="none" w="med" len="med"/>
                      <a:tailEnd type="none" w="med" len="med"/>
                    </a:lnR>
                    <a:lnT w="12700" cap="flat" cmpd="sng" algn="ctr">
                      <a:solidFill>
                        <a:srgbClr val="ABB8C3"/>
                      </a:solidFill>
                      <a:prstDash val="solid"/>
                      <a:round/>
                      <a:headEnd type="none" w="med" len="med"/>
                      <a:tailEnd type="none" w="med" len="med"/>
                    </a:lnT>
                    <a:lnB w="12700" cap="flat" cmpd="sng" algn="ctr">
                      <a:solidFill>
                        <a:srgbClr val="BBC1C7"/>
                      </a:solidFill>
                      <a:prstDash val="solid"/>
                      <a:round/>
                      <a:headEnd type="none" w="med" len="med"/>
                      <a:tailEnd type="none" w="med" len="med"/>
                    </a:lnB>
                    <a:solidFill>
                      <a:srgbClr val="EAF2FA"/>
                    </a:solidFill>
                  </a:tcPr>
                </a:tc>
                <a:extLst>
                  <a:ext uri="{0D108BD9-81ED-4DB2-BD59-A6C34878D82A}">
                    <a16:rowId xmlns:a16="http://schemas.microsoft.com/office/drawing/2014/main" val="10002"/>
                  </a:ext>
                </a:extLst>
              </a:tr>
              <a:tr h="590622">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Scores swing between visits</a:t>
                      </a:r>
                      <a:endParaRPr lang="en-US" sz="1200">
                        <a:latin typeface="Roboto" charset="0"/>
                        <a:ea typeface="Roboto" charset="0"/>
                        <a:cs typeface="Roboto" charset="0"/>
                      </a:endParaRPr>
                    </a:p>
                  </a:txBody>
                  <a:tcPr marL="101600" marR="101600" marT="76200" marB="76200">
                    <a:lnL w="12700" cap="flat" cmpd="sng" algn="ctr">
                      <a:solidFill>
                        <a:srgbClr val="CBCBCB"/>
                      </a:solidFill>
                      <a:prstDash val="solid"/>
                      <a:round/>
                      <a:headEnd type="none" w="med" len="med"/>
                      <a:tailEnd type="none" w="med" len="med"/>
                    </a:lnL>
                    <a:lnR w="12700" cap="flat" cmpd="sng" algn="ctr">
                      <a:solidFill>
                        <a:srgbClr val="ABB8C3"/>
                      </a:solidFill>
                      <a:prstDash val="solid"/>
                      <a:round/>
                      <a:headEnd type="none" w="med" len="med"/>
                      <a:tailEnd type="none" w="med" len="med"/>
                    </a:lnR>
                    <a:lnT w="12700" cap="flat" cmpd="sng" algn="ctr">
                      <a:solidFill>
                        <a:srgbClr val="BBC1C7"/>
                      </a:solidFill>
                      <a:prstDash val="solid"/>
                      <a:round/>
                      <a:headEnd type="none" w="med" len="med"/>
                      <a:tailEnd type="none" w="med" len="med"/>
                    </a:lnT>
                    <a:lnB w="12700" cap="flat" cmpd="sng" algn="ctr">
                      <a:solidFill>
                        <a:srgbClr val="ABB8C3"/>
                      </a:solidFill>
                      <a:prstDash val="solid"/>
                      <a:round/>
                      <a:headEnd type="none" w="med" len="med"/>
                      <a:tailEnd type="none" w="med" len="med"/>
                    </a:lnB>
                    <a:solidFill>
                      <a:srgbClr val="D6E6F4"/>
                    </a:solidFill>
                  </a:tcPr>
                </a:tc>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Missed doses, weekends off, or raters describing different days</a:t>
                      </a:r>
                      <a:endParaRPr lang="en-US" sz="1200">
                        <a:latin typeface="Roboto" charset="0"/>
                        <a:ea typeface="Roboto" charset="0"/>
                        <a:cs typeface="Roboto" charset="0"/>
                      </a:endParaRPr>
                    </a:p>
                  </a:txBody>
                  <a:tcPr marL="101600" marR="101600" marT="76200" marB="76200">
                    <a:lnL w="12700" cap="flat" cmpd="sng" algn="ctr">
                      <a:solidFill>
                        <a:srgbClr val="ABB8C3"/>
                      </a:solidFill>
                      <a:prstDash val="solid"/>
                      <a:round/>
                      <a:headEnd type="none" w="med" len="med"/>
                      <a:tailEnd type="none" w="med" len="med"/>
                    </a:lnL>
                    <a:lnR w="12700" cap="flat" cmpd="sng" algn="ctr">
                      <a:solidFill>
                        <a:srgbClr val="ABB8C3"/>
                      </a:solidFill>
                      <a:prstDash val="solid"/>
                      <a:round/>
                      <a:headEnd type="none" w="med" len="med"/>
                      <a:tailEnd type="none" w="med" len="med"/>
                    </a:lnR>
                    <a:lnT w="12700" cap="flat" cmpd="sng" algn="ctr">
                      <a:solidFill>
                        <a:srgbClr val="BBC1C7"/>
                      </a:solidFill>
                      <a:prstDash val="solid"/>
                      <a:round/>
                      <a:headEnd type="none" w="med" len="med"/>
                      <a:tailEnd type="none" w="med" len="med"/>
                    </a:lnT>
                    <a:lnB w="12700" cap="flat" cmpd="sng" algn="ctr">
                      <a:solidFill>
                        <a:srgbClr val="ABB8C3"/>
                      </a:solidFill>
                      <a:prstDash val="solid"/>
                      <a:round/>
                      <a:headEnd type="none" w="med" len="med"/>
                      <a:tailEnd type="none" w="med" len="med"/>
                    </a:lnB>
                    <a:solidFill>
                      <a:srgbClr val="D6E6F4"/>
                    </a:solidFill>
                  </a:tcPr>
                </a:tc>
                <a:tc>
                  <a:txBody>
                    <a:bodyPr/>
                    <a:lstStyle/>
                    <a:p>
                      <a:pPr marL="0" indent="0" algn="ctr">
                        <a:lnSpc>
                          <a:spcPts val="1680"/>
                        </a:lnSpc>
                        <a:buNone/>
                      </a:pPr>
                      <a:r>
                        <a:rPr lang="en-US" sz="1200">
                          <a:solidFill>
                            <a:srgbClr val="1A1A1A"/>
                          </a:solidFill>
                          <a:latin typeface="Roboto" pitchFamily="34" charset="0"/>
                          <a:ea typeface="Roboto" pitchFamily="34" charset="-122"/>
                          <a:cs typeface="Roboto" pitchFamily="34" charset="-120"/>
                        </a:rPr>
                        <a:t>Ask which days they rated; check adherence</a:t>
                      </a:r>
                      <a:endParaRPr lang="en-US" sz="1200">
                        <a:latin typeface="Roboto" charset="0"/>
                        <a:ea typeface="Roboto" charset="0"/>
                        <a:cs typeface="Roboto" charset="0"/>
                      </a:endParaRPr>
                    </a:p>
                  </a:txBody>
                  <a:tcPr marL="101600" marR="101600" marT="76200" marB="76200">
                    <a:lnL w="12700" cap="flat" cmpd="sng" algn="ctr">
                      <a:solidFill>
                        <a:srgbClr val="ABB8C3"/>
                      </a:solidFill>
                      <a:prstDash val="solid"/>
                      <a:round/>
                      <a:headEnd type="none" w="med" len="med"/>
                      <a:tailEnd type="none" w="med" len="med"/>
                    </a:lnL>
                    <a:lnR w="12700" cap="flat" cmpd="sng" algn="ctr">
                      <a:solidFill>
                        <a:srgbClr val="ABB8C3"/>
                      </a:solidFill>
                      <a:prstDash val="solid"/>
                      <a:round/>
                      <a:headEnd type="none" w="med" len="med"/>
                      <a:tailEnd type="none" w="med" len="med"/>
                    </a:lnR>
                    <a:lnT w="12700" cap="flat" cmpd="sng" algn="ctr">
                      <a:solidFill>
                        <a:srgbClr val="BBC1C7"/>
                      </a:solidFill>
                      <a:prstDash val="solid"/>
                      <a:round/>
                      <a:headEnd type="none" w="med" len="med"/>
                      <a:tailEnd type="none" w="med" len="med"/>
                    </a:lnT>
                    <a:lnB w="12700" cap="flat" cmpd="sng" algn="ctr">
                      <a:solidFill>
                        <a:srgbClr val="ABB8C3"/>
                      </a:solidFill>
                      <a:prstDash val="solid"/>
                      <a:round/>
                      <a:headEnd type="none" w="med" len="med"/>
                      <a:tailEnd type="none" w="med" len="med"/>
                    </a:lnB>
                    <a:solidFill>
                      <a:srgbClr val="D6E6F4"/>
                    </a:solidFill>
                  </a:tcPr>
                </a:tc>
                <a:extLst>
                  <a:ext uri="{0D108BD9-81ED-4DB2-BD59-A6C34878D82A}">
                    <a16:rowId xmlns:a16="http://schemas.microsoft.com/office/drawing/2014/main" val="10003"/>
                  </a:ext>
                </a:extLst>
              </a:tr>
            </a:tbl>
          </a:graphicData>
        </a:graphic>
      </p:graphicFrame>
      <p:sp>
        <p:nvSpPr>
          <p:cNvPr id="20" name="Text 16"/>
          <p:cNvSpPr/>
          <p:nvPr/>
        </p:nvSpPr>
        <p:spPr>
          <a:xfrm>
            <a:off x="812782" y="4791724"/>
            <a:ext cx="10883429" cy="256489"/>
          </a:xfrm>
          <a:prstGeom prst="rect">
            <a:avLst/>
          </a:prstGeom>
          <a:noFill/>
          <a:ln/>
        </p:spPr>
        <p:txBody>
          <a:bodyPr wrap="square" lIns="0" tIns="0" rIns="0" bIns="0" rtlCol="0" anchor="t">
            <a:normAutofit/>
          </a:bodyPr>
          <a:lstStyle/>
          <a:p>
            <a:pPr marL="0" indent="0" algn="l">
              <a:lnSpc>
                <a:spcPts val="1820"/>
              </a:lnSpc>
              <a:buNone/>
            </a:pPr>
            <a:r>
              <a:rPr lang="en-US" sz="1400" b="1" i="1">
                <a:solidFill>
                  <a:srgbClr val="1A1A1A"/>
                </a:solidFill>
                <a:latin typeface="Roboto" pitchFamily="34" charset="0"/>
                <a:ea typeface="Roboto" pitchFamily="34" charset="-122"/>
                <a:cs typeface="Roboto" pitchFamily="34" charset="-120"/>
              </a:rPr>
              <a:t>**Informant disagreement is information, not error: ask when and where**</a:t>
            </a:r>
            <a:endParaRPr lang="en-US" sz="1400"/>
          </a:p>
        </p:txBody>
      </p:sp>
    </p:spTree>
    <p:extLst>
      <p:ext uri="{BB962C8B-B14F-4D97-AF65-F5344CB8AC3E}">
        <p14:creationId xmlns:p14="http://schemas.microsoft.com/office/powerpoint/2010/main" val="110113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E8A43-CE0A-42DA-1327-F11E25EBB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12F19-02F6-4CD8-E8CC-803F271B78D3}"/>
              </a:ext>
            </a:extLst>
          </p:cNvPr>
          <p:cNvSpPr>
            <a:spLocks noGrp="1"/>
          </p:cNvSpPr>
          <p:nvPr>
            <p:ph type="title"/>
          </p:nvPr>
        </p:nvSpPr>
        <p:spPr/>
        <p:txBody>
          <a:bodyPr/>
          <a:lstStyle/>
          <a:p>
            <a:r>
              <a:rPr lang="en-US"/>
              <a:t>Implementation of MBC</a:t>
            </a:r>
          </a:p>
        </p:txBody>
      </p:sp>
      <p:graphicFrame>
        <p:nvGraphicFramePr>
          <p:cNvPr id="5" name="Content Placeholder 4" descr="Basic Timeline">
            <a:extLst>
              <a:ext uri="{FF2B5EF4-FFF2-40B4-BE49-F238E27FC236}">
                <a16:creationId xmlns:a16="http://schemas.microsoft.com/office/drawing/2014/main" id="{86D4595E-C8D4-C6EA-61C0-B488AC47906D}"/>
              </a:ext>
            </a:extLst>
          </p:cNvPr>
          <p:cNvGraphicFramePr>
            <a:graphicFrameLocks/>
          </p:cNvGraphicFramePr>
          <p:nvPr>
            <p:extLst>
              <p:ext uri="{D42A27DB-BD31-4B8C-83A1-F6EECF244321}">
                <p14:modId xmlns:p14="http://schemas.microsoft.com/office/powerpoint/2010/main" val="1346108513"/>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838200" y="1614714"/>
          <a:ext cx="10468678" cy="36285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3756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4493B50-B819-4C49-88F5-F626B31898A7}"/>
              </a:ext>
            </a:extLst>
          </p:cNvPr>
          <p:cNvSpPr>
            <a:spLocks noGrp="1"/>
          </p:cNvSpPr>
          <p:nvPr>
            <p:ph sz="half" idx="2"/>
          </p:nvPr>
        </p:nvSpPr>
        <p:spPr/>
        <p:txBody>
          <a:bodyPr>
            <a:normAutofit lnSpcReduction="10000"/>
          </a:bodyPr>
          <a:lstStyle/>
          <a:p>
            <a:r>
              <a:rPr lang="en-US"/>
              <a:t>The same score on the same measure can mean different things at different ages</a:t>
            </a:r>
          </a:p>
          <a:p>
            <a:r>
              <a:rPr lang="en-US"/>
              <a:t>Data-guided decision making can support clinical judgment</a:t>
            </a:r>
          </a:p>
          <a:p>
            <a:pPr lvl="1"/>
            <a:r>
              <a:rPr lang="en-US"/>
              <a:t>Keep it brief and routine</a:t>
            </a:r>
          </a:p>
          <a:p>
            <a:r>
              <a:rPr lang="en-US"/>
              <a:t>Collaborate with families to set goals, and select measures that align with your desired outcome</a:t>
            </a:r>
          </a:p>
        </p:txBody>
      </p:sp>
      <p:sp>
        <p:nvSpPr>
          <p:cNvPr id="10" name="Content Placeholder 9">
            <a:extLst>
              <a:ext uri="{FF2B5EF4-FFF2-40B4-BE49-F238E27FC236}">
                <a16:creationId xmlns:a16="http://schemas.microsoft.com/office/drawing/2014/main" id="{3F0B597B-9169-5C71-4D5D-8A524C7624A4}"/>
              </a:ext>
            </a:extLst>
          </p:cNvPr>
          <p:cNvSpPr>
            <a:spLocks noGrp="1"/>
          </p:cNvSpPr>
          <p:nvPr>
            <p:ph sz="half" idx="10"/>
          </p:nvPr>
        </p:nvSpPr>
        <p:spPr/>
        <p:txBody>
          <a:bodyPr/>
          <a:lstStyle/>
          <a:p>
            <a:r>
              <a:rPr lang="en-US"/>
              <a:t>Track trends in score changes over time</a:t>
            </a:r>
          </a:p>
          <a:p>
            <a:pPr lvl="1"/>
            <a:r>
              <a:rPr lang="en-US"/>
              <a:t>Share findings back to the family</a:t>
            </a:r>
          </a:p>
          <a:p>
            <a:r>
              <a:rPr lang="en-US"/>
              <a:t>New tools are consistently emerging to support clinicians in implementation of MBC</a:t>
            </a:r>
          </a:p>
        </p:txBody>
      </p:sp>
      <p:sp>
        <p:nvSpPr>
          <p:cNvPr id="8" name="Title 7">
            <a:extLst>
              <a:ext uri="{FF2B5EF4-FFF2-40B4-BE49-F238E27FC236}">
                <a16:creationId xmlns:a16="http://schemas.microsoft.com/office/drawing/2014/main" id="{463206C5-3225-B3B0-0D2E-BB5916A921E0}"/>
              </a:ext>
            </a:extLst>
          </p:cNvPr>
          <p:cNvSpPr>
            <a:spLocks noGrp="1"/>
          </p:cNvSpPr>
          <p:nvPr>
            <p:ph type="title"/>
          </p:nvPr>
        </p:nvSpPr>
        <p:spPr/>
        <p:txBody>
          <a:bodyPr>
            <a:normAutofit/>
          </a:bodyPr>
          <a:lstStyle/>
          <a:p>
            <a:r>
              <a:rPr lang="en-US"/>
              <a:t>Key Takeaways</a:t>
            </a:r>
          </a:p>
        </p:txBody>
      </p:sp>
    </p:spTree>
    <p:extLst>
      <p:ext uri="{BB962C8B-B14F-4D97-AF65-F5344CB8AC3E}">
        <p14:creationId xmlns:p14="http://schemas.microsoft.com/office/powerpoint/2010/main" val="3934916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CDB99-B19B-070A-1DAD-2BC57F5257A4}"/>
              </a:ext>
            </a:extLst>
          </p:cNvPr>
          <p:cNvSpPr>
            <a:spLocks noGrp="1"/>
          </p:cNvSpPr>
          <p:nvPr>
            <p:ph type="title"/>
          </p:nvPr>
        </p:nvSpPr>
        <p:spPr>
          <a:xfrm>
            <a:off x="1193800" y="3609571"/>
            <a:ext cx="4607560" cy="1108797"/>
          </a:xfrm>
        </p:spPr>
        <p:txBody>
          <a:bodyPr>
            <a:normAutofit fontScale="90000"/>
          </a:bodyPr>
          <a:lstStyle/>
          <a:p>
            <a:r>
              <a:rPr lang="en-US"/>
              <a:t>Q&amp;A led by Dr. Butter</a:t>
            </a:r>
          </a:p>
        </p:txBody>
      </p:sp>
      <p:sp>
        <p:nvSpPr>
          <p:cNvPr id="4" name="TextBox 3">
            <a:extLst>
              <a:ext uri="{FF2B5EF4-FFF2-40B4-BE49-F238E27FC236}">
                <a16:creationId xmlns:a16="http://schemas.microsoft.com/office/drawing/2014/main" id="{421A3811-A3C4-1E92-A8D6-10F6DD072A1C}"/>
              </a:ext>
            </a:extLst>
          </p:cNvPr>
          <p:cNvSpPr txBox="1"/>
          <p:nvPr/>
        </p:nvSpPr>
        <p:spPr>
          <a:xfrm>
            <a:off x="1193800" y="4439920"/>
            <a:ext cx="6969760" cy="954107"/>
          </a:xfrm>
          <a:prstGeom prst="rect">
            <a:avLst/>
          </a:prstGeom>
          <a:noFill/>
        </p:spPr>
        <p:txBody>
          <a:bodyPr wrap="square" rtlCol="0">
            <a:spAutoFit/>
          </a:bodyPr>
          <a:lstStyle/>
          <a:p>
            <a:r>
              <a:rPr lang="en-US" sz="2800">
                <a:solidFill>
                  <a:schemeClr val="tx2">
                    <a:lumMod val="20000"/>
                    <a:lumOff val="80000"/>
                  </a:schemeClr>
                </a:solidFill>
              </a:rPr>
              <a:t>Courtney Cleminshaw-Mahan, PhD, </a:t>
            </a:r>
          </a:p>
          <a:p>
            <a:r>
              <a:rPr lang="en-US" sz="2800">
                <a:solidFill>
                  <a:schemeClr val="tx2">
                    <a:lumMod val="20000"/>
                    <a:lumOff val="80000"/>
                  </a:schemeClr>
                </a:solidFill>
              </a:rPr>
              <a:t>Ellie Nienaber, BA, &amp; Musa Yilanli, MD, </a:t>
            </a:r>
          </a:p>
        </p:txBody>
      </p:sp>
    </p:spTree>
    <p:extLst>
      <p:ext uri="{BB962C8B-B14F-4D97-AF65-F5344CB8AC3E}">
        <p14:creationId xmlns:p14="http://schemas.microsoft.com/office/powerpoint/2010/main" val="1656294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A473C8-13DC-57A2-794A-65C340F51538}"/>
              </a:ext>
            </a:extLst>
          </p:cNvPr>
          <p:cNvSpPr txBox="1">
            <a:spLocks/>
          </p:cNvSpPr>
          <p:nvPr/>
        </p:nvSpPr>
        <p:spPr>
          <a:xfrm>
            <a:off x="838200" y="551411"/>
            <a:ext cx="10515600" cy="1108797"/>
          </a:xfrm>
          <a:prstGeom prst="rect">
            <a:avLst/>
          </a:prstGeom>
        </p:spPr>
        <p:txBody>
          <a:bodyPr>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nSpc>
                <a:spcPct val="150000"/>
              </a:lnSpc>
            </a:pPr>
            <a:r>
              <a:rPr lang="en-US"/>
              <a:t>Thank You!</a:t>
            </a:r>
          </a:p>
        </p:txBody>
      </p:sp>
      <p:sp>
        <p:nvSpPr>
          <p:cNvPr id="9" name="TextBox 8">
            <a:extLst>
              <a:ext uri="{FF2B5EF4-FFF2-40B4-BE49-F238E27FC236}">
                <a16:creationId xmlns:a16="http://schemas.microsoft.com/office/drawing/2014/main" id="{A6C2BAE4-A384-E2C4-34A5-2A6CD1D6CD46}"/>
              </a:ext>
            </a:extLst>
          </p:cNvPr>
          <p:cNvSpPr txBox="1"/>
          <p:nvPr/>
        </p:nvSpPr>
        <p:spPr>
          <a:xfrm>
            <a:off x="838200" y="1528128"/>
            <a:ext cx="3114040" cy="4308872"/>
          </a:xfrm>
          <a:prstGeom prst="rect">
            <a:avLst/>
          </a:prstGeom>
          <a:noFill/>
        </p:spPr>
        <p:txBody>
          <a:bodyPr wrap="square" rtlCol="0">
            <a:spAutoFit/>
          </a:bodyPr>
          <a:lstStyle/>
          <a:p>
            <a:pPr algn="ctr"/>
            <a:r>
              <a:rPr lang="en-US" u="sng"/>
              <a:t>Research Collaborators</a:t>
            </a:r>
          </a:p>
          <a:p>
            <a:r>
              <a:rPr lang="en-US" sz="1600"/>
              <a:t>Eric Youngstrom, PhD</a:t>
            </a:r>
          </a:p>
          <a:p>
            <a:r>
              <a:rPr lang="en-US" sz="1600"/>
              <a:t>Steve Evans, PhD</a:t>
            </a:r>
          </a:p>
          <a:p>
            <a:r>
              <a:rPr lang="en-US" sz="1600"/>
              <a:t>Mary Fristad, PhD, ABPP</a:t>
            </a:r>
          </a:p>
          <a:p>
            <a:r>
              <a:rPr lang="en-US" sz="1600"/>
              <a:t>Nathan Lutz, PhD</a:t>
            </a:r>
          </a:p>
          <a:p>
            <a:r>
              <a:rPr lang="en-US" sz="1600"/>
              <a:t>Kevin Stephenson, PhD</a:t>
            </a:r>
          </a:p>
          <a:p>
            <a:r>
              <a:rPr lang="en-US" sz="1600"/>
              <a:t>Emily Rosenthal, PhD</a:t>
            </a:r>
          </a:p>
          <a:p>
            <a:r>
              <a:rPr lang="en-US" sz="1600"/>
              <a:t>Julie Sarno Owens, PhD</a:t>
            </a:r>
          </a:p>
          <a:p>
            <a:r>
              <a:rPr lang="en-US" sz="1600"/>
              <a:t>Shreya Kupur Bhaskar</a:t>
            </a:r>
          </a:p>
          <a:p>
            <a:r>
              <a:rPr lang="en-US" sz="1600"/>
              <a:t>Yinuo Liu</a:t>
            </a:r>
          </a:p>
          <a:p>
            <a:r>
              <a:rPr lang="en-US" sz="1600"/>
              <a:t>Marissa McClellan</a:t>
            </a:r>
          </a:p>
          <a:p>
            <a:r>
              <a:rPr lang="en-US" sz="1600"/>
              <a:t>Jonathon Covarrubias</a:t>
            </a:r>
          </a:p>
          <a:p>
            <a:r>
              <a:rPr lang="en-US" sz="1600"/>
              <a:t>Kim Jones</a:t>
            </a:r>
          </a:p>
          <a:p>
            <a:r>
              <a:rPr lang="en-US" sz="1600"/>
              <a:t>Brittany Grate</a:t>
            </a:r>
          </a:p>
          <a:p>
            <a:r>
              <a:rPr lang="en-US" sz="1600"/>
              <a:t>RISE 2026 Cohort</a:t>
            </a:r>
          </a:p>
          <a:p>
            <a:r>
              <a:rPr lang="en-US" sz="1600"/>
              <a:t>MAP Clinicians</a:t>
            </a:r>
          </a:p>
          <a:p>
            <a:r>
              <a:rPr lang="en-US" sz="1600"/>
              <a:t>Hughes Team</a:t>
            </a:r>
            <a:endParaRPr lang="en-US"/>
          </a:p>
        </p:txBody>
      </p:sp>
      <p:pic>
        <p:nvPicPr>
          <p:cNvPr id="3" name="Picture 2">
            <a:extLst>
              <a:ext uri="{FF2B5EF4-FFF2-40B4-BE49-F238E27FC236}">
                <a16:creationId xmlns:a16="http://schemas.microsoft.com/office/drawing/2014/main" id="{CA21AC8E-82C2-DFB6-1F5D-866CC61EC6F4}"/>
              </a:ext>
            </a:extLst>
          </p:cNvPr>
          <p:cNvPicPr>
            <a:picLocks noChangeAspect="1"/>
          </p:cNvPicPr>
          <p:nvPr/>
        </p:nvPicPr>
        <p:blipFill>
          <a:blip r:embed="rId2"/>
          <a:stretch>
            <a:fillRect/>
          </a:stretch>
        </p:blipFill>
        <p:spPr>
          <a:xfrm>
            <a:off x="4476431" y="1475141"/>
            <a:ext cx="3419475" cy="3419475"/>
          </a:xfrm>
          <a:prstGeom prst="rect">
            <a:avLst/>
          </a:prstGeom>
        </p:spPr>
      </p:pic>
      <p:sp>
        <p:nvSpPr>
          <p:cNvPr id="4" name="TextBox 3">
            <a:extLst>
              <a:ext uri="{FF2B5EF4-FFF2-40B4-BE49-F238E27FC236}">
                <a16:creationId xmlns:a16="http://schemas.microsoft.com/office/drawing/2014/main" id="{BEA9161B-12F0-2076-245D-C3EACDDF55A9}"/>
              </a:ext>
            </a:extLst>
          </p:cNvPr>
          <p:cNvSpPr txBox="1"/>
          <p:nvPr/>
        </p:nvSpPr>
        <p:spPr>
          <a:xfrm>
            <a:off x="4638675" y="1105809"/>
            <a:ext cx="3094988" cy="369332"/>
          </a:xfrm>
          <a:prstGeom prst="rect">
            <a:avLst/>
          </a:prstGeom>
          <a:noFill/>
        </p:spPr>
        <p:txBody>
          <a:bodyPr wrap="square" rtlCol="0">
            <a:spAutoFit/>
          </a:bodyPr>
          <a:lstStyle/>
          <a:p>
            <a:pPr algn="ctr"/>
            <a:r>
              <a:rPr lang="en-US" dirty="0"/>
              <a:t>MBC Anchor Resources</a:t>
            </a:r>
          </a:p>
        </p:txBody>
      </p:sp>
      <p:pic>
        <p:nvPicPr>
          <p:cNvPr id="6" name="Picture 5">
            <a:extLst>
              <a:ext uri="{FF2B5EF4-FFF2-40B4-BE49-F238E27FC236}">
                <a16:creationId xmlns:a16="http://schemas.microsoft.com/office/drawing/2014/main" id="{4F1CFB48-7B48-248A-D665-873011F96BEE}"/>
              </a:ext>
            </a:extLst>
          </p:cNvPr>
          <p:cNvPicPr>
            <a:picLocks noChangeAspect="1"/>
          </p:cNvPicPr>
          <p:nvPr/>
        </p:nvPicPr>
        <p:blipFill>
          <a:blip r:embed="rId3"/>
          <a:stretch>
            <a:fillRect/>
          </a:stretch>
        </p:blipFill>
        <p:spPr>
          <a:xfrm>
            <a:off x="7953534" y="1475140"/>
            <a:ext cx="3419475" cy="3419475"/>
          </a:xfrm>
          <a:prstGeom prst="rect">
            <a:avLst/>
          </a:prstGeom>
        </p:spPr>
      </p:pic>
      <p:sp>
        <p:nvSpPr>
          <p:cNvPr id="10" name="TextBox 9">
            <a:extLst>
              <a:ext uri="{FF2B5EF4-FFF2-40B4-BE49-F238E27FC236}">
                <a16:creationId xmlns:a16="http://schemas.microsoft.com/office/drawing/2014/main" id="{93149EF3-7EF5-86E3-13D2-D3C86AF061A7}"/>
              </a:ext>
            </a:extLst>
          </p:cNvPr>
          <p:cNvSpPr txBox="1"/>
          <p:nvPr/>
        </p:nvSpPr>
        <p:spPr>
          <a:xfrm>
            <a:off x="8115777" y="1105808"/>
            <a:ext cx="3094988" cy="369332"/>
          </a:xfrm>
          <a:prstGeom prst="rect">
            <a:avLst/>
          </a:prstGeom>
          <a:noFill/>
        </p:spPr>
        <p:txBody>
          <a:bodyPr wrap="square" rtlCol="0">
            <a:spAutoFit/>
          </a:bodyPr>
          <a:lstStyle/>
          <a:p>
            <a:pPr algn="ctr"/>
            <a:r>
              <a:rPr lang="en-US" dirty="0"/>
              <a:t>Slides and External Resources</a:t>
            </a:r>
          </a:p>
        </p:txBody>
      </p:sp>
    </p:spTree>
    <p:extLst>
      <p:ext uri="{BB962C8B-B14F-4D97-AF65-F5344CB8AC3E}">
        <p14:creationId xmlns:p14="http://schemas.microsoft.com/office/powerpoint/2010/main" val="3541171202"/>
      </p:ext>
    </p:extLst>
  </p:cSld>
  <p:clrMapOvr>
    <a:masterClrMapping/>
  </p:clrMapOvr>
</p:sld>
</file>

<file path=ppt/theme/theme1.xml><?xml version="1.0" encoding="utf-8"?>
<a:theme xmlns:a="http://schemas.openxmlformats.org/drawingml/2006/main" name="Office Theme">
  <a:themeElements>
    <a:clrScheme name="Custom 21">
      <a:dk1>
        <a:srgbClr val="000000"/>
      </a:dk1>
      <a:lt1>
        <a:srgbClr val="FFFFFF"/>
      </a:lt1>
      <a:dk2>
        <a:srgbClr val="0060AB"/>
      </a:dk2>
      <a:lt2>
        <a:srgbClr val="E8E8E8"/>
      </a:lt2>
      <a:accent1>
        <a:srgbClr val="6FB9E1"/>
      </a:accent1>
      <a:accent2>
        <a:srgbClr val="E78D2C"/>
      </a:accent2>
      <a:accent3>
        <a:srgbClr val="009899"/>
      </a:accent3>
      <a:accent4>
        <a:srgbClr val="9B4191"/>
      </a:accent4>
      <a:accent5>
        <a:srgbClr val="C5BBAA"/>
      </a:accent5>
      <a:accent6>
        <a:srgbClr val="30AA3C"/>
      </a:accent6>
      <a:hlink>
        <a:srgbClr val="0E3F75"/>
      </a:hlink>
      <a:folHlink>
        <a:srgbClr val="9A5591"/>
      </a:folHlink>
    </a:clrScheme>
    <a:fontScheme name="Custom 3">
      <a:majorFont>
        <a:latin typeface="Roboto Condensed Black"/>
        <a:ea typeface=""/>
        <a:cs typeface=""/>
      </a:majorFont>
      <a:minorFont>
        <a:latin typeface="Crimso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1DF12E54FF4043AC2E176BA41EF34A" ma:contentTypeVersion="16" ma:contentTypeDescription="Create a new document." ma:contentTypeScope="" ma:versionID="c4281e5d5942caad9e33ffd1df114362">
  <xsd:schema xmlns:xsd="http://www.w3.org/2001/XMLSchema" xmlns:xs="http://www.w3.org/2001/XMLSchema" xmlns:p="http://schemas.microsoft.com/office/2006/metadata/properties" xmlns:ns1="http://schemas.microsoft.com/sharepoint/v3" xmlns:ns3="9088e77e-670f-4fd4-9192-837d3a5cd063" xmlns:ns4="231f751d-5076-40ba-adc6-d2ffc15e309e" targetNamespace="http://schemas.microsoft.com/office/2006/metadata/properties" ma:root="true" ma:fieldsID="f6ed515ac4e81956cbc7b94e812d83a7" ns1:_="" ns3:_="" ns4:_="">
    <xsd:import namespace="http://schemas.microsoft.com/sharepoint/v3"/>
    <xsd:import namespace="9088e77e-670f-4fd4-9192-837d3a5cd063"/>
    <xsd:import namespace="231f751d-5076-40ba-adc6-d2ffc15e309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1:_ip_UnifiedCompliancePolicyProperties" minOccurs="0"/>
                <xsd:element ref="ns1:_ip_UnifiedCompliancePolicyUIAction"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88e77e-670f-4fd4-9192-837d3a5cd0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1f751d-5076-40ba-adc6-d2ffc15e309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9088e77e-670f-4fd4-9192-837d3a5cd063" xsi:nil="true"/>
  </documentManagement>
</p:properties>
</file>

<file path=customXml/itemProps1.xml><?xml version="1.0" encoding="utf-8"?>
<ds:datastoreItem xmlns:ds="http://schemas.openxmlformats.org/officeDocument/2006/customXml" ds:itemID="{B5C7A6DB-A1DD-43F5-819F-40FD340DDD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88e77e-670f-4fd4-9192-837d3a5cd063"/>
    <ds:schemaRef ds:uri="231f751d-5076-40ba-adc6-d2ffc15e30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DA5CF7-F023-4E8F-98C5-17A2AEFF5F8D}">
  <ds:schemaRefs>
    <ds:schemaRef ds:uri="http://schemas.microsoft.com/sharepoint/v3/contenttype/forms"/>
  </ds:schemaRefs>
</ds:datastoreItem>
</file>

<file path=customXml/itemProps3.xml><?xml version="1.0" encoding="utf-8"?>
<ds:datastoreItem xmlns:ds="http://schemas.openxmlformats.org/officeDocument/2006/customXml" ds:itemID="{393077B2-E510-4EB0-8BDF-3BB081129278}">
  <ds:schemaRefs>
    <ds:schemaRef ds:uri="http://schemas.microsoft.com/office/2006/documentManagement/types"/>
    <ds:schemaRef ds:uri="http://schemas.microsoft.com/sharepoint/v3"/>
    <ds:schemaRef ds:uri="http://purl.org/dc/elements/1.1/"/>
    <ds:schemaRef ds:uri="http://purl.org/dc/terms/"/>
    <ds:schemaRef ds:uri="http://purl.org/dc/dcmitype/"/>
    <ds:schemaRef ds:uri="9088e77e-670f-4fd4-9192-837d3a5cd063"/>
    <ds:schemaRef ds:uri="http://schemas.microsoft.com/office/infopath/2007/PartnerControls"/>
    <ds:schemaRef ds:uri="http://schemas.openxmlformats.org/package/2006/metadata/core-properties"/>
    <ds:schemaRef ds:uri="231f751d-5076-40ba-adc6-d2ffc15e309e"/>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dad94561-2496-4bdb-88e7-17358e9ed2e8}" enabled="1" method="Standard" siteId="{8f7d57a9-4988-4be2-b64f-97e297adcfee}" removed="0"/>
</clbl:labelList>
</file>

<file path=docProps/app.xml><?xml version="1.0" encoding="utf-8"?>
<Properties xmlns="http://schemas.openxmlformats.org/officeDocument/2006/extended-properties" xmlns:vt="http://schemas.openxmlformats.org/officeDocument/2006/docPropsVTypes">
  <TotalTime>0</TotalTime>
  <Words>2495</Words>
  <Application>Microsoft Office PowerPoint</Application>
  <PresentationFormat>Widescreen</PresentationFormat>
  <Paragraphs>375</Paragraphs>
  <Slides>28</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Crimson Text</vt:lpstr>
      <vt:lpstr>Courier New</vt:lpstr>
      <vt:lpstr>Aptos</vt:lpstr>
      <vt:lpstr>Roboto</vt:lpstr>
      <vt:lpstr>Garamond</vt:lpstr>
      <vt:lpstr>Roboto Condensed Black</vt:lpstr>
      <vt:lpstr>Wingdings</vt:lpstr>
      <vt:lpstr>ＭＳ Ｐゴシック</vt:lpstr>
      <vt:lpstr>Courier New,monospace</vt:lpstr>
      <vt:lpstr>Arial</vt:lpstr>
      <vt:lpstr>Office Theme</vt:lpstr>
      <vt:lpstr>Making Sense of the Score: Connecting Research and Clinical Practice for Measurement-Based Care</vt:lpstr>
      <vt:lpstr>PowerPoint Presentation</vt:lpstr>
      <vt:lpstr>Objectives By the end of this session, attendees will be able to...</vt:lpstr>
      <vt:lpstr>Measurement-Based Care (MBC)</vt:lpstr>
      <vt:lpstr>BENCHMARK Research Focus</vt:lpstr>
      <vt:lpstr>The Goal?</vt:lpstr>
      <vt:lpstr>Implementation of MBC</vt:lpstr>
      <vt:lpstr>Case Example</vt:lpstr>
      <vt:lpstr>Case Conceptualization</vt:lpstr>
      <vt:lpstr>Factor Structure and Reliability  (Youngstrom et al., in preparation)</vt:lpstr>
      <vt:lpstr>Validity (Youngstrom et al., in preparation)</vt:lpstr>
      <vt:lpstr>Case Conceptualization</vt:lpstr>
      <vt:lpstr>Norms  (Evans et al., under review)</vt:lpstr>
      <vt:lpstr>Integrating Perspectives (Evans et al., under review)</vt:lpstr>
      <vt:lpstr>Implementation of MBC</vt:lpstr>
      <vt:lpstr>Treatment Planning </vt:lpstr>
      <vt:lpstr>PowerPoint Presentation</vt:lpstr>
      <vt:lpstr>Implementation of MBC</vt:lpstr>
      <vt:lpstr>Progress Monitoring</vt:lpstr>
      <vt:lpstr>Progress Monitoring</vt:lpstr>
      <vt:lpstr>Reliable Change (RCI) (Nienaber et al., under review)</vt:lpstr>
      <vt:lpstr>Clinical Significance Benchmarks (Nienaber et al., under review)</vt:lpstr>
      <vt:lpstr>PowerPoint Presentation</vt:lpstr>
      <vt:lpstr>PowerPoint Presentation</vt:lpstr>
      <vt:lpstr>Implementation of MBC</vt:lpstr>
      <vt:lpstr>Key Takeaways</vt:lpstr>
      <vt:lpstr>Q&amp;A led by Dr. Butter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Lindsey Tobin</dc:creator>
  <cp:lastModifiedBy>Nienaber, Ellie</cp:lastModifiedBy>
  <cp:revision>1</cp:revision>
  <dcterms:created xsi:type="dcterms:W3CDTF">2026-01-30T20:53:15Z</dcterms:created>
  <dcterms:modified xsi:type="dcterms:W3CDTF">2026-10-01T15:03:44Z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0x0101004C1DF12E54FF4043AC2E176BA41EF34A</vt:lpwstr>
  </property>
</Properties>
</file>